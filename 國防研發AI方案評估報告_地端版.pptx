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32D38"/>
                </a:solidFill>
                <a:latin typeface="Microsoft JhengHei"/>
              </a:rPr>
              <a:t>國防研發業專業領域 AI 方案評估報告</a:t>
            </a:r>
          </a:p>
          <a:p>
            <a:pPr>
              <a:spcBef>
                <a:spcPts val="1000"/>
              </a:spcBef>
            </a:pPr>
            <a:r>
              <a:rPr sz="1800" b="1">
                <a:solidFill>
                  <a:srgbClr val="3B6E58"/>
                </a:solidFill>
                <a:latin typeface="Microsoft JhengHei"/>
              </a:rPr>
              <a:t>地端版｜資料不出內網｜地端模型</a:t>
            </a:r>
          </a:p>
          <a:p>
            <a:pPr>
              <a:spcBef>
                <a:spcPts val="1800"/>
              </a:spcBef>
            </a:pPr>
            <a:r>
              <a:rPr sz="1200">
                <a:solidFill>
                  <a:srgbClr val="7C8695"/>
                </a:solidFill>
                <a:latin typeface="Microsoft JhengHei"/>
              </a:rPr>
              <a:t>訓練 · RAG · AI Agent · 蒸餾  四種方法評估與導入建議　　2026-10-06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執行摘要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摘要：地端情境下的結論調整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不能使用雲端前沿模型 API 時，四種方法的定位重新排序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29260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8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0763"/>
                <a:gridCol w="2866145"/>
                <a:gridCol w="573229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通用版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國防地端版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核心模型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雲端前沿模型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地端最強開放權重模型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方法 1 訓練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只建議 RFT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重要性大幅提高：微調與 RFT 是補足能力的主要手段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方法 2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Agent 的工具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必要，且必須有分級權限控管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方法 3 Agent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主軸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仍是主軸，工具權限更嚴、更多固定流程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方法 4 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從雲端前沿模型蒸餾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改為地端大模型蒸餾小模型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4754880"/>
            <a:ext cx="10728655" cy="155448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E5A38"/>
                </a:solidFill>
                <a:latin typeface="Microsoft JhengHei"/>
              </a:rPr>
              <a:t>Invest beyond the model: Eval · Tools · Skills &amp; Memory · Traces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7C8695"/>
                </a:solidFill>
                <a:latin typeface="Microsoft JhengHei"/>
              </a:rPr>
              <a:t>評估集 → 地端大模型 + 分級 RAG + 內網 Agent → 用累積紀錄做微調、RFT 與地端蒸餾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背景前提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情境限制與影響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國防研發的七項關鍵限制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8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608"/>
                <a:gridCol w="3655373"/>
                <a:gridCol w="4569217"/>
              </a:tblGrid>
              <a:tr h="56006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限制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影響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對策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資料不能出內網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不能用雲端 API 或外部蒸餾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推論、訓練、評估全在地端完成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地端模型能力較弱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複雜推理與長流程成功率較低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微調、RFT、固定流程、多做驗證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實體隔離 air-gap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模型與套件更新困難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建立離線引入與審查流程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資料有密等分級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不同人可見資料不同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RAG 與記憶做分級與知的需要控管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高度可稽核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每個結論都要能追溯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完整記錄 prompt、檢索來源、工具呼叫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供應鏈安全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模型與套件可能有後門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來源審查、雜湊驗證、核准清單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GPU 資源有限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難以跑超大模型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大、中、小模型分級部署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方法 1：訓練模型（重要性提高）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地端模型與前沿模型的差距，主要靠微調與 RFT 補足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766560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6547104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640"/>
                <a:gridCol w="1091184"/>
                <a:gridCol w="3637280"/>
              </a:tblGrid>
              <a:tr h="64007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訓練方式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評估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說明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從頭預訓練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✕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成本太高，追不上開放權重模型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繼續預訓練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△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內部術語、縮寫極多時考慮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SFT / LoRA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✓ 必要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學會內部格式、流程、工具呼叫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RFT / RL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★ 推薦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計算、模擬、程式、規格檢查可當獎勵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40079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偏好學習 DPO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修正判斷傾向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4008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專用模型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✓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訊號、影像、遙測資料，包成工具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726679" y="1600200"/>
            <a:ext cx="373349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655064"/>
            <a:ext cx="344088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關鍵提醒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[INSIGHT]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2148840"/>
            <a:ext cx="3733495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72983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2221992"/>
            <a:ext cx="3166567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真正瓶頸：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高品質訓練資料與專家標註時間，而不是 GPU。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3544824"/>
            <a:ext cx="3733495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872983" y="365455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7" y="3617976"/>
            <a:ext cx="3166567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第一天就開始存：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專家修正紀錄與 Agent 執行紀錄。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4940808"/>
            <a:ext cx="3733495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872983" y="505053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7" y="5013960"/>
            <a:ext cx="3166567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可驗證任務優先：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國防研發大量任務有明確對錯，最適合 RFT。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方法 2：分級 RAG（必要）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在檢索階段就依密等與知的需要過濾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權限與稽核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[SECURITY]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分級檢索：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每段文件帶密等、單位、專案標籤，檢索時過濾。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544824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65455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617976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權限繼承：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Agent 權限等於使用者本人，不能更大。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40808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505053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5013960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出處必附：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文件名稱、版本、條文編號。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8095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4399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檢索品質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[QUALITY]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8095" y="2148840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394399" y="225856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3583" y="2221992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文件處理：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OCR、表格解析、保留章節與條文編號。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3544824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4399" y="365455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3583" y="3617976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混合檢索：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BM25（料號、規格編號）加向量，再加 reranker。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4940808"/>
            <a:ext cx="5212080" cy="132283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4399" y="505053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3583" y="5013960"/>
            <a:ext cx="4645152" cy="11765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結構化資料：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BOM、測試數據、需求追溯矩陣直接用 SQL 查。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方法 3：內網 Agent（仍是主軸）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以固定流程為骨架，只在判斷節點使用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設計原則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[PRINCIPLES]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固定流程優先：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拆細步驟，降低長流程失敗率。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95828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68980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工具預設唯讀：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寫入與送出類動作一律人工核准。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315968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沙盒執行：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程式碼與模擬在隔離環境中執行。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89804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362956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全程稽核：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輸入、輸出、來源、工具呼叫全部保存。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600200"/>
            <a:ext cx="5212080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57823" y="1691640"/>
          <a:ext cx="4992623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9374"/>
                <a:gridCol w="2723249"/>
              </a:tblGrid>
              <a:tr h="74675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記憶類型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存放方式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74675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語意記憶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知識庫 / RAG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74675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情節記憶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案例庫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74675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程序記憶（最重要）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Skills，版本控管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74675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偏好記憶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設定檔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746764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治理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密等標籤 + 專家審核寫入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方法評估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方法 4：地端蒸餾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機敏資料不能送到外部，改成地端大模型蒸餾小模型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地端大模型
+ Agent + RAG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9456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83080"/>
            <a:ext cx="1962851" cy="100584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產生執行紀錄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9456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8308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驗證器 / 專家篩選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9456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83080"/>
            <a:ext cx="1962851" cy="100584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SFT + RFT
訓練小模型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9456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8308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部署至各單位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0896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16382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可以做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[DO]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5212080" cy="8199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76732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730752"/>
            <a:ext cx="4645152" cy="673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地端大模型當老師，訓練中小模型。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550664"/>
            <a:ext cx="5212080" cy="8199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66039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623816"/>
            <a:ext cx="4645152" cy="673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只保留通過驗證的紀錄。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3728"/>
            <a:ext cx="5212080" cy="819912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5553456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5516880"/>
            <a:ext cx="4645152" cy="6736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非機敏公開資料可在外部生成通用訓練資料（需保密單位核准）。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48095" y="310896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4399" y="316382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不能做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[DON'T]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657600"/>
            <a:ext cx="5212080" cy="1266444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94399" y="376732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3583" y="3730752"/>
            <a:ext cx="4645152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把機敏資料或任務內容送到外部前沿模型。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4997196"/>
            <a:ext cx="5212080" cy="1266444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5106924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5070348"/>
            <a:ext cx="4645152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把高密等資料訓練的模型部署到低密等環境。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方法比較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綜合比較（地端情境）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五種做法在地端環境的必要性與時機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6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3476"/>
                <a:gridCol w="1625133"/>
                <a:gridCol w="1841818"/>
                <a:gridCol w="1625133"/>
                <a:gridCol w="1841818"/>
                <a:gridCol w="1841818"/>
              </a:tblGrid>
              <a:tr h="560069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維度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從頭訓練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微調 / RFT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分級 RAG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內網 Agent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地端蒸餾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必要性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中到高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效果提升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最高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中（降成本）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導入成本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極高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GPU 需求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極高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中到高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中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能操作系統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否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是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有限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56006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可稽核性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高（需設計）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低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560076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建議時機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不建議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第一到二階段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第一階段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第一階段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第二到三階段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模型選型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地端模型選型原則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實際型號請依最新評測與合規要求於導入時重新評估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選型原則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[CRITERIA]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來源合規：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確認開發來源與機關限制規定。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95828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68980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授權條款：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可否微調、再散布、用於本單位用途。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315968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自有評估集：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不要只看公開排行榜。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89804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362956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供應鏈安全：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雜湊驗證、safetensors、隔離環境行為測試。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600200"/>
            <a:ext cx="5212080" cy="466344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357823" y="1691640"/>
          <a:ext cx="4992622" cy="44805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036"/>
                <a:gridCol w="2582391"/>
                <a:gridCol w="1291195"/>
              </a:tblGrid>
              <a:tr h="896111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等級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用途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部署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8961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大模型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複雜推理、Agent 主控、蒸餾老師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運算中心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8961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中模型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一般問答、RAG、文件處理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各研發單位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896111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小模型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分類、抽取、路由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單機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896115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專用模型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embedding、reranker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依需求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系統架構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參考架構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身分與權限 → 編排 → 模型 / RAG / 工具 → 稽核 → 訓練回饋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使用者
依密等授權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21803" y="214884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922971" y="1737360"/>
            <a:ext cx="1962851" cy="100584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存取閘道
驗證 權限 稽核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913254" y="214884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114422" y="173736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編排層
流程 + Agent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04705" y="214884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05873" y="1737360"/>
            <a:ext cx="1962851" cy="100584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模型 / RAG
工具 / 記憶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296156" y="214884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497324" y="1737360"/>
            <a:ext cx="1962851" cy="100584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稽核紀錄
訓練回饋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063240"/>
            <a:ext cx="10728655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118104"/>
            <a:ext cx="10436047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架構要點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[ARCHITECTURE]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11880"/>
            <a:ext cx="10728655" cy="47183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372160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3685032"/>
            <a:ext cx="10161727" cy="32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地端模型服務：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大、中、小模型分級提供。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156862"/>
            <a:ext cx="10728655" cy="47183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4266590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230014"/>
            <a:ext cx="10161727" cy="32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分級 RAG：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依密等標籤過濾。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701844"/>
            <a:ext cx="10728655" cy="47183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7824" y="4811572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4774996"/>
            <a:ext cx="10161727" cy="32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工具層預設唯讀：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PLM、需求管理、測試資料庫、模擬器。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246827"/>
            <a:ext cx="10728655" cy="47183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77824" y="5356555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8" y="5319979"/>
            <a:ext cx="10161727" cy="32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人工核准：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寫入與高風險動作。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791809"/>
            <a:ext cx="10728655" cy="47183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7824" y="5901537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07008" y="5864961"/>
            <a:ext cx="10161727" cy="32552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訓練資料管線：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稽核紀錄回流做微調、RFT、蒸餾。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安全合規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安全與合規重點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安全與合規要從一開始就設計進架構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728655" cy="3566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41248" y="1691640"/>
          <a:ext cx="10509198" cy="3383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2190"/>
                <a:gridCol w="8007008"/>
              </a:tblGrid>
              <a:tr h="48332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項目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要求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分級控管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檢索、記憶、輸出都依密等與知悉範圍過濾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輸出管制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輸出密等至少等於引用資料的最高密等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訓練資料隔離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高密等資料微調的模型視同高密等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供應鏈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模型、套件、容器映像經審查才能引入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48332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Prompt injection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文件內容視為不可信，工具權限最小化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48332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人為判斷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設計決策與測試結論由專家確認，AI 只輔助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349240"/>
            <a:ext cx="10728655" cy="96012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9E5A38"/>
                </a:solidFill>
                <a:latin typeface="Microsoft JhengHei"/>
              </a:rPr>
              <a:t>Model weights inherit the classification of their training data</a:t>
            </a:r>
          </a:p>
          <a:p>
            <a:pPr algn="ctr">
              <a:spcBef>
                <a:spcPts val="800"/>
              </a:spcBef>
            </a:pPr>
            <a:r>
              <a:rPr sz="1050">
                <a:solidFill>
                  <a:srgbClr val="7C8695"/>
                </a:solidFill>
                <a:latin typeface="Microsoft JhengHei"/>
              </a:rPr>
              <a:t>用機敏資料訓練出的模型權重可能洩漏資料，須比照最高密等保管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導入規劃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導入路線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從低風險、高價值場景開始，逐步累積資產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91640"/>
            <a:ext cx="2510713" cy="82296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0. 準備
1–2 個月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69665" y="201168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70833" y="1691640"/>
            <a:ext cx="2510713" cy="82296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1. MVP
2–4 個月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8979" y="201168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0147" y="1691640"/>
            <a:ext cx="2510713" cy="822960"/>
          </a:xfrm>
          <a:prstGeom prst="round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2. 強化
4–8 個月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748293" y="2011680"/>
            <a:ext cx="173736" cy="182880"/>
          </a:xfrm>
          <a:prstGeom prst="rightArrow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49461" y="1691640"/>
            <a:ext cx="2510713" cy="822960"/>
          </a:xfrm>
          <a:prstGeom prst="roundRect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JhengHei"/>
              </a:rPr>
              <a:t>3. 擴散
8 個月以後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697480"/>
            <a:ext cx="10728655" cy="3566160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841248" y="2788920"/>
          <a:ext cx="10509198" cy="3383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072"/>
                <a:gridCol w="6209981"/>
                <a:gridCol w="2866145"/>
              </a:tblGrid>
              <a:tr h="676655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階段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主要工作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產出</a:t>
                      </a:r>
                    </a:p>
                  </a:txBody>
                  <a:tcPr anchor="ctr">
                    <a:solidFill>
                      <a:srgbClr val="EAE4D8"/>
                    </a:solidFill>
                  </a:tcPr>
                </a:tc>
              </a:tr>
              <a:tr h="67665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0. 準備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選定場景、建評估集、地端環境、離線引入流程、資安審查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評估集 v1、基準分數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7665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1. MVP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分級 RAG、唯讀工具、流程 + Agent、稽核、Skills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內網 AI 助理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  <a:tr h="676655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2. 強化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用專家修正做 SFT / LoRA，可驗證任務做 RFT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領域微調模型 v1</a:t>
                      </a:r>
                    </a:p>
                  </a:txBody>
                  <a:tcPr anchor="ctr">
                    <a:solidFill>
                      <a:srgbClr val="FDFCFA"/>
                    </a:solidFill>
                  </a:tcPr>
                </a:tc>
              </a:tr>
              <a:tr h="67665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232D38"/>
                          </a:solidFill>
                          <a:latin typeface="Microsoft JhengHei"/>
                        </a:defRPr>
                      </a:pPr>
                      <a:r>
                        <a:t>3. 擴散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地端蒸餾小模型、跨單位部署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A5568"/>
                          </a:solidFill>
                          <a:latin typeface="Microsoft JhengHei"/>
                        </a:defRPr>
                      </a:pPr>
                      <a:r>
                        <a:t>分級模型群</a:t>
                      </a:r>
                    </a:p>
                  </a:txBody>
                  <a:tcPr anchor="ctr">
                    <a:solidFill>
                      <a:srgbClr val="F7F4ED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場景與風險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優先場景與主要風險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先做文件與工程輔助類的低風險場景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優先場景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[USE CASES]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技術文件與規格書問答（附條文出處）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8643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09615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5958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需求追溯與規格符合性檢查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82402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393374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89717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測試報告與技術報告草稿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6161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477133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73476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程式碼輔助與審查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9920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77824" y="5608929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557235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00">
                <a:solidFill>
                  <a:srgbClr val="4A5568"/>
                </a:solidFill>
                <a:latin typeface="Microsoft JhengHei"/>
              </a:rPr>
              <a:t>歷史異常與失效案例檢索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48095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94399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主要風險與對策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[RISKS]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214884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4399" y="225856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3583" y="222199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模型能力不足：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拆細流程、RAG、微調、驗證器。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298643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94399" y="309615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3583" y="305958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資料散亂：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先盤點清理，從單一專案開始。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382402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39337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389717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專家時間不足：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審核即標註，修正變訓練資料。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095" y="466161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4399" y="477133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3583" y="473476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跨密等洩漏：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檢索前過濾、分級部署。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095" y="549920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394399" y="560892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3583" y="557235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過度依賴：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關鍵結論需專家簽核。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74320"/>
            <a:ext cx="2011680" cy="274320"/>
          </a:xfrm>
          <a:prstGeom prst="roundRect">
            <a:avLst/>
          </a:prstGeom>
          <a:solidFill>
            <a:srgbClr val="E8E2D5"/>
          </a:solidFill>
          <a:ln w="9525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950" b="1">
                <a:solidFill>
                  <a:srgbClr val="3B6E58"/>
                </a:solidFill>
                <a:latin typeface="Microsoft JhengHei"/>
              </a:rPr>
              <a:t>✦  結論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"/>
            <a:ext cx="10728655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>
                <a:solidFill>
                  <a:srgbClr val="232D38"/>
                </a:solidFill>
                <a:latin typeface="Microsoft JhengHei"/>
              </a:rPr>
              <a:t>成功指標與結論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7C8695"/>
                </a:solidFill>
                <a:latin typeface="Microsoft JhengHei"/>
              </a:rPr>
              <a:t>投資在模型以外、可跨世代沿用的資產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89888"/>
            <a:ext cx="10728655" cy="13716"/>
          </a:xfrm>
          <a:prstGeom prst="rect">
            <a:avLst/>
          </a:prstGeom>
          <a:solidFill>
            <a:srgbClr val="D6CE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成功指標 KPI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[KPI]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48840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77824" y="2258568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2221992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品質：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評估集正確率、出處正確率、專家抽查合格率。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95828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77824" y="3305556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268980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效率：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文件查找、報告撰寫、需求追溯工時減少比例。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42816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77824" y="4352544"/>
            <a:ext cx="256032" cy="256032"/>
          </a:xfrm>
          <a:prstGeom prst="ellipse">
            <a:avLst/>
          </a:prstGeom>
          <a:solidFill>
            <a:srgbClr val="3B6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4315968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資產：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評估集題數、Skills 數、訓練資料筆數。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289804"/>
            <a:ext cx="5212080" cy="973836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7824" y="5399532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5362956"/>
            <a:ext cx="4645152" cy="8275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安全：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越權存取 0 件、稽核紀錄完整率 100%。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8095" y="1600200"/>
            <a:ext cx="5212080" cy="475488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94399" y="1655064"/>
            <a:ext cx="49194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Microsoft JhengHei"/>
              </a:rPr>
              <a:t>結論</a:t>
            </a:r>
            <a:r>
              <a:rPr sz="850" b="1">
                <a:solidFill>
                  <a:srgbClr val="D6CEBF"/>
                </a:solidFill>
                <a:latin typeface="Microsoft JhengHei"/>
              </a:rPr>
              <a:t>  [CONCLUSION]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095" y="214884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94399" y="225856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3583" y="222199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第 0 步：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建立評估集。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8095" y="298643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394399" y="309615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3583" y="305958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主軸：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內網 Agent，以固定流程為骨架。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8095" y="3824020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94399" y="3933748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3583" y="3897172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必要：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分級 RAG 與微調 / RFT。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48095" y="466161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394399" y="477133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3583" y="473476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擴散：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地端大模型蒸餾小模型。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48095" y="5499201"/>
            <a:ext cx="5212080" cy="764438"/>
          </a:xfrm>
          <a:prstGeom prst="roundRect">
            <a:avLst/>
          </a:prstGeom>
          <a:solidFill>
            <a:srgbClr val="FDFCFA"/>
          </a:solidFill>
          <a:ln w="12700">
            <a:solidFill>
              <a:srgbClr val="E3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394399" y="5608929"/>
            <a:ext cx="256032" cy="256032"/>
          </a:xfrm>
          <a:prstGeom prst="ellipse">
            <a:avLst/>
          </a:prstGeom>
          <a:solidFill>
            <a:srgbClr val="9E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3583" y="5572353"/>
            <a:ext cx="4645152" cy="61813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950" b="1">
                <a:solidFill>
                  <a:srgbClr val="2C3E50"/>
                </a:solidFill>
                <a:latin typeface="Microsoft JhengHei"/>
              </a:rPr>
              <a:t>資產：</a:t>
            </a:r>
            <a:r>
              <a:rPr sz="900">
                <a:solidFill>
                  <a:srgbClr val="4A5568"/>
                </a:solidFill>
                <a:latin typeface="Microsoft JhengHei"/>
              </a:rPr>
              <a:t>評估集、工具、Skills 與記憶、執行紀錄。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528816"/>
            <a:ext cx="822960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00">
                <a:solidFill>
                  <a:srgbClr val="7C8695"/>
                </a:solidFill>
                <a:latin typeface="Microsoft JhengHei"/>
              </a:rPr>
              <a:t>國防研發業專業領域 AI 方案評估報告（地端版）  ·  ON-PREMISE DOMAIN AI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0" y="6528816"/>
            <a:ext cx="1401775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r>
              <a:rPr sz="850" b="1">
                <a:solidFill>
                  <a:srgbClr val="3B6E58"/>
                </a:solidFill>
                <a:latin typeface="Microsoft Jheng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