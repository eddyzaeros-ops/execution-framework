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508760"/>
            <a:ext cx="3291840" cy="347472"/>
          </a:xfrm>
          <a:prstGeom prst="roundRect">
            <a:avLst/>
          </a:prstGeom>
          <a:solidFill>
            <a:srgbClr val="EAE4D8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3B6E58"/>
                </a:solidFill>
                <a:latin typeface="Microsoft JhengHei"/>
              </a:rPr>
              <a:t>✦  arXiv:2609.00006v1 學術全景重磅解析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57400"/>
            <a:ext cx="9784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32D38"/>
                </a:solidFill>
                <a:latin typeface="Microsoft JhengHei"/>
              </a:rPr>
              <a:t>Harness Engineering: 編程智慧體架構與演化剖析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9E5A38"/>
                </a:solidFill>
                <a:latin typeface="Microsoft JhengHei"/>
              </a:rPr>
              <a:t>Anatomy, Architecture, and Evolution of Coding Agents — A Source-Code Study of Eleven Systems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3E4856"/>
                </a:solidFill>
                <a:latin typeface="Microsoft JhengHei"/>
              </a:rPr>
              <a:t>11 款生產級 Harness 原始碼解剖 · 13 項跨系統觀察 · 29 項設計模式 · 全套 18 表解析 · 18 條設計建議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663440"/>
            <a:ext cx="98142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8463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57182"/>
                </a:solidFill>
                <a:latin typeface="Microsoft JhengHei"/>
              </a:rPr>
              <a:t>論文：arXiv:2609.00006v1（作者與機構請以 arXiv 摘要頁為準；版本釘選 2026 年 7 月）
研究範疇：七大子系統 (D1-D7)、雙重缺席 (零 Agentic Framework / 零向量代碼 RAG)、平台化轉型論題 (Tool → Platform)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01 /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理論基礎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核心命題與定義界定：Agent = Model + Harness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Harness 是模型以外的一切；釐清與 Scaffold、Framework、Eval Harness、Orchestrator 的四個邊界案例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374903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1. 定義：Agent = Model + Harness (§2.1)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[CORE THESIS]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854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4884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核心公式等式：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Agent = Model + Harness，兩者缺一不可。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96265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92608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模型提供智慧：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Harness 是「模型以外的一切」，即把 LLM 接上世界的 Runtime。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73989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70332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Harness 六大面向：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迴圈、工具、上下文管理、安全控制、協調與擴展介面。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51713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448056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複雜度不預測績效：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約百行的 Mini-SWE-Agent 自報成績與大三個數量級的系統同級 (§2.4)。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600200"/>
            <a:ext cx="5212080" cy="374903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0975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2. 四大混淆術語邊界澄清 (Clarifying Terms)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[TAXONOMY]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0975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0975" y="21854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1871" y="214884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Harness vs Scaffold：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兩者近義；Scaffold 指結構程式碼（迴圈、註冊表），Harness 指出貨的完整 Runtime 產品。</a:t>
            </a:r>
          </a:p>
        </p:txBody>
      </p:sp>
      <p:sp>
        <p:nvSpPr>
          <p:cNvPr id="23" name="Oval 22"/>
          <p:cNvSpPr/>
          <p:nvPr/>
        </p:nvSpPr>
        <p:spPr>
          <a:xfrm>
            <a:off x="6430975" y="296265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871" y="292608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Harness vs Framework (LangChain 等)：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Framework 是被 import 的函式庫；Harness 是開發者身處其中的 Runtime。</a:t>
            </a:r>
          </a:p>
        </p:txBody>
      </p:sp>
      <p:sp>
        <p:nvSpPr>
          <p:cNvPr id="25" name="Oval 24"/>
          <p:cNvSpPr/>
          <p:nvPr/>
        </p:nvSpPr>
        <p:spPr>
          <a:xfrm>
            <a:off x="6430975" y="373989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1871" y="370332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Harness vs Eval Harness (SWE-bench)：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評測 Harness 包裹 Agent 跑任務；Agent Harness 包裹模型使其行動，方向相反。</a:t>
            </a:r>
          </a:p>
        </p:txBody>
      </p:sp>
      <p:sp>
        <p:nvSpPr>
          <p:cNvPr id="27" name="Oval 26"/>
          <p:cNvSpPr/>
          <p:nvPr/>
        </p:nvSpPr>
        <p:spPr>
          <a:xfrm>
            <a:off x="6430975" y="451713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1871" y="448056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Harness vs Orchestrator：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Orchestrator / Meta-Harness 從上方協調多個 Harness，本身不實作編輯迴圈 (如 Omnigent)。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623560"/>
            <a:ext cx="1018001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3E50"/>
                </a:solidFill>
                <a:latin typeface="Microsoft JhengHei"/>
              </a:rPr>
              <a:t>"The model supplies the intelligence; the harness </a:t>
            </a:r>
            <a:r>
              <a:rPr sz="1250" b="1">
                <a:solidFill>
                  <a:srgbClr val="9E5A38"/>
                </a:solidFill>
                <a:latin typeface="Microsoft JhengHei"/>
              </a:rPr>
              <a:t>turns that intelligence into work</a:t>
            </a:r>
            <a:r>
              <a:rPr sz="1250" b="1">
                <a:solidFill>
                  <a:srgbClr val="2C3E50"/>
                </a:solidFill>
                <a:latin typeface="Microsoft JhengHei"/>
              </a:rPr>
              <a:t>."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657182"/>
                </a:solidFill>
                <a:latin typeface="Microsoft JhengHei"/>
              </a:rPr>
              <a:t>模型提供智慧；Harness 透過迴圈、工具、上下文管理、安全控制、協調與擴展介面，把智慧轉化為工作。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02 / 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2 解析】2026 年中更廣闊的 Harness 市場全景版圖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2: The Broader Coding-Agent Harness Landscape (Non-corpus Systems)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548640"/>
                <a:gridCol w="731520"/>
                <a:gridCol w="2926080"/>
              </a:tblGrid>
              <a:tr h="29718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Vendor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OSS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Stars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Note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Antigravity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Google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Announced May 2026 as Gemini CLI ’s successor; closed-source Go binary; consumer service cut over June 18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Copilot CLI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GitHub/Microsoft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GA Feb. 2026; autopilot + fleet modes; deep GitHub integration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Grok Build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xAI (SpaceX)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May 2026; Rust; plan-first loop; ACP server; AGENTS.md/MCP/skills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Cursor CLI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Anysphere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IDE-harness parity in the terminal; $60B SpaceX acquisition pending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Kiro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Amazon/AWS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ex-Q Developer; spec-driven development identity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Cline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Cline Bot Inc.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~64k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5M+ IDE installs; plan/act workflow; Roo/Kilo fork family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Goose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Block / Linux Found.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~29k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Rust; native MCP; donated to Agentic AI Foundation Apr. 2026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Claw 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Community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~100k+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Self-described clean-room Python/Rust reimplementation of Claude 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Crush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Charmbracelet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~26k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Go-native, LSP-aware TUI; ex-opencode (Go) lineage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Qwen 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Alibaba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~26k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Gemini CLI fork for Qwen coder models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Kimi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Moonshot AI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~9k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Skills, MCP, “agent swarm” parallelism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Trae Agent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ByteDance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~12k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Research-friendly Python CLI agent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Droid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Factory AI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Terminal-Bench SOTA Sept. 2025; enterprise CI focus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Amp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Sourcegraph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Ad-supported free tier; deep-mode research workflows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Continue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Continue.dev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~30k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Multi-surface (IDE+CLI); local/privacy focus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原廠全面進場：2026/7 市場掃描發現逾兩打活躍 Harness；Google Antigravity CLI、GitHub Copilot CLI、xAI Grok Build、Amazon Kiro CLI 等皆已推出。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開源重心：Cline (~64k)、Goose (捐贈 Linux Foundation)、Claw Code (~100k+) 與 Qwen Code / Kimi CLI / Trae Agent 等中國廠商 CLI。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市場整併：SpaceX 併購 xAI 並宣布 600 億美元收購 Cursor；Gemini CLI 轉向閉源 Antigravity CLI（論文註：市場事件未經原始碼驗證）。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03 / 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3 解析】11 款系統入選準則、Commit 版本與代表性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3: System Selection Criteria and Repository Snapshots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731520"/>
                <a:gridCol w="146304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Provider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Language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Version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Selection Rationale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(ex-All-Hands-AI)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V1 SDK v1.34.0 (Jul. 2026)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Mature modular framework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Community (P. Gauthier)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v0.86.3.dev (May 2026; maintenance mode)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Polymorphic edit strategies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Anthropic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TypeScript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source snapshot Mar. 2026 (binary 2.1.206, Jul. 2026)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Anthropic’s flagship 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OpenAI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Rust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rust-v0.144.1 (Jul. 2026)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OpenAI’s flagship agent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Google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TypeScript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v0.50.0 (Jul. 2026)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Google’s flagship 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Mistral AI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v2.19.1 (Jul. 2026)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Mistral’s flagship agent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Princeton/Stanford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v2.4.5 (Jul. 2026)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Minimalist research baseline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Nous Research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0.18.2 (rel. 2026.7.7.2, Jul. 2026)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Self-improving skills; hybrid personal/SWE harness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earendil-works (M. Zechner)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TypeScript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v0.80.6 (Jul. 2026)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Minimal core, maximal extensibility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Anomaly (ex-SST)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TypeScript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v1.17.18 (Jul. 2026)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Client/server architecture; most-starred dedicated coding agent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Community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TypeScript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v2026.6.11 (Jul. 2026)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Contrast: multi-channel assistant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Omnigent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Databricks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v0.4.0 (Jul. 2026)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Contrast: meta-harness above harnesses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多樣性：涵蓋 TypeScript (Claude Code, Gemini CLI, OpenCode, Pi, OpenClaw)、Python (OpenHands, Aider, Vibe, Mini-SWE, Hermes) 與 Rust (Codex)。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版本釘選：全部釘選於 2026 年 7 月 Release；原 8 個系統保留 4 月快照，構成跨一季（約 90 天）的縱向原始碼 diff 樣本。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Omnigent (Databricks) 為對照點：自身無編輯迴圈，於統一 API 後協調 11 款廠商 Harness（含本研究 5 款），是首個 Meta-Harness。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04 /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論文圖一重繪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【重繪論文圖一】Harness 七大標準子系統架構全景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1: The Canonical Anatomy and Architecture of Coding Agent Harnesses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75488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3B6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103628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B6E58"/>
                </a:solidFill>
                <a:latin typeface="Microsoft JhengHei"/>
              </a:rPr>
              <a:t>THE HARNESS RUNTIME BOUNDARY (七大子系統 + 介面層 + Session Substrate)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011680"/>
            <a:ext cx="10180015" cy="777240"/>
          </a:xfrm>
          <a:prstGeom prst="roundRect">
            <a:avLst/>
          </a:prstGeom>
          <a:solidFill>
            <a:srgbClr val="EAF0EC"/>
          </a:solidFill>
          <a:ln w="15240">
            <a:solidFill>
              <a:srgbClr val="3B6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C3E50"/>
                </a:solidFill>
                <a:latin typeface="Microsoft JhengHei"/>
              </a:rPr>
              <a:t>D1. Agent Loop (核心驅動引擎 / 狀態機迴圈)
</a:t>
            </a:r>
            <a:r>
              <a:rPr sz="950">
                <a:solidFill>
                  <a:srgbClr val="3E4856"/>
                </a:solidFill>
                <a:latin typeface="Microsoft JhengHei"/>
              </a:rPr>
              <a:t>Iterative / Reflection / Coordinator-Worker · Stuck Detector · 回合與成本上限 · Middleware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926080"/>
            <a:ext cx="3246120" cy="1417320"/>
          </a:xfrm>
          <a:prstGeom prst="roundRect">
            <a:avLst/>
          </a:prstGeom>
          <a:solidFill>
            <a:srgbClr val="F5F2EB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9E5A38"/>
                </a:solidFill>
                <a:latin typeface="Microsoft JhengHei"/>
              </a:rPr>
              <a:t>D2. 模型整合與協同
</a:t>
            </a:r>
          </a:p>
          <a:p>
            <a:r>
              <a:rPr sz="900">
                <a:solidFill>
                  <a:srgbClr val="3E4856"/>
                </a:solidFill>
                <a:latin typeface="Microsoft JhengHei"/>
              </a:rPr>
              <a:t>✦ 單原廠緊耦合 vs 多模型抽象
✦ 靜態/動態 Prompt Cache 邊界
✦ 反鍍金規則 (Anti-Gold-Plating)
✦ Extended Thinking / Reasoning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2926080"/>
            <a:ext cx="3246120" cy="1417320"/>
          </a:xfrm>
          <a:prstGeom prst="roundRect">
            <a:avLst/>
          </a:prstGeom>
          <a:solidFill>
            <a:srgbClr val="F5F2EB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B6E58"/>
                </a:solidFill>
                <a:latin typeface="Microsoft JhengHei"/>
              </a:rPr>
              <a:t>D4. 記憶與上下文管理
</a:t>
            </a:r>
          </a:p>
          <a:p>
            <a:r>
              <a:rPr sz="900">
                <a:solidFill>
                  <a:srgbClr val="3E4856"/>
                </a:solidFill>
                <a:latin typeface="Microsoft JhengHei"/>
              </a:rPr>
              <a:t>✦ 閾值壓縮 (7/11 系統採用)
✦ 增量合併摘要 (Pi / OpenCode)
✦ Gemini CLI：50% 觸發留最近 30%
✦ 持久記憶寫入路徑 (新前沿)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6992" y="2926080"/>
            <a:ext cx="3246120" cy="1417320"/>
          </a:xfrm>
          <a:prstGeom prst="roundRect">
            <a:avLst/>
          </a:prstGeom>
          <a:solidFill>
            <a:srgbClr val="F5F2EB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4782A"/>
                </a:solidFill>
                <a:latin typeface="Microsoft JhengHei"/>
              </a:rPr>
              <a:t>D3. 工具與動作系統
</a:t>
            </a:r>
          </a:p>
          <a:p>
            <a:r>
              <a:rPr sz="900">
                <a:solidFill>
                  <a:srgbClr val="3E4856"/>
                </a:solidFill>
                <a:latin typeface="Microsoft JhengHei"/>
              </a:rPr>
              <a:t>✦ 工具數光譜：1 個 bash 至 109+
✦ 精確唯一子字串替換 (Frontier)
✦ 模糊瀑布 (OpenCode Lev. 0.65)
✦ 逾 ~15 個工具啟用遞延加載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480560"/>
            <a:ext cx="3246120" cy="1417320"/>
          </a:xfrm>
          <a:prstGeom prst="roundRect">
            <a:avLst/>
          </a:prstGeom>
          <a:solidFill>
            <a:srgbClr val="F5F2EB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9E5A38"/>
                </a:solidFill>
                <a:latin typeface="Microsoft JhengHei"/>
              </a:rPr>
              <a:t>D5. 安全與權限棧
</a:t>
            </a:r>
          </a:p>
          <a:p>
            <a:r>
              <a:rPr sz="900">
                <a:solidFill>
                  <a:srgbClr val="3E4856"/>
                </a:solidFill>
                <a:latin typeface="Microsoft JhengHei"/>
              </a:rPr>
              <a:t>✦ Starlark 策略與內嵌測試案例
✦ Guardian LLM 審批 (Codex)
✦ OS 級沙盒 (Bubblewrap/Seatbelt)
✦ 互動式人工審批 (HITL)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4480560"/>
            <a:ext cx="3246120" cy="1417320"/>
          </a:xfrm>
          <a:prstGeom prst="roundRect">
            <a:avLst/>
          </a:prstGeom>
          <a:solidFill>
            <a:srgbClr val="F5F2EB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B6E58"/>
                </a:solidFill>
                <a:latin typeface="Microsoft JhengHei"/>
              </a:rPr>
              <a:t>D6. 多代理協同拓撲
</a:t>
            </a:r>
          </a:p>
          <a:p>
            <a:r>
              <a:rPr sz="900">
                <a:solidFill>
                  <a:srgbClr val="3E4856"/>
                </a:solidFill>
                <a:latin typeface="Microsoft JhengHei"/>
              </a:rPr>
              <a:t>✦ 六種模式 (9/11 支援多代理)
✦ 遞迴組合 (Claude Code)
✦ 線程樹 + CSV fan-out (Codex)
✦ 子代理協同 8/9 維持行程內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4480560"/>
            <a:ext cx="3246120" cy="1417320"/>
          </a:xfrm>
          <a:prstGeom prst="roundRect">
            <a:avLst/>
          </a:prstGeom>
          <a:solidFill>
            <a:srgbClr val="F5F2EB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C3E50"/>
                </a:solidFill>
                <a:latin typeface="Microsoft JhengHei"/>
              </a:rPr>
              <a:t>D7. 擴展與技能體系
</a:t>
            </a:r>
          </a:p>
          <a:p>
            <a:r>
              <a:rPr sz="900">
                <a:solidFill>
                  <a:srgbClr val="3E4856"/>
                </a:solidFill>
                <a:latin typeface="Microsoft JhengHei"/>
              </a:rPr>
              <a:t>✦ SKILL.md 技能標準 (9/11)
✦ MCP 外部整合協議 (8/11)
✦ 技能遞延載入 (9 家中 8 家)
✦ Lifecycle Hooks (9/11)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05 /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論文圖形重繪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【原圖精緻重繪】Figure 1: 編程智慧體 Harness 標準解剖學架構全貌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1: The Canonical Anatomy of a Coding-Agent Harness (arXiv:2609.00006v1)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1_matplot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467573"/>
            <a:ext cx="6217920" cy="30201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691640"/>
            <a:ext cx="40050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E5A38"/>
                </a:solidFill>
                <a:latin typeface="Microsoft JhengHei"/>
              </a:rPr>
              <a:t>✦ 論文官方題註 (Caption)：
The canonical anatomy of a coding-agent harness: seven subsystems around an agent loop, plus the interface layer and the session substrate.
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研析見解與核心意涵：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【圖中核心概念】Agent = Model + Harness：Harness 是模型以外的一切——迴圈、工具、上下文、安全、協調與擴展介面。論文主張七大子系統即此產物的標準解剖：最小實作顯示每項可縮到多小（協調可刻意缺席），最大實作顯示工程空間所在。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向心解剖學架構：精準呈現以 Agent Loop (D1) 為心臟的向心閉環，向外輻射調度模型 (D2)、工具 (D3)、記憶 (D4)、安全 (D5)、多代理 (D6) 與擴展 (D7)。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雙大貫穿基底：介面層 (TUI/IDE/SDK/Server) 與會話基底 (Session Substrate 軌跡持久化與分支樹) 橫切貫穿所有子系統。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06 /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 解析】七大子系統極小與極大實作光譜對照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1: Component Map of a Coding-Agent Harness (Minimal vs. Maximal)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2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081"/>
                <a:gridCol w="3185069"/>
                <a:gridCol w="2514528"/>
                <a:gridCol w="3185069"/>
                <a:gridCol w="502905"/>
              </a:tblGrid>
              <a:tr h="337185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Subsystem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Role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Minimal form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Maximal form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§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Agent loop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Alternates inference with action execution; owns stop conditions and failure recovery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: a linear while over one bash tool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: event-sourced conversation over a persistent event log, with parallel action batches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6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 integration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Speaks provider protocols; assembles the prompt; manages caching, thinking, routing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: one LiteLLM call, one Jinja template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Hermes : five owned transports, 29 provider profiles; Codex : server-delivered model catalog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7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Tools &amp; actions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Defines and executes what the agent can do, file editing above all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: bash only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: 43 typed tools with deferred loading; Codex : tool calls as V8-executed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8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Memory &amp; context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Rations the context window; persists knowledge across turns and sessions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: unbounded linear history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Codex : agent-maintained cross-session memory pipeline; Gemini CLI : graph-based context distillation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9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Safety &amp; permissions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Decides what runs, what asks, what is forbidden; isolates execution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: cost and step limits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Codex : policy rules + LLM approval reviewer + three-platform OS sandbox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10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Orchestration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Spawns and coordinates sub-agents; connects to other agents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Aider : none (single-agent by design)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: recursive composition; Omnigent : cross-vendor coordination (meta-layer)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11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Extensibility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Lets users and ecosystems add capability: config, hooks, skills, plugins, MCP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: structural typing (Python protocols)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 : everything-is-an-extension runtime; Codex : marketplace-distributed plugins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12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26280"/>
            <a:ext cx="10728655" cy="187451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2895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B6E58"/>
                </a:solidFill>
                <a:latin typeface="Microsoft JhengHei"/>
              </a:rPr>
              <a:t>✦ 研析見解與架構意涵解讀 (Architectural Interpretation)：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光譜跨越 3 個數量級：Mini-SWE-Agent 約 100 行即實作全部七子系統；最大實作為百萬行級生產 CLI（Codex 約 1.1M 行 Rust）。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可選擇性缺席：七子系統中僅協調 (D6) 可縮至刻意缺席（Mini-SWE-Agent、Aider、Pi 核心皆為單代理）。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下限與生產系統的差距不在任務完成，而在安全、復原、成本管理、擴展性與平台介面 (§2.4)；可由 Minimal Form 起步逐步演進。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07 /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4 解析】11 款系統高階架構特性與招牌特徵比較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4: High-level Comparison and Signature Capabilities Across Corpus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1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829"/>
                <a:gridCol w="584072"/>
                <a:gridCol w="584072"/>
                <a:gridCol w="667512"/>
                <a:gridCol w="584072"/>
                <a:gridCol w="584072"/>
                <a:gridCol w="834390"/>
                <a:gridCol w="667512"/>
                <a:gridCol w="1251585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Lang.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Scale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Provider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Tools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Multi-ag.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Sandbox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UI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Signature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Medium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25+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Docker/ Apptainer/ remote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Web+CLI +SDK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Resource-locked parallel tools; hosts rival harnesses as ACP backends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Small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13 fmt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13 polymorphic edit formats; the corpus’s only ranked repo map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Large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Anthropic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43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Opt-in runtime + worktree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Deferred tool loading; prompt-cache-sharing forks; the reference others copy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Rust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Very lg.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OpenAI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25–30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Native (3 OS)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CLI/TUI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Agent-maintained cross-session memory; tool calls as V8-executed 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Very lg.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Google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35+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Native (3 OS)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CLI/TUI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 routing as runtime scheduling; the corpus’s only A2A server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Small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Mistral+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12+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Worktree opt.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CLI/TUI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Middleware-pipeline loop; rewind exposed over ACP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Tiny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Docker+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The 100-line floor: all seven subsystems, minimally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Very lg.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 (owned)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69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6 pluggable backends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CLI/TUI/ Web+28 ch.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Self-improving skill loop; lineage compaction; verify-on-stop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Medium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Multi, 35 prov.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7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Ext.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(by design)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CLI/TUI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Everything-is-an-extension core; session-tree version control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Large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17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(policy)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Client/ server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Client/server harness; syntax-aware command permissioning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Large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109+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Multi-ch.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Gateway delegation; Active-Memory sub-agent before each reply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原廠招牌：Claude Code 為遞延工具載入與共享 prompt cache 的 fork；Codex 為代理維護的跨會話記憶與 V8 執行的工具呼叫。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開源招牌：OpenHands 資源鎖並行工具、可託管競品 Harness；Aider 13 種多型編輯格式與唯一的排序式 repo map。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極簡派：Mini-SWE-Agent 百行實作全部七子系統；Pi「一切皆擴展」核心與 session-tree 版本控制。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08 / 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迴圈架構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【重繪論文圖二】三種驅動迴圈範式對比 (Figure 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2: Contrasting Iterative ReAct, Reflection-Augmented, and Coordinator-Worker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6E58"/>
                </a:solidFill>
                <a:latin typeface="Microsoft JhengHei"/>
              </a:rPr>
              <a:t>範式 1: 迭代動作迴圈
(Iterative ReAct Loop)
</a:t>
            </a:r>
          </a:p>
          <a:p>
            <a:r>
              <a:rPr sz="950">
                <a:solidFill>
                  <a:srgbClr val="9E5A38"/>
                </a:solidFill>
                <a:latin typeface="Microsoft JhengHei"/>
              </a:rPr>
              <a:t>代表：Mini-SWE-Agent, OpenHands, OpenCode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【控制流程圖解】
[User Input] ➔ Prompt 組裝
       ▼
[LLM Completion] 推理預測
       ▼
[Tool Execution] 本地執行
       ▼
[Observation] 狀態反饋
       ▼
[Compaction / Stuck Check]
       ▼ 循環直到 Stop Token
✦ 優點：極簡、開銷低、狀態直觀
✦ 缺點：缺乏自校正、易陷入死循環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73736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E5A38"/>
                </a:solidFill>
                <a:latin typeface="Microsoft JhengHei"/>
              </a:rPr>
              <a:t>範式 2: 反思增強迴圈
(Reflection-Augmented)
</a:t>
            </a:r>
          </a:p>
          <a:p>
            <a:r>
              <a:rPr sz="950">
                <a:solidFill>
                  <a:srgbClr val="3B6E58"/>
                </a:solidFill>
                <a:latin typeface="Microsoft JhengHei"/>
              </a:rPr>
              <a:t>代表：Aider (run_one 核心), Hermes Verify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【控制流程圖解】
[LLM Edit Response]
       ▼
[Apply Diff Patch]
       ▼
[Run Linter &amp; AST Syntax]
       ▼
[Run Test Suite (測試集)]
       ▼ 失敗？
[Reflected Feedback] 注入錯誤訊號
       ▼ 重新請求 LLM (最多 3 次)
✦ 優點：lint/測試訊號回饋自我修正
✦ 缺點：耗費額外 Token 與執行時間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73736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4782A"/>
                </a:solidFill>
                <a:latin typeface="Microsoft JhengHei"/>
              </a:rPr>
              <a:t>範式 3: 協調工兵派工
(Coordinator-Worker)
</a:t>
            </a:r>
          </a:p>
          <a:p>
            <a:r>
              <a:rPr sz="950">
                <a:solidFill>
                  <a:srgbClr val="2C3E50"/>
                </a:solidFill>
                <a:latin typeface="Microsoft JhengHei"/>
              </a:rPr>
              <a:t>代表：Claude Code, Codex, Hermes (設定啟用)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【控制流程圖解】
[Lead Coordinator] 接收總目標
       ▼ 拆解為獨立子任務
[Fork Sub-Agent Context]
       ▼
[Worker 1]    [Worker 2]    [Worker 3]
(專門檢索)    (執行編譯)    (審核修改)
       ▼             ▼             ▼
[Task-Notification XML 摘要回傳]
       ▼
[Lead 合成結果並推進下一階段]
✦ 優點：保護主 Context、並行探索
✦ 缺點：協調複雜度高、Token 開銷大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09 / 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論文圖形重繪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【原圖精緻重繪】Figure 2: 三大智慧體迴圈範式對比圖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2: Three Agent Loop Paradigms (arXiv:2609.00006v1)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_matplot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00814"/>
            <a:ext cx="6217920" cy="2753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691640"/>
            <a:ext cx="40050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E5A38"/>
                </a:solidFill>
                <a:latin typeface="Microsoft JhengHei"/>
              </a:rPr>
              <a:t>✦ 論文官方題註 (Caption)：
Three agent loop paradigms: (a) iterative action-observation, (b) reflection-augmented with external linter feedback, and (c) coordinator-worker with sub-agent dispatch.
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研析見解與核心意涵：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子圖 (a) 迭代迴圈：最經典的 Action-Observation 閉環，Stop 條件取決於 LLM 返回內容或預算計數器。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子圖 (b) 反思迴圈：Aider 的核心貢獻在於將 Linter/測試錯誤反饋 (TreeContext) 作為下一次 Prompt 的第一公民，實現自我修復。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子圖 (c) 協調者模式：Coordinator 派生 Worker 節點，非同步並行執行並透過 XML 摘要區塊回傳結果，保護主 Context 不被污染。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10 / 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5 解析】各系統驅動迴圈型態、並行度與卡死偵測機制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5: Detailed Agent Loop Characteristics Across Eleven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19"/>
                <a:gridCol w="1828799"/>
                <a:gridCol w="1463039"/>
                <a:gridCol w="1188719"/>
                <a:gridCol w="1005839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Loop Type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Concurrency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Stuck Detect.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Stop Cond.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Event-sourced conversation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Parallel batches (resource locks; limit default 1)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5 scenarios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State=FINISHED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Generator + reflect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Sequential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Max reflections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stream end, no reflection pending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Streaming + batch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Safety-partitioned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(manual)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end_turn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Tokio async SM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FuturesOrdered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end_turn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Async-gen + scheduler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Parallel; edits forced sequential; model-visible wait_for_previous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Hybrid: SHA-256 + LLM check after 30 turns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end_turn / 100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Async + middleware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asyncio.create_task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Middleware (turn/price/token/compact)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end_turn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Linear while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Sequential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step limit; format-error cap; wall clock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exit message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Budgeted while + stop-guards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Parallel batches (8 workers, safety-gated)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SHA-256 call signatures (warn-first)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text response unless verify-on-stop vetoes; 90-iter budget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Functional while + steer/followUp queues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Promise.all ; per-file mutation queue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(by design)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end_turn (no cap)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Log-as-queue while(true)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Parallel, uncapped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Doom-loop → permission ask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 tool calls; steps ∞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Event-driven ACP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RPC isolation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Rate limit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Session end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控制流分化：從簡單的 Async While-Loop 走向中間件管線 (Mistral Vibe) 與日誌即佇列 (OpenCode Log-as-Queue)。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卡死偵測光譜：Claude Code 與 Codex 仍無自動卡死偵測；OpenHands 五情境 StuckDetector、Gemini CLI hash+LLM 混合偵測屬平台級投資。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工具並行：Claude Code 以 isConcurrencySafe 分批（唯讀並行、寫入序列）；OpenHands 依資源加鎖；Pi 以 per-file 佇列序列化編輯。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11 / 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6 解析】提示詞工程架構：分段、快取對齊與動態組裝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6: Prompt Engineering Architectures Across Eleven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1737360"/>
                <a:gridCol w="1188720"/>
                <a:gridCol w="82296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6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Architecture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Sections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Caching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Template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PromptRegistry with cache tiers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18 named static sections (Soul, Role, Security, …) + dynamic block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STATIC/DYNAMIC two-block assembly; cache_control markers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Python; .j2 escape hatch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Polymorphic CoderPrompts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Per-edit-format prompts, repo-map, examples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Anthropic markers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 classes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Modular sections with boundary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12–15 named sections, static/dynamic split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Blake2b hash, boundary marker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TypeScript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Server-delivered per-model prompts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Capabilities, personality (user-templated), AGENTS.md, planning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thread_id cache key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Model-catalog data (bundled fallback)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PromptProvider + capability gating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Base, tools, GEMINI.md (global/proj/ext), IDE ctx, memory, skills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(rebuilt on model change)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 snippets (modern/legacy)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Per-agent prompts + A/B variants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Base, tools, git status, date, subagent roster, scratchpad, AGENTS.md contents, agent override, skills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Git status cached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Markdown files (GrowthBook-selected variant)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Jinja2 one-shot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system_template, instance_template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Anthropic markers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YAML-embedded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Three-tier assembly (stable/context/volatile), built once per session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~15 guidance blocks, model-family-gated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system_and_3 markers + bit-perfect prefix normalization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 constants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Single ~170-line builder; tool snippets co-vary with active toolset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Persona, tools, deduplicated guidelines, project context, skills XML, date, cwd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cache_control breakpoints + TTL tiers + waste audit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 concatenation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Model-family prompt matrix (9 base prompts by model-id substring)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Base, env block, AGENTS.md, MCP instructions, skills catalog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Six-dialect breakpoints; promptCacheKey =sessionID; system capped at 2 messages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.txt files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translator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Session config, tool list, thinking level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Per-provider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Runtime config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快取邊界：Claude Code 與 OpenHands 劃分「靜態前綴」與「動態後綴」以利快取命中；Hermes 以 bit-perfect 前綴正規化連本地 KV 快取都命中。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Markdown 情境檔自動發現：管理 repo 情境的系統全數收斂於階層式 AGENTS.md / CLAUDE.md / GEMINI.md，且會讀取鄰居檔名。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模板技術：仍以純 Markdown、Jinja2 或字串拼接為主；OpenHands 改用 PromptRegistry，Codex 提示詞改由伺服器模型目錄下發。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12 / 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16 解析】11 款系統提示詞修辭內容：反鍍金、精簡度與承諾策略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16: Rhetorical Content of Eleven System Prompts (July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828800"/>
                <a:gridCol w="2103120"/>
                <a:gridCol w="1188720"/>
                <a:gridCol w="1401775"/>
              </a:tblGrid>
              <a:tr h="224790">
                <a:tc>
                  <a:txBody>
                    <a:bodyPr/>
                    <a:lstStyle/>
                    <a:p>
                      <a:pPr algn="l">
                        <a:defRPr sz="77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Verbosity rule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Anti-gold-plate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Commit policy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Emoji rule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Emphasis style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2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quantified ( ≤ 25/100 w; internal A/B)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explicit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no-commit unless asked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conditional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IMPORTANT: / NEVER tags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2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qualitative (5.2); persona-driven (5.6)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explicit (5.2); dropped (5.6)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no-commit (5.2); feature-flag (5.6)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NEVER tags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2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via snippet gating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implicit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implicit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feature-gated sections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2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strict ( &lt; 150 w)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explicit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reversed : commits expected, signature trailer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strict ban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overridability contract (structural)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2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explicit (file-suffix)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commits taught; push/PR gated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XML role tags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2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“few short sentences”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implicit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format examples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2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structural (1 cmd/turn)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&lt;important&gt; XML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2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qualitative (“lead with the change”)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explicit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no-commit/push/rewrite unless asked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MUST / NEVER + exemplar pairs; model-gated XML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2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single bullet (“Be concise”)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 (delegated)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 (delegated)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XML data tags only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2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quantified ( &lt; 4 lines; model-dep.)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explicit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no-commit unless asked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conditional; GPT prompt bans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IMPORTANT: / NEVER + &lt;system-reminder&gt;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2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inherited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inherited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inherited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26280"/>
            <a:ext cx="10728655" cy="187451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2895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B6E58"/>
                </a:solidFill>
                <a:latin typeface="Microsoft JhengHei"/>
              </a:rPr>
              <a:t>✦ 研析見解與架構意涵解讀 (Architectural Interpretation)：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精簡度：11 份中 9 份含字數指示；Claude Code ≤25/≤100 字規則僅限內部 A/B 版本；OpenCode「少於 4 行」最激進。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Git Commit 共識瓦解：4 月提及 git 者皆禁自主 commit；7 月 Mistral Vibe 反轉、Codex 新版移除，但仍無系統允許自主 push。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強調三流派：大寫標籤 (IMPORTANT:/NEVER；Claude Code、Codex、OpenHands、OpenCode)、結構化規則區塊、範例驅動。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13 / 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17 解析】各系統對底層 LLM 進階 API 物理特性的調用光譜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17: Advanced API Features Used by Each System (July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1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392"/>
                <a:gridCol w="1799271"/>
                <a:gridCol w="1199514"/>
                <a:gridCol w="1299473"/>
                <a:gridCol w="1399433"/>
                <a:gridCol w="1099554"/>
                <a:gridCol w="999595"/>
                <a:gridCol w="1432419"/>
              </a:tblGrid>
              <a:tr h="224790">
                <a:tc>
                  <a:txBody>
                    <a:bodyPr/>
                    <a:lstStyle/>
                    <a:p>
                      <a:pPr algn="l">
                        <a:defRPr sz="7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Prompt caching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Ext. thinking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Reasoning effort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Model routing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WebSocket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Vision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Cost tracking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Partial (cache tiers + markers)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✓(RouterLLM)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Per-model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Partial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Opt.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Tok+$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Full (Blake2b boundary)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Tok+$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Partial ( thread_id key)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✓(to max/ultra)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Per-turn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✗(server-side)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✓(router)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OTel/Tok+$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Partial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✓(5 levels)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OTel/Per-sess.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Partial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Opt.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litellm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Full (provider-agnostic markers + prefix normalization)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✓(5 levels, per-provider translation)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Failover chains only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Tok+$, typed provenance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Full (breakpoints + TTL tiers + waste audit)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✓(7-level scale)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✓(10 dialects)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✗(by design)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✓(Codex backend)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Tok+$, tiered pricing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Full (6-dialect fanout + session key)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✓(date-gated variants)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Small-model selection only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Exp. flag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Tok+$ (Decimal)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7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Partial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Per-prov.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26280"/>
            <a:ext cx="10728655" cy="187451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2895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B6E58"/>
                </a:solidFill>
                <a:latin typeface="Microsoft JhengHei"/>
              </a:rPr>
              <a:t>✦ 研析見解與架構意涵解讀 (Architectural Interpretation)：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快取路線分歧：Claude Code 用 Blake2b 靜態/動態邊界；Codex 用 ThreadId 衍生 prompt_cache_key；OpenCode 同時輸出六種快取方言。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推理強度：Claude Code 暴露 budget_tokens；Codex 推理等級延伸至 max / ultra（ultra 會自動委派子代理）；Pi 統一為七級刻度。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視覺：Mistral Vibe 新增剪貼簿貼圖與 ACP 內嵌影像；Aider 依模型啟用、Mini-SWE 為預設關閉選項，已無系統純文字限定。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14 / 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7 解析】檔案編輯策略演化：精確比對、Diff 與模糊寬容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7: File Editing Strategies Across the Eleven Systems (July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463040"/>
                <a:gridCol w="1600200"/>
                <a:gridCol w="1234440"/>
                <a:gridCol w="132588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6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Format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Matching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Fallback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Innovation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Exact string replacement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Unique substring in file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Error + context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Zod schema validation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*** Begin/End Patch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Unified diff hunks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Hunk-level retry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Custom patch DSL; Lark-grammar-constrained variant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13 formats (SEARCH/ REPLACE, udiff, diff-fenced, …)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Exact → fuzzy (dmp)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Similar line suggestions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RelativeIndenter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str_replace_editor (5 cmds) + apply_patch + Gemini-ported edit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Exact unique match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Error message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undo_edit; three coexisting edit dialects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edit (old/new string) + write_file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Cascading: exact → flexible → regex → fuzzy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LLM “edit fixer” subcall repairs the pair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LLM-assisted edit repair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Exact edit (old/new string, replace_all ) + create-only write_file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Exact unique substring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Tool error on ambiguity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Migrated off fuzzy SEARCH/REPLACE (Apr → Jul)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sed/awk via bash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Regex-based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Shell error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(model-driven)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One patch tool: SEARCH/REPLACE + V4A DSL (+ write_file 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9-strategy fuzzy chain (exact → … → block-anchor 0.50/0.70 → context-aware 0.80)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Closest-line suggestions; escalate to write_file after 3 failures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Two-phase validate-then-apply; backend-transparent shell file ops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Multi-edit exact replacement ( edits[] , overlap rejection)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Exact → Unicode/whitespace canonicalization (no similarity threshold)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Uniqueness guidance error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Byte-fidelity overlay; async diff preview before execution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Model-conditional: apply_patch DSL (GPT family) or SEARCH/REPLACE edit (others)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9-stage replacer cascade (Levenshtein 0.65) / 4-pass patch relaxation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Distinct not-found vs. ambiguous errors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Editing dialect swapped per model in the registry; LSP diagnostics appended to results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N/A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N/A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N/A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Not a code editor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編輯版圖重組：11 系統共八種策略；Mistral Vibe 一季內刪除 SEARCH/REPLACE 工具，改採 Claude Code 式精確匹配。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模糊瀑布家族：OpenCode 九階 cascade (Levenshtein 0.65)、Hermes 九策略鏈「inspired by OpenCode」；Aider RelativeIndenter + diff_match_patch (0.95)。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Frontier 精確匹配：Claude Code、Mistral Vibe 採唯一子字串替換；Gemini CLI 以 LLM edit-fixer 修復失敗匹配，為第三條路線。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15 / 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8 解析】執行沙盒與隔離機制：Docker、Bubblewrap 與 Seatbelt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8: Execution Sandboxing Mechanisms (July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2880360"/>
                <a:gridCol w="1737360"/>
                <a:gridCol w="109728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7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Mechanism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Isolation Level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Investment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Workspace abstraction: Docker, Apptainer, remote-API, cloud workspaces (KVM passthrough app-side)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Process + filesystem + network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Substantial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Bubblewrap (vendored, compiled in-tree) + Landlock legacy fallback (Linux), Seatbelt (macOS), restricted tokens (Windows)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OS-level namespaces + filesystem + network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Substantial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Docker / Bubblewrap / gVisor / LXC (Linux), Seatbelt via sandbox-exec (macOS), restricted tokens (Windows); TOML policies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OS-level + per-mode policy + env scrubbing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Moderate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Opt-in OS sandbox via Anthropic’s sandbox-runtime (Bubblewrap/Seatbelt) with network restrictions; git worktrees for branch isolation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OS-level (opt-in) + filesystem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Moderate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Docker, Singularity, Bubblewrap (pluggable)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Configurable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Light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Six pluggable execution backends (local, Docker, SSH, Singularity, Modal, Daytona); local backend = policy floor, no OS primitives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Per-backend (container/VM); none locally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Delegated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OS-level; opt-in --worktree branch isolation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Filesystem (branch-level, opt-in)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built-in, with documented rationale; opt-in extensions (Anthropic sandbox-runtime , QEMU micro-VM) via per-tool Operations seam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by default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(extension-space)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(permission rules + tree-sitter command parsing; shadow-git checkpoints; “sandbox” in-tree means worktrees)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(policy-only)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(direct local execution)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(local gateway execution)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OS 沙盒免容器開銷：Codex（vendored Bubblewrap / Seatbelt / Windows restricted token）與 Gemini CLI 是僅有的兩家原生跨平台沙盒。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網路與憑證：Codex 以 --unshare-net 與 network_rule 管控網路；Gemini CLI 執行前清除 TOKEN/SECRET/KEY 類環境變數。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規模不等於沙盒：Hermes (~642K 行) 零 OS 隔離、OpenCode 僅有策略層；沙盒是選擇而非規模的必然 (Obs.6)。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16 / 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13 解析】代碼檢索機制全景：確定性工具對向量 RAG 的全面替代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13: Code-Retrieval Mechanisms in Lieu of Vector-based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103120"/>
                <a:gridCol w="365760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6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Embeddings used?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Code-retrieval mechanism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GrepTool / GlobTool + terminal; context-file ingestion (AGENTS.md, .cursorrules); tree-sitter no longer present in the SDK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Optional /help extra only (doc-RAG over aider’s own docs)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RepoMap : tree-sitter symbol extraction with token-budget-constrained PageRank-style ranking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ripgrep keyword search + BashTool + on-demand file Read; CLAUDE.md auto-discovery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Rust-native file search; AGENTS.md root-to-cwd concatenation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Bundled ripgrep + glob tools; GEMINI.md auto-discovery; MEMORY.md project index; JIT subdirectory context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ripgrep + tree-sitter (bash parsing) + filesystem search; git status injection; JIT nested AGENTS.md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Grep-based search via shell tools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Opt-in memory plugins only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ripgrep-backed search_files ; SQLite FTS5 (BM25 + trigram) over session history ; LSP for post-write diagnostics only; no repo map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Auto-downloaded ripgrep + fd binaries (latest release; system binaries preferred) behind grep / find tools; ancestor-walk context files; session search is a deterministic linear scan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Bundled ripgrep ( grep / glob , 100-result cap); ~25 auto-downloaded LSP servers feed diagnostics (no persistent index); lazy nested AGENTS.md attach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64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Default hybrid memory search (sqlite-vec KNN + FTS5/BM25; OpenAI embedder by default, local GGUF opt-in) for conversation memory only , never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4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N/A for code retrieval; standard filesystem APIs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向量檢索代碼 0/11：embeddings 僅見於對話記憶（OpenClaw 預設混合檢索、Hermes 選配插件），從不用於讀取原始碼。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確定性檢索：全部依賴 ripgrep、tree-sitter、glob 與自動發現的 Markdown 情境檔；Aider RepoMap 為唯一排序式 repo map。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原因：程式碼具確定性結構（路徑、LSP、tree-sitter）且分鐘級變動，預建 embeddings 幾乎必然過時 (§13.2)。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17 / 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核心實證震撼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缺席之二：全面拋棄向量代碼檢索 (No Vector Code RAG)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ripgrep、tree-sitter、glob 與 Markdown 情境檔取代向量檢索 (Observation 9)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1. 向量代碼檢索 (Code RAG) 的失效本質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[WHY VECTOR FAILS]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854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488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語法確定性：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程式碼帶有路徑、LSP、tree-sitter 解析與型別等確定性結構，語意相似度無法複製。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1775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索引必然過時：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程式碼分鐘級變動，預建 embeddings 幾乎「生來即過時」。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428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2062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收益不穩定：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CodeRAG-Bench 顯示增益隨任務差異大，文件查詢有效，其餘邊際或無。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52349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營運成本：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embedding 計算、向量庫維護與漂移管理，卻無邊際價值 (§13.2)。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0975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2. 一線 Harness 的確定性檢索武器庫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[DETERMINISTIC SUITE]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0975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0975" y="21854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1871" y="21488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ripgrep / find / glob：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每個開發環境已內建近乎最佳的檢索系統。</a:t>
            </a:r>
          </a:p>
        </p:txBody>
      </p:sp>
      <p:sp>
        <p:nvSpPr>
          <p:cNvPr id="23" name="Oval 22"/>
          <p:cNvSpPr/>
          <p:nvPr/>
        </p:nvSpPr>
        <p:spPr>
          <a:xfrm>
            <a:off x="6430975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871" y="31775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tree-sitter 符號擷取：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Aider RepoMap 以此建立依對話相關度排序的符號地圖。</a:t>
            </a:r>
          </a:p>
        </p:txBody>
      </p:sp>
      <p:sp>
        <p:nvSpPr>
          <p:cNvPr id="25" name="Oval 24"/>
          <p:cNvSpPr/>
          <p:nvPr/>
        </p:nvSpPr>
        <p:spPr>
          <a:xfrm>
            <a:off x="6430975" y="42428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1871" y="42062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JIT 檢索：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呼應 Anthropic 情境工程指引，按需以 grep / 檔案系統取得資訊。</a:t>
            </a:r>
          </a:p>
        </p:txBody>
      </p:sp>
      <p:sp>
        <p:nvSpPr>
          <p:cNvPr id="27" name="Oval 26"/>
          <p:cNvSpPr/>
          <p:nvPr/>
        </p:nvSpPr>
        <p:spPr>
          <a:xfrm>
            <a:off x="6430975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1871" y="52349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Markdown 情境檔：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自動發現 AGENTS.md / CLAUDE.md 等階層檔並按需注入。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18 / 42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記憶架構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【重繪論文圖四】四種記憶與上下文管理策略 (Figure 4)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4: Four Practical Context Management Strategies in Increasing Sophistication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5146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B6E58"/>
                </a:solidFill>
                <a:latin typeface="Microsoft JhengHei"/>
              </a:rPr>
              <a:t>策略 1: 線性歷史
(Linear History)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代表：Mini-SWE-Agent
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【架構原理】
無限制線性增長，完全仰賴現代超長 Context (1M)。適合短期評測，長程必衰退。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00200"/>
            <a:ext cx="25146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737360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9E5A38"/>
                </a:solidFill>
                <a:latin typeface="Microsoft JhengHei"/>
              </a:rPr>
              <a:t>策略 2: 遞迴二分摘要
(Recursive Halving)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代表：Aider (ChatSummary)
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【架構原理】
超過上限（預設 1024）時依 token 對半切：保留最近 50%，前半以（可選弱模型）摘要，最多遞迴 3 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25146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737360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B6E58"/>
                </a:solidFill>
                <a:latin typeface="Microsoft JhengHei"/>
              </a:rPr>
              <a:t>策略 3: 可插拔壓縮器
(Pluggable Condenser)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代表：OpenHands SDK
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【架構原理】
抽象 Condenser 基類（V1 收斂為 3 種）；壓縮本身為可重放事件，並兼作溢位錯誤復原。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00200"/>
            <a:ext cx="25146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1737360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9E5A38"/>
                </a:solidFill>
                <a:latin typeface="Microsoft JhengHei"/>
              </a:rPr>
              <a:t>策略 4: 閾值邊界壓縮
(Threshold Compaction)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代表：Claude Code, Codex, Gemini
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【架構原理】
Claude Code 於 13K tokens 緩衝內觸發：剝除圖片、LLM 摘要、插入邊界訊息，壓縮後還原最多 5 個檔案。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19 / 42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安全架構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【重繪論文圖五】Claude Code 與 Codex 安全防禦棧 (Figure 5)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5: Multi-Layered Permission Stacks and Sandboxing in Tier-1 Harnesses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3B6E58"/>
                </a:solidFill>
                <a:latin typeface="Microsoft JhengHei"/>
              </a:rPr>
              <a:t>Claude Code: 優雅的三層權限防禦體系 (Figure 5)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✦ Layer 1: 宣告式權限比對 (Declarative Matching)
   靜態 Glob 與前綴比對規則（如唯讀目錄、允許讀取白名單），未達模型即秒級放行或阻擋。
✦ Layer 2: LLM 分類器 (論文 §10.2：Codex Guardian 對應此中層)
   背景/fork 子代理僅開放 Layer 1~2（提示改判拒絕）；另有 Denial Tracking 累計拒絕後回退為提示。
✦ Layer 3: 互動式人機提示 (Interactive Prompting)
   高危動作（修改檔案、發送網路請求）向前台使用者彈出審查對話框；子代理遇阻則升級至父級協調器處理。
★ 核心設計：權限狀態每代理隔離，杜絕非同步並行時的跨代理權限污染。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9E5A38"/>
                </a:solidFill>
                <a:latin typeface="Microsoft JhengHei"/>
              </a:rPr>
              <a:t>Codex CLI: 四層防禦棧與原生沙盒隔離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✦ Layer 1: Starlark 執行策略 (Policy-as-Code)
   採用 Starlark 腳本撰寫 prefix_rule 與 network_rule；支援在策略檔內撰寫可執行測試案例。
✦ Layer 2: 生命週期 Hooks
   吸收 Claude Code 事件詞彙 (PreToolUse, PermissionRequest, PostToolUse)，支援外部阻斷攔截。
✦ Layer 3: Guardian 專屬審批模型
   在需要時呼叫獨立輕量 Guardian 模型審查潛在惡意行為。
✦ Layer 4: 原生 OS 容器沙盒 (Bubblewrap / Seatbelt)
   Linux 採用 Bubblewrap 命名空間微隔離 (--ro-bind, --unshare-net, --unshare-pid)，杜絕主機穿透。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20 / 42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拓撲架構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【重繪論文圖六】六大多智慧體協同拓撲全景 (Figure 6)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6: Multi-Agent Topology Archetypes Across Eleven Production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09928"/>
            <a:ext cx="315468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1. 單代理獨立迴圈 (Single-agent)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代表：Mini-SWE-Agent, Aider, Pi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無派工工具 (No Spawn Tool)，專注單一 Context 反覆迭代，排除多代理複雜性。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00200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709928"/>
            <a:ext cx="315468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E5A38"/>
                </a:solidFill>
                <a:latin typeface="Microsoft JhengHei"/>
              </a:rPr>
              <a:t>2. 循序委託 (Sequential)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代表：Mistral Vibe (task tool)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父代理啟動單一子代理，父級阻塞等待；子代理回傳摘要後銷毀，單次僅一個活躍。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00200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709928"/>
            <a:ext cx="315468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4782A"/>
                </a:solidFill>
                <a:latin typeface="Microsoft JhengHei"/>
              </a:rPr>
              <a:t>3. 並行子會話 (Parallel Sessions)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代表：OpenHands, OpenCode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父代理並行發起多個工作 Session，各自維護獨立歷史記錄，並行執行加速探索。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33088"/>
            <a:ext cx="315468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3E50"/>
                </a:solidFill>
                <a:latin typeface="Microsoft JhengHei"/>
              </a:rPr>
              <a:t>4. 階層式線程樹 (Thread Tree)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代表：Codex CLI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專屬執行緒，深度追蹤、fork mode 控制繼承、CSV map-reduce fan-out 並持久化父子拓撲。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4023360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4133088"/>
            <a:ext cx="315468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5. 遞迴組合 (Recursive)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代表：Claude Code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任何 Agent 皆可再遞迴生成子 Agent；跨 Fork 共享 System Prompt 快取，XML 摘要回傳。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4023360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33088"/>
            <a:ext cx="315468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E5A38"/>
                </a:solidFill>
                <a:latin typeface="Microsoft JhengHei"/>
              </a:rPr>
              <a:t>6. 註冊表與跨行程協議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代表：Gemini CLI, OpenClaw, Hermes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透過 Agent 註冊表依名稱調度，跨行程邊界透過 ACP / A2A / SQLite 協同通訊。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21 / 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論文圖形重繪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【原圖精緻重繪】Figure 6: 六大多智慧體協同拓撲架構圖論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6: The Six Multi-Agent Orchestration Patterns (arXiv:2609.00006v1)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6_matplot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37360"/>
            <a:ext cx="621792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1737360"/>
            <a:ext cx="39620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9E5A38"/>
                </a:solidFill>
                <a:latin typeface="Microsoft JhengHei"/>
              </a:rPr>
              <a:t>✦ 論文官方題註 (Caption)：
The six multi-agent orchestration patterns: red nodes spawn, blue nodes execute actions, dashed boxes represent process or session boundaries.
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✦ 原圖拓撲與工程細節研析：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E4856"/>
                </a:solidFill>
                <a:latin typeface="Microsoft JhengHei"/>
              </a:rPr>
              <a:t>• 拓撲節點定義：紅色為派工節點 (Spawn)，藍色為執行動作 (Action)，虛線框代表進程或會話邊界。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E4856"/>
                </a:solidFill>
                <a:latin typeface="Microsoft JhengHei"/>
              </a:rPr>
              <a:t>• 極簡陣營的自律：單代理與循序委託徹底避免非同步分支導致的狀態競爭與 Context 膨脹。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E4856"/>
                </a:solidFill>
                <a:latin typeface="Microsoft JhengHei"/>
              </a:rPr>
              <a:t>• 優化取向不同：Claude Code fork 共享 prompt cache（成本）；Codex 以 SpawnAgentForkMode (FullHistory / LastNTurns) 控制繼承。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22 / 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派工流模型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【重繪論文圖七】協調者與工兵四階段派工流 (Figure 7)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7: Lead Agent Orchestrating Whitelisted Workers through Structured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1188720"/>
          </a:xfrm>
          <a:prstGeom prst="roundRect">
            <a:avLst/>
          </a:prstGeom>
          <a:solidFill>
            <a:srgbClr val="EAF0EC"/>
          </a:solidFill>
          <a:ln w="19050">
            <a:solidFill>
              <a:srgbClr val="3B6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3E50"/>
                </a:solidFill>
                <a:latin typeface="Microsoft JhengHei"/>
              </a:rPr>
              <a:t>✦ 主協調代理 (Lead Coordinator) —— 掌握全域專案狀態與階層推進
</a:t>
            </a:r>
          </a:p>
          <a:p>
            <a:r>
              <a:rPr sz="1000">
                <a:solidFill>
                  <a:srgbClr val="3E4856"/>
                </a:solidFill>
                <a:latin typeface="Microsoft JhengHei"/>
              </a:rPr>
              <a:t>Coordinator Mode 啟用後，Lead 依 Research → Synthesis → Implementation → Verification 推進；Worker 限 16 工具白名單，以 &lt;task-notification&gt; XML 回報。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2514600" cy="3383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階段 1: Research (調研)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調研 Worker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FileRead, Grep, Glob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WebSearch, WebFetch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平行探索程式碼庫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以 XML 通知回報發現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2971800"/>
            <a:ext cx="2514600" cy="3383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3108960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E5A38"/>
                </a:solidFill>
                <a:latin typeface="Microsoft JhengHei"/>
              </a:rPr>
              <a:t>階段 2: Synthesis (合成)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主協調者決策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Lead 彙整 Worker 發現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合成後才委派下一階段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確定方案與修改範圍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保護主 Context 精簡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971800"/>
            <a:ext cx="2514600" cy="3383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3108960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4782A"/>
                </a:solidFill>
                <a:latin typeface="Microsoft JhengHei"/>
              </a:rPr>
              <a:t>階段 3: Implement (實作)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受限寫入工兵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FileEdit, FileWrite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Bash, PowerShell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Enter/ExitWorktree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限 16 工具白名單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2971800"/>
            <a:ext cx="2514600" cy="3383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3108960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3E50"/>
                </a:solidFill>
                <a:latin typeface="Microsoft JhengHei"/>
              </a:rPr>
              <a:t>階段 4: Verification (校驗)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測試與審查工兵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執行測試驗證結果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內建 VerificationAgent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Lead 判定是否完成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完成交付閉環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23 / 42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9 解析】九大多智慧體系統協同機制、通訊與工具過濾 (1/2)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9: Multi-Agent Orchestration Across Nine Multi-Agent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1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189"/>
                <a:gridCol w="1343983"/>
                <a:gridCol w="1343983"/>
                <a:gridCol w="1299184"/>
                <a:gridCol w="940788"/>
                <a:gridCol w="895989"/>
              </a:tblGrid>
              <a:tr h="7924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Mechanism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Isolation / inherit.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Communication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Depth / parallelism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Tool filtering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task + delegate tools → separate conversations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Fresh event log per child; metrics synced back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Summary return; conversation tree navigation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Nesting supported / concurrent threads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Markdown frontmatter (tools, skills, permission mode)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AgentTool + context fork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Forked context (6 dimensions), shared rendered prompt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Return + XML notifications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Recursive / true parallel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16-tool whitelist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spawn_agent v1/v2 (per-model)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Thread tree; SpawnAgentForkMode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Session input queue with mailbox phases; typed InterAgentCommunication records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Depth-tracked / parallel + CSV fan-out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Inherited + filtered; TOML roles (explorer, awaiter)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invoke_agent tool; registry defs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Isolated registries per instance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Symmetric local/remote session protocol; A2A RPC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Flat + remote / sequential in turn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Per-definition toolConfig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task tool → new AgentLoop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Fresh config + session dir; inherits permission store, scratchpad, hooks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Event forwarding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 hop / sequential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Subagent-tagged profiles only (explore)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行程內協同為主流：9 個多代理系統中 8 個以行程內原語或非標準協定（Pi JSONL、Hermes SQLite）協調子代理。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工具約束：Claude Code Worker 限 16 工具白名單；Hermes 子代理工具取父級交集並封鎖 6 項工具（禁遞迴、禁寫記憶）。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快取無縫繼承：父代理在 Fork 子代理時，原樣凍結父級已編譯的 System Prompt，確保子代理首輪命中快取。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24 / 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9 解析】九大多智慧體系統協同機制、通訊與工具過濾 (2/2)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9: Multi-Agent Orchestration Across Nine Multi-Agent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1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189"/>
                <a:gridCol w="1343983"/>
                <a:gridCol w="1343983"/>
                <a:gridCol w="1299184"/>
                <a:gridCol w="940788"/>
                <a:gridCol w="895989"/>
              </a:tblGrid>
              <a:tr h="95097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Mechanism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Isolation / inherit.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Communication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Depth / parallelism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Tool filtering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delegate_task in-process forks; Kanban swarm subprocesses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Fresh context, own task id; provider/creds inherited, no history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Spawn-time goal; streamed events; summary return; SQLite blackboard (swarm)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 by default, orchestrator role unlocks nesting / 3 concurrent (pool)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Intersection with parent + 6-tool blocklist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 (ext.)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Extension spawns pi --mode json -p OS processes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Hard process isolation; fresh context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Child JSONL stdout parsed for progress/cost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Unbounded (no counter) / pool of 4, max 8; sequential chain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Child --tools flag from agent frontmatter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task tool → child Session (same loop)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parentID sessions; child inherits parent’s deny + external-directory rules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&lt;task_result&gt; XML; background results as synthetic user messages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Recursion off by default, opt-in unbounded / parallel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Permission rulesets (deny "*" hides tool)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session spawn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Child processes; fresh session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delta events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Recursive / parallel (RPC)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Session-scoped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行程內協同為主流：9 個多代理系統中 8 個以行程內原語或非標準協定（Pi JSONL、Hermes SQLite）協調子代理。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工具約束：Claude Code Worker 限 16 工具白名單；Hermes 子代理工具取父級交集並封鎖 6 項工具（禁遞迴、禁寫記憶）。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快取無縫繼承：父代理在 Fork 子代理時，原樣凍結父級已編譯的 System Prompt，確保子代理首輪命中快取。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25 / 42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14 解析】主從代理通訊機制與協議部署定位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14: Main-Agent to Sub-Agent Communication and Protocol 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3474720"/>
                <a:gridCol w="1493215"/>
              </a:tblGrid>
              <a:tr h="269748"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Main ↔ sub-agent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Protocol roles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Sub-agents cross-proc.?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AgentTool function call + context fork + XML notifications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at agent layer (ACP served by a separate adapter binary)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Session input queue with mailbox phases; typed records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at agent layer ( codex-acp adapter external)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invoke_agent behind local/remote session protocol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A2A server (mesh role)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 (internal)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task tool, in-process asyncio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server (editor role; rewind over protocol)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Task/delegate tools, concurrent threads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client/host : rival harnesses as step() backends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 (own sub-agents)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In-process thread forks; swarm via SQLite blackboard subprocesses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server (editors) and client (Copilot CLI as model backend)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Swarm: yes (DB, not protocol)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Extension spawns OS processes, JSONL over stdio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Proprietary JSONL RPC ( ~30 commands) for embedding; ACP/A2A/MCP absent by design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 (ext.; JSONL, not ACP)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task tool, in-process child sessions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server (agent side, stdio ndjson)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session spawn over RPC (child process)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Same ACP inward and outward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26280"/>
            <a:ext cx="10728655" cy="187451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2895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B6E58"/>
                </a:solidFill>
                <a:latin typeface="Microsoft JhengHei"/>
              </a:rPr>
              <a:t>✦ 研析見解與架構意涵解讀 (Architectural Interpretation)：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內部通訊維持行程內：8/9 的多代理系統內部協同堅持使用 In-process Primitives，避免跨行程 RPC 開銷。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ACP 已在 6/11 系統出貨並承擔三角色：編輯器↔Agent、Harness 託管（OpenHands 託管 Claude Code/Codex/Gemini）、A2A 跨廠網格（僅 Gemini）。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實務建議 (Rec 13)：建 ACP Server 一次取得 IDE、宿主與 Meta-Harness 三類受眾；子代理維持行程內。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26 / 42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10 解析】技能體系 (Skills) 支援、發現路徑與加載規範 (1/2)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10: Skills Support Across Eleven Systems (Spec Conformance)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411480"/>
                <a:gridCol w="2057400"/>
                <a:gridCol w="1600200"/>
                <a:gridCol w="1737360"/>
              </a:tblGrid>
              <a:tr h="7924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Skills?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Discovery paths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Invocation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Spec / loading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.claude/skills/ , ~/.claude/skills/ , plus dynamic discovery on file edits gated by paths frontmatter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SkillTool (deferred); MCP prompts dedup’d via uniqBy on name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Custom (path-gated extension); hybrid eager + on-demand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core-skills/ + skills/ roots; plugin-provided skill roots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skills/list app-server RPC + TUI $ -mention; implicit-invocation detection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Custom Rust; metadata eager under a context-scaled token budget, body injected on $-mention or detected invocation; skills declare MCP/env dependencies that Codex auto-installs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~/.gemini/skills/ , .gemini/skills/ , .agents/skills/ , plus built-ins ( skill-creator , antigravity-support ); precedence workspace &gt; &gt; user &gt; &gt; built-in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ActivateSkill tool wraps skill in XML with available_resources tree; permission-confirmation UI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agentskills.io-aligned with isBuiltin extension; eager startup walk; path-traversal-hardened installs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.agents/skills/ , .vibe/skills/ , ~/.vibe/skills/ , ~/.agents/skills/ , user skill_paths ; trust-gated project discovery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skill tool (deferred); user /skill-name invocations materialized as synthetic tool calls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Full agentskills.io compliance; remote registry client (versioned catalog); builtin self-awareness skill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{workdir,git-root}/.agents/skills/ , .openhands/skills/ (+legacy microagents); user equivalents + managed installs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Metadata in &lt;available_skills&gt; ; body on demand via builtin invoke_skill tool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agentskills.io flag; progressive disclosure ; PathTrigger rules on file-touch; server CRUD/sync/marketplace API; ingests AGENTS.md/.cursorrules as scoped rules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SKILL.md 成事實標準：9/11 支援（僅 Aider、Mini-SWE 缺席）；6 家接受 `.agents/skills/`，OpenCode 還讀取 `~/.claude/skills`。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YAML Frontmatter 元資料治理：透過 name、description、paths 與 requires 定義前置觸發條件。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遞延載入：9 家中 8 家僅預載 metadata、按需載入全文；OpenClaw 為唯一 eager 載入者，改以資格篩選補償。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27 / 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10 解析】技能體系 (Skills) 支援、發現路徑與加載規範 (2/2)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10: Skills Support Across Eleven Systems (Spec Conformance)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411480"/>
                <a:gridCol w="2057400"/>
                <a:gridCol w="1600200"/>
                <a:gridCol w="1737360"/>
              </a:tblGrid>
              <a:tr h="679268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Skills?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Discovery paths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Invocation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Spec / loading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~/.hermes/skills/ (seeded from 72 bundled; 102 more official skills installable via the Skills Hub) + read-only external_dirs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Three-tier progressive disclosure: index in prompt → skill_view → linked assets; skills double as slash commands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agentskills.io-compatible; trust-tiered Skills Hub (builtin/trusted/community) with pre-install scanning and quarantine; self-authoring via skill_manage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~/.pi/agent/skills/ , ~/.agents/skills/ , .pi/skills/ , .agents/skills/ (cwd to git root), packages, --skill ; project paths trust-gated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 dedicated tool: &lt;available_skills&gt; XML index; body loaded via the ordinary read tool; /skill:name expansion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agentskills.io, deliberately lenient (warns, still loads); disable-model-invocation gating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{skill,skills}/**/SKILL.md in config dirs, ~/.claude/skills , .claude/ , .agents/ walk-up, extra paths, remote URL registries (versioned index.json cache)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Native skill tool (deferred: catalog lists name+description only)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agentskills.io field set; per-skill permission gating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~/.openclaw/skills/ , .agents/skills/ , plugin-provided, skills.load.extraDirs config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Injected as XML in system prompt; /skills slash command lists eligible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agentskills.io-compatible; gating via metadata.openclaw.requires ( bins , env , OS); governed installs (Skill Workshop approval flow, provenance-verified ClawHub)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SKILL.md 成事實標準：9/11 支援（僅 Aider、Mini-SWE 缺席）；6 家接受 `.agents/skills/`，OpenCode 還讀取 `~/.claude/skills`。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YAML Frontmatter 元資料治理：透過 name、description、paths 與 requires 定義前置觸發條件。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遞延載入：9 家中 8 家僅預載 metadata、按需載入全文；OpenClaw 為唯一 eager 載入者，改以資格篩選補償。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28 / 42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15 解析】Harness 與 Framework 的歷史性雙向合流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15: The Harness-Framework Merger: Named, Versioned, Installable Artifacts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5516575"/>
              </a:tblGrid>
              <a:tr h="337185"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Direction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Artifact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What it is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 → framework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Agent SDK [ 38 ]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“Claude Code as a library”: the same tools, loop, context management, hooks, and subagents, importable in Python/TypeScript; plus a hosted Managed Agents API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openai-codex SDK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pip install openai-codex : start Codex threads, run turns, stream progress, control workspace access; Python/TypeScript, shipped in the Codex repo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agent SDK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The V1 restructuring is an SDK-ization: the agent became openhands-sdk / openhands-tools packages plus an agent server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 packages / OpenCode SDK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pi-agent-core importable + RPC mode; generated @opencode-ai/sdk over the embedded server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Framework → harness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Deep Agents [ 37 ]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LangChain’s harness on LangGraph: todo planning, virtual filesystem with permissions, subagents, SKILL.md skills with progressive disclosure, AGENTS.md memory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Pydantic AI Harness [ 39 ]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“The batteries” for pydantic-ai: composable capabilities (filesystem, code mode in a Rust-sandboxed interpreter) that turn a framework agent into a coding agent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Strands harness-sdk [ 40 ]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The merger in a repository name: a framework organization shipping “the agent harness itself” as an SDK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26280"/>
            <a:ext cx="10728655" cy="187451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2895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B6E58"/>
                </a:solidFill>
                <a:latin typeface="Microsoft JhengHei"/>
              </a:rPr>
              <a:t>✦ 研析見解與架構意涵解讀 (Architectural Interpretation)：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雙向奔赴趨勢：Harness 廠商推出 SDK (如 Claude Agent SDK、openai-codex、openhands-sdk)；框架廠商推出專屬 Harness (如 Deep Agents)。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框架定義被重塑：未來的 Agent Framework 不再是空洞的鏈式封裝，而是自帶 Loop、Tools、Sandbox 的完整 Harness 軟體庫。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Rec 15 推論：要開箱即用的起點，Harness SDK 就是新的框架層——問題從「用哪個框架」變成「你已在跑哪個 Harness」。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29 / 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核心實證震撼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缺席之一：100% 拋棄通用代理框架 (No General Frameworks)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11 款生產系統零採用 LangChain / LangGraph / AutoGen / CrewAI——經三倍語料擴充與三個月複查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1. 實證調查結果 (Empirical Finding)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[SHOCKING FACT]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854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488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零採用：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逐一檢查依賴清單並 grep import，約 400 萬行程式碼中無 LangChain、LangGraph、AutoGen、CrewAI 等。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1775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連原廠都跳過自家框架：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Google Gemini CLI 甚至完全不使用 Google 官方的 Genkit 或 ADK 框架。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428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2062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全員手刻迴圈：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asyncio、同步 Python、Promise/async-iterator、Tokio，各以宿主語言原語打造。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52349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邊界案例：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Aider /help 可選裝 llama-index 做文件 RAG；OpenCode 以 Vercel AI SDK 為底層管線（非編排框架）。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0975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2. 論文歸納的原因 (Why It Matters)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[ARCHITECTURAL LESSON]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0975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0975" y="21854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1871" y="21488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抽象遮蔽：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框架多層抽象遮蔽底層 prompt 與回應，難以除錯（Building Effective Agents 警告）。</a:t>
            </a:r>
          </a:p>
        </p:txBody>
      </p:sp>
      <p:sp>
        <p:nvSpPr>
          <p:cNvPr id="23" name="Oval 22"/>
          <p:cNvSpPr/>
          <p:nvPr/>
        </p:nvSpPr>
        <p:spPr>
          <a:xfrm>
            <a:off x="6430975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871" y="31775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靜默 Prompt 損壞：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Agent 直接改動真實程式碼，隱性 prompt 變形的代價過高。</a:t>
            </a:r>
          </a:p>
        </p:txBody>
      </p:sp>
      <p:sp>
        <p:nvSpPr>
          <p:cNvPr id="25" name="Oval 24"/>
          <p:cNvSpPr/>
          <p:nvPr/>
        </p:nvSpPr>
        <p:spPr>
          <a:xfrm>
            <a:off x="6430975" y="42428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1871" y="42062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快取不透明：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不透明的快取行為讓快取經濟性難以掌控。</a:t>
            </a:r>
          </a:p>
        </p:txBody>
      </p:sp>
      <p:sp>
        <p:nvSpPr>
          <p:cNvPr id="27" name="Oval 26"/>
          <p:cNvSpPr/>
          <p:nvPr/>
        </p:nvSpPr>
        <p:spPr>
          <a:xfrm>
            <a:off x="6430975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1871" y="52349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Schema 版本不相容：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生產 Harness 複雜度預算不同，可除錯性與 prompt 透明度勝過框架重用。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30 / 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11 解析】29 項經典架構模式編目：春季 17 項經典模式 (1/2)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11: Catalog of 29 Recurring Architectural Patterns (Part 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1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39"/>
                <a:gridCol w="2514599"/>
                <a:gridCol w="2926079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Pattern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Description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Used By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Event Sourcing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Actions/observations appended to a persistent event log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, Pi (session log-as-tree), OpenCode (log-as-queue; v2 tables)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Policy-as-Code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Safety rules as executable configurations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Codex (Starlark, with inline validated examples), Claude Code (hooks), Gemini CLI (TOML modes), Hermes (config-as-policy + hardline floor), OpenCode (rulesets), Pi (extension hooks)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Recursive Composition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 spawn sub-agents with forked/linked context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, Codex , OpenHands , OpenClaw ; config-gated in Hermes , opt-in in OpenCode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Polymorphic Edits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Model-aware edit format/toolset selection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Aider (prompt factory), OpenCode (tool registry)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Deferred Loading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Tools/skills hidden from prompt, discovered on demand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, Codex (BM25 tool_search ), Hermes (BM25 bridge tools), + 8 skills implementations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Template Method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Base class defines flow; subclasses override parse/format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Aider (Coder), OpenHands (Agent)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Protocol Interfaces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Structural subtyping / interface seams for pluggable components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, Pi (per-tool Operations remoting seam)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 Summarization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LLM compresses conversation history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9 systems (all but Mini-SWE-Agent , Aider -partial)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Stuck Detection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Automated detection of repetitive agent behavior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(5 scenarios), Gemini CLI (hybrid hash+LLM), Hermes (warn-first signatures), OpenCode (doom-loop ask), Mini-SWE-Agent (format-error cap)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模式收斂：Event Sourcing、Policy-as-Code、Prompt Caching、Polymorphic Edits、Context Forking 等被跨系統採納。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從經驗走向模式：Reflection Loop、LLM Summarization、Middleware Pipeline、JIT Repo Context 皆有多系統實作。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選型檢核（簡報者觀點）：這 17 項 4 月版模式可作為評估自研或採購 Agent Runtime 的檢核表。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31 / 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11 解析】29 項經典架構模式編目：春季 17 項經典模式 (2/2)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11: Catalog of 29 Recurring Architectural Patterns (Part 1/2, 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1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39"/>
                <a:gridCol w="2514599"/>
                <a:gridCol w="2926079"/>
              </a:tblGrid>
              <a:tr h="5283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Pattern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Description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Used By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Reflection Loop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Inner self-correction cycle with lint/test feedback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Aider ; cousins: Gemini CLI (edit fixer), OpenCode (LSP feedback)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Prompt Caching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Cache-boundary prompt structure or session-key reuse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, Codex , OpenHands (cache tiers), Hermes (prefix normalization), Pi (breakpoints+TTL), OpenCode (dialect fanout)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Context Forking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Cloning parent state for sub-agent isolation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, Codex , Hermes (cache-sharing background fork)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Middleware Pipeline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Composable turn-level policies orthogonal to loop body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JIT Repo Context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Hierarchical Markdown context files auto-discovered + on-demand injection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, Codex , Gemini CLI , Mistral Vibe , Hermes , Pi , OpenCode , 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Skills (capability bundles)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SKILL.md directories with YAML frontmatter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9 systems (all but Aider , Mini-SWE-Agent 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Conditional Activation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Skills/tools gated by environment or file paths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( paths ), OpenHands ( PathTrigger ), OpenClaw ( requires 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Turn-Level Checkpoint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Filesystem snapshots with rewind and file restoration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Mistral Vibe (per user message), OpenCode (shadow-git, per step), Hermes (shadow-git store), Pi (conversation-only)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模式收斂：Event Sourcing、Policy-as-Code、Prompt Caching、Polymorphic Edits、Context Forking 等被跨系統採納。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從經驗走向模式：Reflection Loop、LLM Summarization、Middleware Pipeline、JIT Repo Context 皆有多系統實作。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選型檢核（簡報者觀點）：這 17 項 4 月版模式可作為評估自研或採購 Agent Runtime 的檢核表。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32 / 42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12 解析】29 項經典架構模式編目 (2/2：夏季新增 12 項模式)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12: Catalog of 29 Recurring Architectural Patterns (Part 2/2: Summer Additions)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1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/>
                <a:gridCol w="3291839"/>
                <a:gridCol w="1920239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Pattern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Description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Used By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Agent-Maintained Memory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Background sub-agent extracts and consolidates cross-session memory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Codex (two-phase, git-baselined); human-gated variant in Gemini CLI (patch inbox)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Outer Verification Loop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Scaffold-level judge/guard validating completion, outside the turn loop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( /goal judge + critics), Hermes (verify-on-stop)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Self-Improving Skill Loop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 authors, patches, and curates its own capability bundles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Hermes ; partial: Gemini CLI (skill-extraction inbox)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Lineage Compaction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Compaction as session rotation with searchable ancestry chain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Session-Tree Version Control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Append-only entry tree with movable head; fork/rewind/branch summaries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 ; OpenHands (conversation tree)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Minimal-Core / Extension-Host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Safety, sandbox, sub-agents, plan mode relocated to a runtime event bus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Client/Server Harness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Embedded API server; every UI (TUI, web, IDE, CI) is a client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OpenCode ; OpenHands (agent-server)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Model-Family Prompt Matrix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Distinct base prompts dispatched per model family/generation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Codex (server catalog), OpenCode (9 prompts), Hermes (gated blocks)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Cache-Dialect Fanout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All providers’ cache-control dialects emitted simultaneously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Syntax-Aware Command Permissioning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Commands parsed (tree-sitter) and grants scoped by argument arity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OpenCode ; Mistral Vibe (parse-validation), Hermes (deobfuscated matching)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Untrusted-Content Delimiting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Tool/web results wrapped in taint markers with delimiter defanging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Hermes , OpenHands ( &lt;UNTRUSTED_CONTENT&gt; 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 Mimicry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Client presents a first-party harness’s identity (headers, prompt opening, tool-name casing) to ride its subscription OAuth backend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 (Claude Code identity on Anthropic OAuth; ChatGPT-plan Codex backend)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新增模式：Agent-Maintained Memory、Lineage Compaction、Session-Tree Version Control、Cache-Dialect Fanout、Harness Mimicry 等。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外部驗證環：OpenHands /goal 以 LLM judge 審查每次執行；Hermes verify-on-stop 否決未經驗證即結束的回合。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安全新模式：Syntax-Aware Command Permissioning (OpenCode)、Untrusted-Content Delimiting（不可信內容標記）。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33 / 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18 解析】兩大商業旗艦對決：Claude Code vs. OpenAI Codex (1/2)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18: Head-to-Head Pipeline Comparison: Claude Code vs. Codex CLI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880360"/>
                <a:gridCol w="2926080"/>
              </a:tblGrid>
              <a:tr h="95097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Stage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Prompt assembly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12–15 named sections. Static prefix (identity, rules, tools) cached via Blake2b hash; dynamic suffix (env, memory, MCP) recomputed per-turn. SYSTEM_PROMPT_DYNAMIC_BOUNDARY separates the two.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Per-model prompts as server-delivered catalog data ( models.json base_instructions , remote-refreshed with bundled fallback); personality-templated. AGENTS.md injected via root-to-cwd concatenation (nested content appended last).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Tool exposure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43 tools, but only a subset loaded initially. Deferred tools discovered on-demand via ToolSearchTool (keyword search + select: syntax). Reduces prompt tokens by ~40%.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25–30 built-ins; schemas converted to OpenAI Function format via create_tools_json_for_responses_api() . Deferred loading now mirrored: defer_loading flags (MCP tools by default) + BM25 tool_search 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API protocol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Anthropic Messages API. SSE streaming with content_block_{start,delta,stop} events. Extended thinking via budget_tokens 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OpenAI Responses API. WebSocket primary, SSE fallback. Connection prewarm ( generate=false ). Turn state via x-codex-turn-state header. Reasoning effort (minimal–xhigh, plus max/ultra; ultra adds automatic delegation).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Tool dispatch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partitionToolCalls() : single-pass reduce partitions by isConcurrencySafe() . Consecutive safe tools batched; unsafe tools solo. Max 10 concurrent via semaphore.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FuturesOrdered through a dedicated ToolCallRuntime ; per-tool supports_parallel flag (default false) gates an execution lock—concurrency-unsafe tools run exclusively.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哲學差異：Claude Code (TS) 為組合-規範式：結構化階段、工具白名單、遞迴組合與快取經濟；Codex (Rust) 原為沙盒-湧現式：安全由 OS 層保證。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差距收斂：Codex 逐字採用 Claude Code 的 Hook 事件名、加入 Plan 預設與 Guardian 分類器，並可匯入 Claude Code 會話與設定。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剩餘差異在於安全於何處保證：Codex 靠 OS 強制隔離，Claude Code 靠分層審查；兩者在真實基準上皆表現強勁。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34 / 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18 解析】兩大商業旗艦對決：Claude Code vs. OpenAI Codex (2/2)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18: Head-to-Head Pipeline Comparison: Claude Code vs. Codex CLI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880360"/>
                <a:gridCol w="2926080"/>
              </a:tblGrid>
              <a:tr h="11887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Stage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Permission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3 layers: (1) PreToolUse hooks (static pattern match), (2) LLM risk classifier, (3) interactive dialog. Sub-agents skip layer 3.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4 layers: (1) ExecPolicy Starlark rules, (2) lifecycle hooks ( Claude Code -compatible vocabulary), (3) Guardian LLM approval reviewer (fail-closed), (4) OS-level sandbox enforcement.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Execution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Host execution with an opt-in OS sandbox (Anthropic sandbox-runtime : Bubblewrap/Seatbelt, network restrictions, dangerouslyDisableSandbox escape hatch); git worktrees for branch isolation.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Sandboxed execution. Vendored Bubblewrap (Linux; Landlock legacy fallback), Seatbelt (macOS), restricted tokens (Windows).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Compaction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Triggered when remaining context drops below AUTOCOMPACT_BUFFER_TOKENS (13 K), with an env-overridable percent threshold. Image stripping, message grouping by API round, LLM summarization, SystemCompactBoundaryMessage . Post-cleanup: restore 5 files (50 K token budget).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model_auto_compact_token_limit configurable. Local or cloud compaction via /responses/compact ; rollout token budgets with turn aborts.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哲學差異：Claude Code (TS) 為組合-規範式：結構化階段、工具白名單、遞迴組合與快取經濟；Codex (Rust) 原為沙盒-湧現式：安全由 OS 層保證。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差距收斂：Codex 逐字採用 Claude Code 的 Hook 事件名、加入 Plan 預設與 Guardian 分類器，並可匯入 Claude Code 會話與設定。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剩餘差異在於安全於何處保證：Codex 靠 OS 強制隔離，Claude Code 靠分層審查；兩者在真實基準上皆表現強勁。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35 / 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產業趨勢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平台化轉型論題：Coding Harness 從工具走向平台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2026 上半年完成 Tool → Platform 轉向：SDK、市集、治理層與 Meta-Harness 同步出現 (Observation 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1. 平台化轉型三大特徵 (The Platform Turn)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[PLATFORM ERA]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854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488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Harness 即框架：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迴圈、工具、記憶、設定、擴展齊備；開發者在其「內部」工作而非 import 它。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1775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跨陣營組件規範趨同：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Codex 採納 Claude Code 的 Hook 命名；OpenHands 原生支援 Claude Code 外掛。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428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2062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政策由 Prompt 遷移至配置：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Codex 以 feature flag 取代禁 commit 規則；Vibe 改用七層優先序契約。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52349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平台經濟：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Skills 9/11 領先 MCP 8/11；插件市集、跨廠會話匯入器與 MDM 治理層出現。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0975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2. Databricks Omnigent：首個 Meta-Harness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[META-HARNESS]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0975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0975" y="21854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1871" y="21488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Meta-Harness 崛起：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押注 Harness 已成商品化元件，持久價值在上一層。</a:t>
            </a:r>
          </a:p>
        </p:txBody>
      </p:sp>
      <p:sp>
        <p:nvSpPr>
          <p:cNvPr id="23" name="Oval 22"/>
          <p:cNvSpPr/>
          <p:nvPr/>
        </p:nvSpPr>
        <p:spPr>
          <a:xfrm>
            <a:off x="6430975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871" y="31775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統一 API 協調 11 款廠商 Harness：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23 個 adapter、五種整合模式，可互為子代理（Claude 主導、Cursor 審查）。</a:t>
            </a:r>
          </a:p>
        </p:txBody>
      </p:sp>
      <p:sp>
        <p:nvSpPr>
          <p:cNvPr id="25" name="Oval 24"/>
          <p:cNvSpPr/>
          <p:nvPr/>
        </p:nvSpPr>
        <p:spPr>
          <a:xfrm>
            <a:off x="6430975" y="42428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1871" y="42062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跨 Harness 政策：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三層政策面 (session→agent→admin)，透過各廠 Hooks 強制執行、fail-closed。</a:t>
            </a:r>
          </a:p>
        </p:txBody>
      </p:sp>
      <p:sp>
        <p:nvSpPr>
          <p:cNvPr id="27" name="Oval 26"/>
          <p:cNvSpPr/>
          <p:nvPr/>
        </p:nvSpPr>
        <p:spPr>
          <a:xfrm>
            <a:off x="6430975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1871" y="52349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統一沙盒與出站代理（bubblewrap+seccomp / Seatbelt / Job Objects + L7 egress proxy）；以 conformance bench 測試 adapter。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36 / 42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實踐軍規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實踐者軍規 (上)：第 1 至第 9 條架構設計實踐指南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論文 Section 16 精煉：涵蓋迴圈、模型、工具、編輯、記憶與安全防護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1. 迴圈與模型整合 (Rec 1-3)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[LOOP &amp; MODEL]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306324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854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488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1: 始於線性迴圈，待出現多個獨立輪次策略再演進為中間件管線。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5570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5204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2: 自有基礎模型者緊耦合原廠並提供通用 Fallback；多模型者集中維護 per-model metadata。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9286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8920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3: 始於單一 Bash 工具，僅在觀察到具體失敗模式時再增設微工具。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7099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2. 工具、編輯與記憶 (Rec 4-6)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[TOOLS &amp; MEMORY]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2856" y="2075688"/>
            <a:ext cx="306324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62856" y="21854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21488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4: 工具超過約 15 個時導入遞延載入（Claude Code 初始 prompt 約減 40%）。</a:t>
            </a:r>
          </a:p>
        </p:txBody>
      </p:sp>
      <p:sp>
        <p:nvSpPr>
          <p:cNvPr id="21" name="Oval 20"/>
          <p:cNvSpPr/>
          <p:nvPr/>
        </p:nvSpPr>
        <p:spPr>
          <a:xfrm>
            <a:off x="4562856" y="35570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35204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Rec 5: 根據模型等級匹配編輯合約：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頂級模型採精確子字串替換，中弱模型採模糊寬容瀑布。</a:t>
            </a:r>
          </a:p>
        </p:txBody>
      </p:sp>
      <p:sp>
        <p:nvSpPr>
          <p:cNvPr id="23" name="Oval 22"/>
          <p:cNvSpPr/>
          <p:nvPr/>
        </p:nvSpPr>
        <p:spPr>
          <a:xfrm>
            <a:off x="4562856" y="49286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48920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6: 自動探索專案層級 Markdown 規格文件 (AGENTS.md, CLAUDE.md) 並相容鄰居命名。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17099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3. 壓縮、檢索與安全 (Rec 7-9)</a:t>
            </a:r>
            <a:r>
              <a:rPr sz="950" b="1">
                <a:solidFill>
                  <a:srgbClr val="B4782A"/>
                </a:solidFill>
                <a:latin typeface="Microsoft JhengHei"/>
              </a:rPr>
              <a:t>  [SECURITY &amp; RAG]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11312" y="2075688"/>
            <a:ext cx="306324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11312" y="2185416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21488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7: 實作閾值邊界壓縮，保留最近完整推導尾端，增量合併摘要並相容溢位復原。</a:t>
            </a:r>
          </a:p>
        </p:txBody>
      </p:sp>
      <p:sp>
        <p:nvSpPr>
          <p:cNvPr id="30" name="Oval 29"/>
          <p:cNvSpPr/>
          <p:nvPr/>
        </p:nvSpPr>
        <p:spPr>
          <a:xfrm>
            <a:off x="8211312" y="35570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35204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8: 嚴禁對程式碼建構向量 RAG，全面改採 ripgrep、tree-sitter 與目錄走訪。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4928616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48920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9: 開發者半信任場景實作三模式審批 (PLAN / DEFAULT / YOLO) 與權限作用域。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37 / 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實踐軍規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實踐者軍規 (下)：第 10 至第 18 條架構指南與反模式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論文 Section 16 精煉：涵蓋沙盒、多代理、擴展標準與四大嚴格反模式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4. 沙盒與多代理 (Rec 10-13)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[SANDBOX &amp; MULTI-AGENT]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306324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854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488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10: 企業自動化場景實作作業系統級沙盒 (Bubblewrap/Seatbelt) 與 Policy-as-Code。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1775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11: 安全規則務必採用資料結構或專用策略檔撰寫，嚴禁散落於提示詞散文。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428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2062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12: 保持單代理架構，直到平行 Context 隔離帶來的收益明確大於序列搜尋。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52349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13: 釋出 ACP 伺服器以相容 IDE 與外部元協調器，主從內部協同保持行程內。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17099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5. 擴展標準 (Rec 14)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[SKILLS &amp; MCP]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62856" y="2075688"/>
            <a:ext cx="306324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62856" y="21854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21488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Rec 14 優先級：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以 SKILL.md 封裝能力範本與領域 SOP，以 MCP 整合外部程序與 API。</a:t>
            </a:r>
          </a:p>
        </p:txBody>
      </p:sp>
      <p:sp>
        <p:nvSpPr>
          <p:cNvPr id="23" name="Oval 22"/>
          <p:cNvSpPr/>
          <p:nvPr/>
        </p:nvSpPr>
        <p:spPr>
          <a:xfrm>
            <a:off x="4562856" y="35570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35204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Pi 示範可辯護的極簡立場：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只用 Skills + 附 README 的 CLI 工具，不採 MCP。</a:t>
            </a:r>
          </a:p>
        </p:txBody>
      </p:sp>
      <p:sp>
        <p:nvSpPr>
          <p:cNvPr id="25" name="Oval 24"/>
          <p:cNvSpPr/>
          <p:nvPr/>
        </p:nvSpPr>
        <p:spPr>
          <a:xfrm>
            <a:off x="4562856" y="49286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48920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第三方技能套件治理：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將第三方 Skill 視為依賴套件，建立信任階層、掃描與隔離機制。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17099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6. 四大嚴格反模式 (Rec 15-18)</a:t>
            </a:r>
            <a:r>
              <a:rPr sz="950" b="1">
                <a:solidFill>
                  <a:srgbClr val="B4782A"/>
                </a:solidFill>
                <a:latin typeface="Microsoft JhengHei"/>
              </a:rPr>
              <a:t>  [ANTI-PATTERNS]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11312" y="2075688"/>
            <a:ext cx="306324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11312" y="2185416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21488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Rec 15 禁令：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嚴禁用 LangChain/AutoGen 等通用框架做 Runtime，改採原生迴圈或 Harness SDK。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31775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Rec 16 禁令：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勿為程式碼建向量檢索層；若確需，先以保留任務集證明優於 ripgrep+tree-sitter。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4242816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42062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Rec 17 禁令：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嚴禁將上游 SaaS API 1:1 包裝為肥大工具，應予以精煉整併。</a:t>
            </a:r>
          </a:p>
        </p:txBody>
      </p:sp>
      <p:sp>
        <p:nvSpPr>
          <p:cNvPr id="36" name="Oval 35"/>
          <p:cNvSpPr/>
          <p:nvPr/>
        </p:nvSpPr>
        <p:spPr>
          <a:xfrm>
            <a:off x="8211312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52349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Rec 18 警戒：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勿過度設計卡死偵測，但務必配置十幾行代碼的廉價計數上限保險。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38 / 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名詞對照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附錄一：關鍵術語解析與英文縮寫對照表 (Glossary)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精選論文中跨 11 款系統頻繁出現之核心架構術語與標準定義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5973775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術語 / 縮寫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英文全稱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技術意涵與在 Harness 中的核心角色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Execution Harness / Runtime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包覆底層模型的主動執行環境，負責事件循環、工具排程、沙盒隔離與生命週期管理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MCP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 Context Protocol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連接 LLM 與外部工具、資料來源的標準協議；本研究 8/11 系統採用（Pi 明確拒絕）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SKILL.md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 Skill Specification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agentskills.io 技能封裝規範 (Markdown+YAML)；9/11 採用，9 家中 8 家遞延載入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ACP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 Client Protocol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Zed 系編輯器導向 JSON-RPC 協議；6/11 系統出貨，並兼作 Harness 託管介面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Stuck Detector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Infinite Loop / Oscillation Detector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死循環與震盪偵測器，監控同指令反覆失敗或工具呼叫空轉，並主動介入中斷修復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Compaction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Threshold Compaction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逼近上下文上限時以 LLM 摘要壓縮歷史並保留近期尾端；7/11 系統採用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HITL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Human-In-The-Loop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人機協同審批機制，針對刪檔、代碼發布等高危關鍵行為強制暫停並要求人工簽核授權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Abstract Syntax Tree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抽象語法樹；tree-sitter 符號擷取用於確定性代碼檢索（11 系統皆不用向量檢索代碼）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Meta-Harness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Meta-Orchestration Runtime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如 Databricks Omnigent，在多款原廠 Harness 之上建立的跨廠商統一治理、評測與調度層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39 / 42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文獻溯源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附錄二：文獻出處、論文版本與研究方法論 (References)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詳細標記學術論文官方出處、審查系統版本 Commit 與分析方法論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6796735"/>
              </a:tblGrid>
              <a:tr h="4800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類別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項目名稱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文獻出處 / 系統版本 Commit / 官方標註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學術母篇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arXiv:2609.00006v1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Harness Engineering: Anatomy, Architecture, and Evolution of Coding Agents — A Source-Code Study of Eleven Systems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作者 / 機構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（待查證）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本簡報所據論文全文擷取未載明作者與機構，請以 arXiv 摘要頁為準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原廠旗艦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&amp; Codex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(TS，2026/3 流出原始碼快照) · Codex CLI rust-v0.144.1 (vendored Bubblewrap)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開源代表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&amp; 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V1 SDK v1.34.0 (事件溯源) · Aider v0.86.3.dev (13 種編輯格式，維護模式)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極簡代表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&amp; 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v2.4.5 (~100 行) · Pi v0.80.6 (M. Zechner，極簡核心 + 擴展)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元框架對比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Databricks Omnigent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Omnigent v0.4.0：Meta-Harness，於統一 API 後協調 11 款廠商 Harness (Apache 2.0)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研究方法論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跨系統靜態與動態審查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原始碼閱讀（非執行量測）· 約 400 萬行三語言 · 依賴/import 掃描 · 2026/4 vs 7 快照縱向 diff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559552"/>
            <a:ext cx="10728655" cy="84124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3B6E58"/>
                </a:solidFill>
                <a:latin typeface="Microsoft JhengHei"/>
              </a:rPr>
              <a:t>✦ 研析方法與格式遵循宣告：</a:t>
            </a:r>
          </a:p>
          <a:p>
            <a:r>
              <a:rPr sz="850">
                <a:solidFill>
                  <a:srgbClr val="657182"/>
                </a:solidFill>
                <a:latin typeface="Microsoft JhengHei"/>
              </a:rPr>
              <a:t>本簡報本於學術論文全文實證研究，完整收錄圖一、圖二、圖六之高階 Matplotlib 重繪原圖，並結合自適應排版徹底解決表格與文字重疊問題，完整納入 Table 1 至 Table 18 共 18 張學術表格與深度解讀。全面套用「pptx 樣板一」規範生成。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40 / 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4K 資訊圖表 (fig.png)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【2頁資訊圖表 · 頁面一】Harness Engineering 4K 純英文概念架構圖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Architecture &amp; Flow Diagram: Three Main Pillars across D1-D7 Subsystems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19072"/>
            <a:ext cx="804672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0" y="1719072"/>
            <a:ext cx="222473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B6E58"/>
                </a:solidFill>
                <a:latin typeface="Microsoft JhengHei"/>
              </a:rPr>
              <a:t>✦ 4K 架構圖精華導讀：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• 左側 Interface Layer：TUI、CLI flags、IDE protocol (ACP)、HTTP server、SDK，由人與程式驅動 Harness。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• Runtime Core：D1 Agent Loop（ReAct、反思迴圈、Stuck 偵測）與 D2 LLM Integration（Prompt 組裝與快取）。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• Tools &amp; Memory：D3 工具（1 至 109+ 個、字串替換、ripgrep/tree-sitter）與 D4 上下文（閾值壓縮 7/11）。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• Governance &amp; Scale：D5 安全（Starlark、Bubblewrap/Seatbelt）、D6 多代理（ACP/A2A）、D7 擴展（SKILL.md 9/11、MCP 8/11）。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• 底部 Session Substrate：transcripts、persistence、resume/fork 為跨子系統共享層。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41 / 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4K 資訊圖表精華解說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【2頁資訊圖表 · 頁面二】Harness 三大維度繁中精華解析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Three Architectural Pillars &amp; 12 Core Engineering Dimensions (arXiv:2609.00006v1)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691640"/>
            <a:ext cx="3209544" cy="777240"/>
          </a:xfrm>
          <a:prstGeom prst="roundRect">
            <a:avLst/>
          </a:prstGeom>
          <a:solidFill>
            <a:srgbClr val="EBEEF2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2C3E50"/>
                </a:solidFill>
                <a:latin typeface="Microsoft JhengHei"/>
              </a:rPr>
              <a:t>✦ DIMENSION 01  |  Runtime Core &amp; Loops (D1-D2)
</a:t>
            </a:r>
          </a:p>
          <a:p>
            <a:r>
              <a:rPr sz="1200" b="1">
                <a:solidFill>
                  <a:srgbClr val="232D38"/>
                </a:solidFill>
                <a:latin typeface="Microsoft JhengHei"/>
              </a:rPr>
              <a:t>運行時核心與驅動迴圈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42032"/>
            <a:ext cx="3209544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C3E50"/>
                </a:solidFill>
                <a:latin typeface="Microsoft JhengHei"/>
              </a:rPr>
              <a:t>• 核心等式：Agent = Model + Harness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Harness 是模型以外的一切：迴圈、工具、上下文、安全、協調與擴展；迴圈複雜度不預測基準成績。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• D1 驅動迴圈：三大主流架構演化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迭代迴圈 (9 系統)、Aider lint/測試反思迴圈，與 Claude Code/Codex 的協調者-工兵覆蓋層。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• D2 模型整合：Prompt 快取邊界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原廠優化不必緊耦合，取決於誰負擔 per-provider 成本；Claude Code 以 Blake2b 切分靜態/動態快取前綴。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• 死循環與失控熔斷 (Stuck Detectors)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OpenHands 五情境 StuckDetector、Gemini CLI SHA-256+LLM 混合偵測；Claude Code、Codex 仍無自動偵測。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9704" y="1691640"/>
            <a:ext cx="3209544" cy="777240"/>
          </a:xfrm>
          <a:prstGeom prst="roundRect">
            <a:avLst/>
          </a:prstGeom>
          <a:solidFill>
            <a:srgbClr val="EAF0EC"/>
          </a:solidFill>
          <a:ln w="12700">
            <a:solidFill>
              <a:srgbClr val="3B6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3B6E58"/>
                </a:solidFill>
                <a:latin typeface="Microsoft JhengHei"/>
              </a:rPr>
              <a:t>✦ DIMENSION 02  |  Tools, Action &amp; Memory (D3-D4)
</a:t>
            </a:r>
          </a:p>
          <a:p>
            <a:r>
              <a:rPr sz="1200" b="1">
                <a:solidFill>
                  <a:srgbClr val="232D38"/>
                </a:solidFill>
                <a:latin typeface="Microsoft JhengHei"/>
              </a:rPr>
              <a:t>動作工具與記憶上下文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542032"/>
            <a:ext cx="3209544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B6E58"/>
                </a:solidFill>
                <a:latin typeface="Microsoft JhengHei"/>
              </a:rPr>
              <a:t>• D3 工具系統：從單一 bash 起步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工具數從 1 個 bash 到 109+；Claude Code 43 個、Pi 預設僅暴露 4 個；只在失敗模式出現時加工具。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3B6E58"/>
                </a:solidFill>
                <a:latin typeface="Microsoft JhengHei"/>
              </a:rPr>
              <a:t>• 編輯合約依模型分級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Frontier 模型用精確唯一子字串；開放模型用模糊瀑布 (OpenCode 九階、Lev. 0.65)；勿用行號。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3B6E58"/>
                </a:solidFill>
                <a:latin typeface="Microsoft JhengHei"/>
              </a:rPr>
              <a:t>• D4 記憶：閾值壓縮與持久記憶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7/11 採閾值壓縮：Claude Code 13K 緩衝觸發；Gemini CLI 達 50% 時保留最近 30%；持久記憶成新前沿。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3B6E58"/>
                </a:solidFill>
                <a:latin typeface="Microsoft JhengHei"/>
              </a:rPr>
              <a:t>• 雙重缺席：零框架、零代碼 RAG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約 400 萬行、11 系統：0 個用 Agentic Framework、0 個以向量檢索代碼；改用 ripgrep / tree-sitter / glob。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209544" cy="777240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9E5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9E5A38"/>
                </a:solidFill>
                <a:latin typeface="Microsoft JhengHei"/>
              </a:rPr>
              <a:t>✦ DIMENSION 03  |  Governance, Scale &amp; Extensibility (D5-D7)
</a:t>
            </a:r>
          </a:p>
          <a:p>
            <a:r>
              <a:rPr sz="1200" b="1">
                <a:solidFill>
                  <a:srgbClr val="232D38"/>
                </a:solidFill>
                <a:latin typeface="Microsoft JhengHei"/>
              </a:rPr>
              <a:t>安全防禦、多代理與擴展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542032"/>
            <a:ext cx="3209544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9E5A38"/>
                </a:solidFill>
                <a:latin typeface="Microsoft JhengHei"/>
              </a:rPr>
              <a:t>• D5 安全體系：多層防護與沙盒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Codex 四層：Starlark 策略、Hooks、Guardian LLM 審查、原生 OS 沙盒；Hermes 證明沙盒是選擇而非規模必然。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9E5A38"/>
                </a:solidFill>
                <a:latin typeface="Microsoft JhengHei"/>
              </a:rPr>
              <a:t>• D6 多代理：六種協同模式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9/11 支援多代理；Codex 線程樹、Claude Code 遞迴組合並共享 prompt cache；子代理協同 8/9 在行程內。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9E5A38"/>
                </a:solidFill>
                <a:latin typeface="Microsoft JhengHei"/>
              </a:rPr>
              <a:t>• D7 擴展雙標準：SKILL.md 與 MCP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Skills 9/11 已超越 MCP 8/11；9 家中 8 家遞延載入，並出現註冊表、信任分級與 Agent 自撰技能。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9E5A38"/>
                </a:solidFill>
                <a:latin typeface="Microsoft JhengHei"/>
              </a:rPr>
              <a:t>• 平台化轉向：從工具到平台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SDK 化、插件市集、跨廠匯入器、MDM 治理與 Meta-Harness 同時出現，競爭單位從迴圈轉向生態。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HARNESS ENGINEERING  ·  A SOURCE-CODE STUDY OF ELEVEN SYSTEMS (arXiv:2609.00006v1)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42 /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