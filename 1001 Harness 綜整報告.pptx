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731520"/>
            <a:ext cx="10728655" cy="539496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1097280"/>
            <a:ext cx="731520" cy="54864"/>
          </a:xfrm>
          <a:prstGeom prst="roundRect">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234440"/>
            <a:ext cx="7315200" cy="320040"/>
          </a:xfrm>
          <a:prstGeom prst="rect">
            <a:avLst/>
          </a:prstGeom>
          <a:noFill/>
        </p:spPr>
        <p:txBody>
          <a:bodyPr wrap="none">
            <a:spAutoFit/>
          </a:bodyPr>
          <a:lstStyle/>
          <a:p>
            <a:pPr>
              <a:defRPr sz="1000" b="1">
                <a:solidFill>
                  <a:srgbClr val="3B6E58"/>
                </a:solidFill>
                <a:latin typeface="Microsoft JhengHei"/>
              </a:defRPr>
            </a:pPr>
            <a:r>
              <a:t>EXECUTIVE ARCHITECTURE SPECIFICATION  ·  OCTOBER 2026</a:t>
            </a:r>
          </a:p>
        </p:txBody>
      </p:sp>
      <p:sp>
        <p:nvSpPr>
          <p:cNvPr id="7" name="TextBox 6"/>
          <p:cNvSpPr txBox="1"/>
          <p:nvPr/>
        </p:nvSpPr>
        <p:spPr>
          <a:xfrm>
            <a:off x="1097280" y="1645920"/>
            <a:ext cx="9601200" cy="1828800"/>
          </a:xfrm>
          <a:prstGeom prst="rect">
            <a:avLst/>
          </a:prstGeom>
          <a:noFill/>
        </p:spPr>
        <p:txBody>
          <a:bodyPr wrap="square">
            <a:spAutoFit/>
          </a:bodyPr>
          <a:lstStyle/>
          <a:p>
            <a:r>
              <a:rPr sz="3600" b="1">
                <a:solidFill>
                  <a:srgbClr val="232D38"/>
                </a:solidFill>
                <a:latin typeface="Microsoft JhengHei"/>
              </a:rPr>
              <a:t>AI Agent 執行框架 (Harness)
前沿工程理論與量化比較全景報告</a:t>
            </a:r>
          </a:p>
        </p:txBody>
      </p:sp>
      <p:sp>
        <p:nvSpPr>
          <p:cNvPr id="8" name="TextBox 7"/>
          <p:cNvSpPr txBox="1"/>
          <p:nvPr/>
        </p:nvSpPr>
        <p:spPr>
          <a:xfrm>
            <a:off x="1097280" y="3566160"/>
            <a:ext cx="9601200" cy="822960"/>
          </a:xfrm>
          <a:prstGeom prst="rect">
            <a:avLst/>
          </a:prstGeom>
          <a:noFill/>
        </p:spPr>
        <p:txBody>
          <a:bodyPr wrap="square">
            <a:spAutoFit/>
          </a:bodyPr>
          <a:lstStyle/>
          <a:p>
            <a:r>
              <a:rPr sz="1300">
                <a:solidFill>
                  <a:srgbClr val="4A5568"/>
                </a:solidFill>
                <a:latin typeface="Microsoft JhengHei"/>
              </a:rPr>
              <a:t>跨 15 款主流商業與開源框架量化矩陣 • 頂級實驗室長程代理工程規範 • 地端機敏部署實踐 • 深度研析精髓</a:t>
            </a:r>
          </a:p>
        </p:txBody>
      </p:sp>
      <p:sp>
        <p:nvSpPr>
          <p:cNvPr id="9" name="Rectangle 8"/>
          <p:cNvSpPr/>
          <p:nvPr/>
        </p:nvSpPr>
        <p:spPr>
          <a:xfrm>
            <a:off x="1097280" y="4480560"/>
            <a:ext cx="9601200"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709160"/>
            <a:ext cx="4754880" cy="502920"/>
          </a:xfrm>
          <a:prstGeom prst="rect">
            <a:avLst/>
          </a:prstGeom>
          <a:noFill/>
        </p:spPr>
        <p:txBody>
          <a:bodyPr wrap="square" lIns="0" tIns="0" rIns="0" bIns="0">
            <a:spAutoFit/>
          </a:bodyPr>
          <a:lstStyle/>
          <a:p>
            <a:r>
              <a:rPr sz="900" b="1">
                <a:solidFill>
                  <a:srgbClr val="3B6E58"/>
                </a:solidFill>
                <a:latin typeface="Microsoft JhengHei"/>
              </a:rPr>
              <a:t>研析範疇 : </a:t>
            </a:r>
            <a:r>
              <a:rPr sz="900">
                <a:solidFill>
                  <a:srgbClr val="7C8695"/>
                </a:solidFill>
                <a:latin typeface="Microsoft JhengHei"/>
              </a:rPr>
              <a:t>Anthropic / OpenAI / Google DeepMind / 學術界前沿</a:t>
            </a:r>
          </a:p>
        </p:txBody>
      </p:sp>
      <p:sp>
        <p:nvSpPr>
          <p:cNvPr id="11" name="TextBox 10"/>
          <p:cNvSpPr txBox="1"/>
          <p:nvPr/>
        </p:nvSpPr>
        <p:spPr>
          <a:xfrm>
            <a:off x="6035040" y="4709160"/>
            <a:ext cx="4754880" cy="502920"/>
          </a:xfrm>
          <a:prstGeom prst="rect">
            <a:avLst/>
          </a:prstGeom>
          <a:noFill/>
        </p:spPr>
        <p:txBody>
          <a:bodyPr wrap="square" lIns="0" tIns="0" rIns="0" bIns="0">
            <a:spAutoFit/>
          </a:bodyPr>
          <a:lstStyle/>
          <a:p>
            <a:r>
              <a:rPr sz="900" b="1">
                <a:solidFill>
                  <a:srgbClr val="3B6E58"/>
                </a:solidFill>
                <a:latin typeface="Microsoft JhengHei"/>
              </a:rPr>
              <a:t>核心主旨 : </a:t>
            </a:r>
            <a:r>
              <a:rPr sz="900">
                <a:solidFill>
                  <a:srgbClr val="7C8695"/>
                </a:solidFill>
                <a:latin typeface="Microsoft JhengHei"/>
              </a:rPr>
              <a:t>從「模型中心」走向「執行框架中心」之工程範式革命</a:t>
            </a:r>
          </a:p>
        </p:txBody>
      </p:sp>
      <p:sp>
        <p:nvSpPr>
          <p:cNvPr id="12" name="TextBox 11"/>
          <p:cNvSpPr txBox="1"/>
          <p:nvPr/>
        </p:nvSpPr>
        <p:spPr>
          <a:xfrm>
            <a:off x="1097280" y="5303520"/>
            <a:ext cx="4754880" cy="502920"/>
          </a:xfrm>
          <a:prstGeom prst="rect">
            <a:avLst/>
          </a:prstGeom>
          <a:noFill/>
        </p:spPr>
        <p:txBody>
          <a:bodyPr wrap="square" lIns="0" tIns="0" rIns="0" bIns="0">
            <a:spAutoFit/>
          </a:bodyPr>
          <a:lstStyle/>
          <a:p>
            <a:r>
              <a:rPr sz="900" b="1">
                <a:solidFill>
                  <a:srgbClr val="3B6E58"/>
                </a:solidFill>
                <a:latin typeface="Microsoft JhengHei"/>
              </a:rPr>
              <a:t>審查標準 : </a:t>
            </a:r>
            <a:r>
              <a:rPr sz="900">
                <a:solidFill>
                  <a:srgbClr val="7C8695"/>
                </a:solidFill>
                <a:latin typeface="Microsoft JhengHei"/>
              </a:rPr>
              <a:t>ISO/IEC 42001 AIMS · NIST AI RMF · OWASP Agentic Top 10</a:t>
            </a:r>
          </a:p>
        </p:txBody>
      </p:sp>
      <p:sp>
        <p:nvSpPr>
          <p:cNvPr id="13" name="TextBox 12"/>
          <p:cNvSpPr txBox="1"/>
          <p:nvPr/>
        </p:nvSpPr>
        <p:spPr>
          <a:xfrm>
            <a:off x="6035040" y="5303520"/>
            <a:ext cx="4754880" cy="502920"/>
          </a:xfrm>
          <a:prstGeom prst="rect">
            <a:avLst/>
          </a:prstGeom>
          <a:noFill/>
        </p:spPr>
        <p:txBody>
          <a:bodyPr wrap="square" lIns="0" tIns="0" rIns="0" bIns="0">
            <a:spAutoFit/>
          </a:bodyPr>
          <a:lstStyle/>
          <a:p>
            <a:r>
              <a:rPr sz="900" b="1">
                <a:solidFill>
                  <a:srgbClr val="3B6E58"/>
                </a:solidFill>
                <a:latin typeface="Microsoft JhengHei"/>
              </a:rPr>
              <a:t>發布單位 : </a:t>
            </a:r>
            <a:r>
              <a:rPr sz="900">
                <a:solidFill>
                  <a:srgbClr val="7C8695"/>
                </a:solidFill>
                <a:latin typeface="Microsoft JhengHei"/>
              </a:rPr>
              <a:t>AI Agent 執行框架專家小組 (Executive Working Group)</a:t>
            </a:r>
          </a:p>
        </p:txBody>
      </p:sp>
      <p:sp>
        <p:nvSpPr>
          <p:cNvPr id="14" name="TextBox 13"/>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15" name="TextBox 14"/>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01 / 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目錄導覽</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報告大綱與模組化研析結構</a:t>
            </a:r>
          </a:p>
          <a:p>
            <a:pPr>
              <a:spcBef>
                <a:spcPts val="300"/>
              </a:spcBef>
            </a:pPr>
            <a:r>
              <a:rPr sz="950">
                <a:solidFill>
                  <a:srgbClr val="7C8695"/>
                </a:solidFill>
                <a:latin typeface="Microsoft JhengHei"/>
              </a:rPr>
              <a:t>全篇分為六大專業模組，層層剖析市場數據、能力矩陣、底層模型、治理邊界與白話精髓</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02 / 30</a:t>
            </a:r>
          </a:p>
        </p:txBody>
      </p:sp>
      <p:sp>
        <p:nvSpPr>
          <p:cNvPr id="9" name="Rounded Rectangle 8"/>
          <p:cNvSpPr/>
          <p:nvPr/>
        </p:nvSpPr>
        <p:spPr>
          <a:xfrm>
            <a:off x="731520" y="1600200"/>
            <a:ext cx="3413455" cy="214884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77824" y="1746504"/>
            <a:ext cx="530352" cy="329184"/>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Microsoft JhengHei"/>
              </a:rPr>
              <a:t>01</a:t>
            </a:r>
          </a:p>
        </p:txBody>
      </p:sp>
      <p:sp>
        <p:nvSpPr>
          <p:cNvPr id="11" name="TextBox 10"/>
          <p:cNvSpPr txBox="1"/>
          <p:nvPr/>
        </p:nvSpPr>
        <p:spPr>
          <a:xfrm>
            <a:off x="1463040" y="1746504"/>
            <a:ext cx="2544775" cy="320040"/>
          </a:xfrm>
          <a:prstGeom prst="rect">
            <a:avLst/>
          </a:prstGeom>
          <a:noFill/>
        </p:spPr>
        <p:txBody>
          <a:bodyPr wrap="none" lIns="0" tIns="0" rIns="0" bIns="0">
            <a:spAutoFit/>
          </a:bodyPr>
          <a:lstStyle/>
          <a:p>
            <a:r>
              <a:rPr sz="850" b="1">
                <a:solidFill>
                  <a:srgbClr val="7C8695"/>
                </a:solidFill>
                <a:latin typeface="Microsoft JhengHei"/>
              </a:rPr>
              <a:t>MARKET PULSE &amp; ADOPTION</a:t>
            </a:r>
          </a:p>
        </p:txBody>
      </p:sp>
      <p:sp>
        <p:nvSpPr>
          <p:cNvPr id="12" name="TextBox 11"/>
          <p:cNvSpPr txBox="1"/>
          <p:nvPr/>
        </p:nvSpPr>
        <p:spPr>
          <a:xfrm>
            <a:off x="877824" y="2148840"/>
            <a:ext cx="3120847" cy="411480"/>
          </a:xfrm>
          <a:prstGeom prst="rect">
            <a:avLst/>
          </a:prstGeom>
          <a:noFill/>
        </p:spPr>
        <p:txBody>
          <a:bodyPr wrap="square" lIns="0" tIns="0" rIns="0" bIns="0">
            <a:spAutoFit/>
          </a:bodyPr>
          <a:lstStyle/>
          <a:p>
            <a:r>
              <a:rPr sz="1150" b="1">
                <a:solidFill>
                  <a:srgbClr val="232D38"/>
                </a:solidFill>
                <a:latin typeface="Microsoft JhengHei"/>
              </a:rPr>
              <a:t>市場數據與生態格局</a:t>
            </a:r>
          </a:p>
        </p:txBody>
      </p:sp>
      <p:sp>
        <p:nvSpPr>
          <p:cNvPr id="13" name="Rectangle 12"/>
          <p:cNvSpPr/>
          <p:nvPr/>
        </p:nvSpPr>
        <p:spPr>
          <a:xfrm>
            <a:off x="877824" y="2587752"/>
            <a:ext cx="3120847" cy="10972"/>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2660904"/>
            <a:ext cx="3120847" cy="1033272"/>
          </a:xfrm>
          <a:prstGeom prst="rect">
            <a:avLst/>
          </a:prstGeom>
          <a:noFill/>
        </p:spPr>
        <p:txBody>
          <a:bodyPr wrap="square" lIns="0" tIns="0" rIns="0" bIns="0">
            <a:spAutoFit/>
          </a:bodyPr>
          <a:lstStyle/>
          <a:p>
            <a:pPr>
              <a:lnSpc>
                <a:spcPct val="115000"/>
              </a:lnSpc>
              <a:spcAft>
                <a:spcPts val="450"/>
              </a:spcAft>
            </a:pPr>
            <a:r>
              <a:rPr sz="750">
                <a:solidFill>
                  <a:srgbClr val="3B6E58"/>
                </a:solidFill>
              </a:rPr>
              <a:t>✦ </a:t>
            </a:r>
            <a:r>
              <a:rPr sz="900">
                <a:solidFill>
                  <a:srgbClr val="4A5568"/>
                </a:solidFill>
                <a:latin typeface="Microsoft JhengHei"/>
              </a:rPr>
              <a:t>15 款主流框架市場數據總覽</a:t>
            </a:r>
          </a:p>
          <a:p>
            <a:pPr>
              <a:lnSpc>
                <a:spcPct val="115000"/>
              </a:lnSpc>
              <a:spcAft>
                <a:spcPts val="450"/>
              </a:spcAft>
            </a:pPr>
            <a:r>
              <a:rPr sz="750">
                <a:solidFill>
                  <a:srgbClr val="3B6E58"/>
                </a:solidFill>
              </a:rPr>
              <a:t>✦ </a:t>
            </a:r>
            <a:r>
              <a:rPr sz="900">
                <a:solidFill>
                  <a:srgbClr val="4A5568"/>
                </a:solidFill>
                <a:latin typeface="Microsoft JhengHei"/>
              </a:rPr>
              <a:t>GitHub Stars 與開源影響力對比</a:t>
            </a:r>
          </a:p>
          <a:p>
            <a:pPr>
              <a:lnSpc>
                <a:spcPct val="115000"/>
              </a:lnSpc>
              <a:spcAft>
                <a:spcPts val="450"/>
              </a:spcAft>
            </a:pPr>
            <a:r>
              <a:rPr sz="750">
                <a:solidFill>
                  <a:srgbClr val="3B6E58"/>
                </a:solidFill>
              </a:rPr>
              <a:t>✦ </a:t>
            </a:r>
            <a:r>
              <a:rPr sz="900">
                <a:solidFill>
                  <a:srgbClr val="4A5568"/>
                </a:solidFill>
                <a:latin typeface="Microsoft JhengHei"/>
              </a:rPr>
              <a:t>採用率激增 vs 信任度鴻溝剖析</a:t>
            </a:r>
          </a:p>
        </p:txBody>
      </p:sp>
      <p:sp>
        <p:nvSpPr>
          <p:cNvPr id="15" name="Rounded Rectangle 14"/>
          <p:cNvSpPr/>
          <p:nvPr/>
        </p:nvSpPr>
        <p:spPr>
          <a:xfrm>
            <a:off x="4389120" y="1600200"/>
            <a:ext cx="3413455" cy="214884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35424" y="1746504"/>
            <a:ext cx="530352" cy="329184"/>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Microsoft JhengHei"/>
              </a:rPr>
              <a:t>02</a:t>
            </a:r>
          </a:p>
        </p:txBody>
      </p:sp>
      <p:sp>
        <p:nvSpPr>
          <p:cNvPr id="17" name="TextBox 16"/>
          <p:cNvSpPr txBox="1"/>
          <p:nvPr/>
        </p:nvSpPr>
        <p:spPr>
          <a:xfrm>
            <a:off x="5120640" y="1746504"/>
            <a:ext cx="2544775" cy="320040"/>
          </a:xfrm>
          <a:prstGeom prst="rect">
            <a:avLst/>
          </a:prstGeom>
          <a:noFill/>
        </p:spPr>
        <p:txBody>
          <a:bodyPr wrap="none" lIns="0" tIns="0" rIns="0" bIns="0">
            <a:spAutoFit/>
          </a:bodyPr>
          <a:lstStyle/>
          <a:p>
            <a:r>
              <a:rPr sz="850" b="1">
                <a:solidFill>
                  <a:srgbClr val="7C8695"/>
                </a:solidFill>
                <a:latin typeface="Microsoft JhengHei"/>
              </a:rPr>
              <a:t>CAPABILITY RADAR</a:t>
            </a:r>
          </a:p>
        </p:txBody>
      </p:sp>
      <p:sp>
        <p:nvSpPr>
          <p:cNvPr id="18" name="TextBox 17"/>
          <p:cNvSpPr txBox="1"/>
          <p:nvPr/>
        </p:nvSpPr>
        <p:spPr>
          <a:xfrm>
            <a:off x="4535424" y="2148840"/>
            <a:ext cx="3120847" cy="411480"/>
          </a:xfrm>
          <a:prstGeom prst="rect">
            <a:avLst/>
          </a:prstGeom>
          <a:noFill/>
        </p:spPr>
        <p:txBody>
          <a:bodyPr wrap="square" lIns="0" tIns="0" rIns="0" bIns="0">
            <a:spAutoFit/>
          </a:bodyPr>
          <a:lstStyle/>
          <a:p>
            <a:r>
              <a:rPr sz="1150" b="1">
                <a:solidFill>
                  <a:srgbClr val="232D38"/>
                </a:solidFill>
                <a:latin typeface="Microsoft JhengHei"/>
              </a:rPr>
              <a:t>Agent 核心能力量化評測</a:t>
            </a:r>
          </a:p>
        </p:txBody>
      </p:sp>
      <p:sp>
        <p:nvSpPr>
          <p:cNvPr id="19" name="Rectangle 18"/>
          <p:cNvSpPr/>
          <p:nvPr/>
        </p:nvSpPr>
        <p:spPr>
          <a:xfrm>
            <a:off x="4535424" y="2587752"/>
            <a:ext cx="3120847" cy="10972"/>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35424" y="2660904"/>
            <a:ext cx="3120847" cy="1033272"/>
          </a:xfrm>
          <a:prstGeom prst="rect">
            <a:avLst/>
          </a:prstGeom>
          <a:noFill/>
        </p:spPr>
        <p:txBody>
          <a:bodyPr wrap="square" lIns="0" tIns="0" rIns="0" bIns="0">
            <a:spAutoFit/>
          </a:bodyPr>
          <a:lstStyle/>
          <a:p>
            <a:pPr>
              <a:lnSpc>
                <a:spcPct val="115000"/>
              </a:lnSpc>
              <a:spcAft>
                <a:spcPts val="450"/>
              </a:spcAft>
            </a:pPr>
            <a:r>
              <a:rPr sz="750">
                <a:solidFill>
                  <a:srgbClr val="2C3E50"/>
                </a:solidFill>
              </a:rPr>
              <a:t>✦ </a:t>
            </a:r>
            <a:r>
              <a:rPr sz="900">
                <a:solidFill>
                  <a:srgbClr val="4A5568"/>
                </a:solidFill>
                <a:latin typeface="Microsoft JhengHei"/>
              </a:rPr>
              <a:t>六維能力雷達模型 (v1 &amp; v2)</a:t>
            </a:r>
          </a:p>
          <a:p>
            <a:pPr>
              <a:lnSpc>
                <a:spcPct val="115000"/>
              </a:lnSpc>
              <a:spcAft>
                <a:spcPts val="450"/>
              </a:spcAft>
            </a:pPr>
            <a:r>
              <a:rPr sz="750">
                <a:solidFill>
                  <a:srgbClr val="2C3E50"/>
                </a:solidFill>
              </a:rPr>
              <a:t>✦ </a:t>
            </a:r>
            <a:r>
              <a:rPr sz="900">
                <a:solidFill>
                  <a:srgbClr val="4A5568"/>
                </a:solidFill>
                <a:latin typeface="Microsoft JhengHei"/>
              </a:rPr>
              <a:t>Antigravity 2.0 與 DeepAgents 評測</a:t>
            </a:r>
          </a:p>
          <a:p>
            <a:pPr>
              <a:lnSpc>
                <a:spcPct val="115000"/>
              </a:lnSpc>
              <a:spcAft>
                <a:spcPts val="450"/>
              </a:spcAft>
            </a:pPr>
            <a:r>
              <a:rPr sz="750">
                <a:solidFill>
                  <a:srgbClr val="2C3E50"/>
                </a:solidFill>
              </a:rPr>
              <a:t>✦ </a:t>
            </a:r>
            <a:r>
              <a:rPr sz="900">
                <a:solidFill>
                  <a:srgbClr val="4A5568"/>
                </a:solidFill>
                <a:latin typeface="Microsoft JhengHei"/>
              </a:rPr>
              <a:t>離線能力與自主修正深度解構</a:t>
            </a:r>
          </a:p>
        </p:txBody>
      </p:sp>
      <p:sp>
        <p:nvSpPr>
          <p:cNvPr id="21" name="Rounded Rectangle 20"/>
          <p:cNvSpPr/>
          <p:nvPr/>
        </p:nvSpPr>
        <p:spPr>
          <a:xfrm>
            <a:off x="8046720" y="1600200"/>
            <a:ext cx="3413455" cy="214884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93024" y="1746504"/>
            <a:ext cx="530352" cy="329184"/>
          </a:xfrm>
          <a:prstGeom prst="roundRect">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Microsoft JhengHei"/>
              </a:rPr>
              <a:t>03</a:t>
            </a:r>
          </a:p>
        </p:txBody>
      </p:sp>
      <p:sp>
        <p:nvSpPr>
          <p:cNvPr id="23" name="TextBox 22"/>
          <p:cNvSpPr txBox="1"/>
          <p:nvPr/>
        </p:nvSpPr>
        <p:spPr>
          <a:xfrm>
            <a:off x="8778240" y="1746504"/>
            <a:ext cx="2544775" cy="320040"/>
          </a:xfrm>
          <a:prstGeom prst="rect">
            <a:avLst/>
          </a:prstGeom>
          <a:noFill/>
        </p:spPr>
        <p:txBody>
          <a:bodyPr wrap="none" lIns="0" tIns="0" rIns="0" bIns="0">
            <a:spAutoFit/>
          </a:bodyPr>
          <a:lstStyle/>
          <a:p>
            <a:r>
              <a:rPr sz="850" b="1">
                <a:solidFill>
                  <a:srgbClr val="7C8695"/>
                </a:solidFill>
                <a:latin typeface="Microsoft JhengHei"/>
              </a:rPr>
              <a:t>MODEL ROI &amp; VRAM</a:t>
            </a:r>
          </a:p>
        </p:txBody>
      </p:sp>
      <p:sp>
        <p:nvSpPr>
          <p:cNvPr id="24" name="TextBox 23"/>
          <p:cNvSpPr txBox="1"/>
          <p:nvPr/>
        </p:nvSpPr>
        <p:spPr>
          <a:xfrm>
            <a:off x="8193024" y="2148840"/>
            <a:ext cx="3120847" cy="411480"/>
          </a:xfrm>
          <a:prstGeom prst="rect">
            <a:avLst/>
          </a:prstGeom>
          <a:noFill/>
        </p:spPr>
        <p:txBody>
          <a:bodyPr wrap="square" lIns="0" tIns="0" rIns="0" bIns="0">
            <a:spAutoFit/>
          </a:bodyPr>
          <a:lstStyle/>
          <a:p>
            <a:r>
              <a:rPr sz="1150" b="1">
                <a:solidFill>
                  <a:srgbClr val="232D38"/>
                </a:solidFill>
                <a:latin typeface="Microsoft JhengHei"/>
              </a:rPr>
              <a:t>開源模型與硬體甜蜜點</a:t>
            </a:r>
          </a:p>
        </p:txBody>
      </p:sp>
      <p:sp>
        <p:nvSpPr>
          <p:cNvPr id="25" name="Rectangle 24"/>
          <p:cNvSpPr/>
          <p:nvPr/>
        </p:nvSpPr>
        <p:spPr>
          <a:xfrm>
            <a:off x="8193024" y="2587752"/>
            <a:ext cx="3120847" cy="10972"/>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93024" y="2660904"/>
            <a:ext cx="3120847" cy="1033272"/>
          </a:xfrm>
          <a:prstGeom prst="rect">
            <a:avLst/>
          </a:prstGeom>
          <a:noFill/>
        </p:spPr>
        <p:txBody>
          <a:bodyPr wrap="square" lIns="0" tIns="0" rIns="0" bIns="0">
            <a:spAutoFit/>
          </a:bodyPr>
          <a:lstStyle/>
          <a:p>
            <a:pPr>
              <a:lnSpc>
                <a:spcPct val="115000"/>
              </a:lnSpc>
              <a:spcAft>
                <a:spcPts val="450"/>
              </a:spcAft>
            </a:pPr>
            <a:r>
              <a:rPr sz="750">
                <a:solidFill>
                  <a:srgbClr val="9E5A38"/>
                </a:solidFill>
              </a:rPr>
              <a:t>✦ </a:t>
            </a:r>
            <a:r>
              <a:rPr sz="900">
                <a:solidFill>
                  <a:srgbClr val="4A5568"/>
                </a:solidFill>
                <a:latin typeface="Microsoft JhengHei"/>
              </a:rPr>
              <a:t>開源 LLM 於 Agent 任務排名</a:t>
            </a:r>
          </a:p>
          <a:p>
            <a:pPr>
              <a:lnSpc>
                <a:spcPct val="115000"/>
              </a:lnSpc>
              <a:spcAft>
                <a:spcPts val="450"/>
              </a:spcAft>
            </a:pPr>
            <a:r>
              <a:rPr sz="750">
                <a:solidFill>
                  <a:srgbClr val="9E5A38"/>
                </a:solidFill>
              </a:rPr>
              <a:t>✦ </a:t>
            </a:r>
            <a:r>
              <a:rPr sz="900">
                <a:solidFill>
                  <a:srgbClr val="4A5568"/>
                </a:solidFill>
                <a:latin typeface="Microsoft JhengHei"/>
              </a:rPr>
              <a:t>綜合評分 vs GPU VRAM 資源甜蜜點</a:t>
            </a:r>
          </a:p>
          <a:p>
            <a:pPr>
              <a:lnSpc>
                <a:spcPct val="115000"/>
              </a:lnSpc>
              <a:spcAft>
                <a:spcPts val="450"/>
              </a:spcAft>
            </a:pPr>
            <a:r>
              <a:rPr sz="750">
                <a:solidFill>
                  <a:srgbClr val="9E5A38"/>
                </a:solidFill>
              </a:rPr>
              <a:t>✦ </a:t>
            </a:r>
            <a:r>
              <a:rPr sz="900">
                <a:solidFill>
                  <a:srgbClr val="4A5568"/>
                </a:solidFill>
                <a:latin typeface="Microsoft JhengHei"/>
              </a:rPr>
              <a:t>Kimi K3、DeepSeek、GLM、Gemma 規格</a:t>
            </a:r>
          </a:p>
        </p:txBody>
      </p:sp>
      <p:sp>
        <p:nvSpPr>
          <p:cNvPr id="27" name="Rounded Rectangle 26"/>
          <p:cNvSpPr/>
          <p:nvPr/>
        </p:nvSpPr>
        <p:spPr>
          <a:xfrm>
            <a:off x="731520" y="3886200"/>
            <a:ext cx="3413455" cy="214884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77824" y="4032504"/>
            <a:ext cx="530352" cy="329184"/>
          </a:xfrm>
          <a:prstGeom prst="roundRect">
            <a:avLst/>
          </a:prstGeom>
          <a:solidFill>
            <a:srgbClr val="B47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Microsoft JhengHei"/>
              </a:rPr>
              <a:t>04</a:t>
            </a:r>
          </a:p>
        </p:txBody>
      </p:sp>
      <p:sp>
        <p:nvSpPr>
          <p:cNvPr id="29" name="TextBox 28"/>
          <p:cNvSpPr txBox="1"/>
          <p:nvPr/>
        </p:nvSpPr>
        <p:spPr>
          <a:xfrm>
            <a:off x="1463040" y="4032504"/>
            <a:ext cx="2544775" cy="320040"/>
          </a:xfrm>
          <a:prstGeom prst="rect">
            <a:avLst/>
          </a:prstGeom>
          <a:noFill/>
        </p:spPr>
        <p:txBody>
          <a:bodyPr wrap="none" lIns="0" tIns="0" rIns="0" bIns="0">
            <a:spAutoFit/>
          </a:bodyPr>
          <a:lstStyle/>
          <a:p>
            <a:r>
              <a:rPr sz="850" b="1">
                <a:solidFill>
                  <a:srgbClr val="7C8695"/>
                </a:solidFill>
                <a:latin typeface="Microsoft JhengHei"/>
              </a:rPr>
              <a:t>SYSTEM ARCHITECTURE</a:t>
            </a:r>
          </a:p>
        </p:txBody>
      </p:sp>
      <p:sp>
        <p:nvSpPr>
          <p:cNvPr id="30" name="TextBox 29"/>
          <p:cNvSpPr txBox="1"/>
          <p:nvPr/>
        </p:nvSpPr>
        <p:spPr>
          <a:xfrm>
            <a:off x="877824" y="4434840"/>
            <a:ext cx="3120847" cy="411480"/>
          </a:xfrm>
          <a:prstGeom prst="rect">
            <a:avLst/>
          </a:prstGeom>
          <a:noFill/>
        </p:spPr>
        <p:txBody>
          <a:bodyPr wrap="square" lIns="0" tIns="0" rIns="0" bIns="0">
            <a:spAutoFit/>
          </a:bodyPr>
          <a:lstStyle/>
          <a:p>
            <a:r>
              <a:rPr sz="1150" b="1">
                <a:solidFill>
                  <a:srgbClr val="232D38"/>
                </a:solidFill>
                <a:latin typeface="Microsoft JhengHei"/>
              </a:rPr>
              <a:t>ReAct 增強與 16 項元素矩陣</a:t>
            </a:r>
          </a:p>
        </p:txBody>
      </p:sp>
      <p:sp>
        <p:nvSpPr>
          <p:cNvPr id="31" name="Rectangle 30"/>
          <p:cNvSpPr/>
          <p:nvPr/>
        </p:nvSpPr>
        <p:spPr>
          <a:xfrm>
            <a:off x="877824" y="4873752"/>
            <a:ext cx="3120847" cy="10972"/>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77824" y="4946904"/>
            <a:ext cx="3120847" cy="1033272"/>
          </a:xfrm>
          <a:prstGeom prst="rect">
            <a:avLst/>
          </a:prstGeom>
          <a:noFill/>
        </p:spPr>
        <p:txBody>
          <a:bodyPr wrap="square" lIns="0" tIns="0" rIns="0" bIns="0">
            <a:spAutoFit/>
          </a:bodyPr>
          <a:lstStyle/>
          <a:p>
            <a:pPr>
              <a:lnSpc>
                <a:spcPct val="115000"/>
              </a:lnSpc>
              <a:spcAft>
                <a:spcPts val="450"/>
              </a:spcAft>
            </a:pPr>
            <a:r>
              <a:rPr sz="750">
                <a:solidFill>
                  <a:srgbClr val="B4782A"/>
                </a:solidFill>
              </a:rPr>
              <a:t>✦ </a:t>
            </a:r>
            <a:r>
              <a:rPr sz="900">
                <a:solidFill>
                  <a:srgbClr val="4A5568"/>
                </a:solidFill>
                <a:latin typeface="Microsoft JhengHei"/>
              </a:rPr>
              <a:t>開源弱模型 ReAct 增強四大象限</a:t>
            </a:r>
          </a:p>
          <a:p>
            <a:pPr>
              <a:lnSpc>
                <a:spcPct val="115000"/>
              </a:lnSpc>
              <a:spcAft>
                <a:spcPts val="450"/>
              </a:spcAft>
            </a:pPr>
            <a:r>
              <a:rPr sz="750">
                <a:solidFill>
                  <a:srgbClr val="B4782A"/>
                </a:solidFill>
              </a:rPr>
              <a:t>✦ </a:t>
            </a:r>
            <a:r>
              <a:rPr sz="900">
                <a:solidFill>
                  <a:srgbClr val="4A5568"/>
                </a:solidFill>
                <a:latin typeface="Microsoft JhengHei"/>
              </a:rPr>
              <a:t>16 項 Harness 核心元素覆蓋度量化</a:t>
            </a:r>
          </a:p>
          <a:p>
            <a:pPr>
              <a:lnSpc>
                <a:spcPct val="115000"/>
              </a:lnSpc>
              <a:spcAft>
                <a:spcPts val="450"/>
              </a:spcAft>
            </a:pPr>
            <a:r>
              <a:rPr sz="750">
                <a:solidFill>
                  <a:srgbClr val="B4782A"/>
                </a:solidFill>
              </a:rPr>
              <a:t>✦ </a:t>
            </a:r>
            <a:r>
              <a:rPr sz="900">
                <a:solidFill>
                  <a:srgbClr val="4A5568"/>
                </a:solidFill>
                <a:latin typeface="Microsoft JhengHei"/>
              </a:rPr>
              <a:t>記憶、Skills、Hooks、沙盒架構實務</a:t>
            </a:r>
          </a:p>
        </p:txBody>
      </p:sp>
      <p:sp>
        <p:nvSpPr>
          <p:cNvPr id="33" name="Rounded Rectangle 32"/>
          <p:cNvSpPr/>
          <p:nvPr/>
        </p:nvSpPr>
        <p:spPr>
          <a:xfrm>
            <a:off x="4389120" y="3886200"/>
            <a:ext cx="3413455" cy="214884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535424" y="4032504"/>
            <a:ext cx="530352" cy="329184"/>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Microsoft JhengHei"/>
              </a:rPr>
              <a:t>05</a:t>
            </a:r>
          </a:p>
        </p:txBody>
      </p:sp>
      <p:sp>
        <p:nvSpPr>
          <p:cNvPr id="35" name="TextBox 34"/>
          <p:cNvSpPr txBox="1"/>
          <p:nvPr/>
        </p:nvSpPr>
        <p:spPr>
          <a:xfrm>
            <a:off x="5120640" y="4032504"/>
            <a:ext cx="2544775" cy="320040"/>
          </a:xfrm>
          <a:prstGeom prst="rect">
            <a:avLst/>
          </a:prstGeom>
          <a:noFill/>
        </p:spPr>
        <p:txBody>
          <a:bodyPr wrap="none" lIns="0" tIns="0" rIns="0" bIns="0">
            <a:spAutoFit/>
          </a:bodyPr>
          <a:lstStyle/>
          <a:p>
            <a:r>
              <a:rPr sz="850" b="1">
                <a:solidFill>
                  <a:srgbClr val="7C8695"/>
                </a:solidFill>
                <a:latin typeface="Microsoft JhengHei"/>
              </a:rPr>
              <a:t>SECURE AIR-GAPPED</a:t>
            </a:r>
          </a:p>
        </p:txBody>
      </p:sp>
      <p:sp>
        <p:nvSpPr>
          <p:cNvPr id="36" name="TextBox 35"/>
          <p:cNvSpPr txBox="1"/>
          <p:nvPr/>
        </p:nvSpPr>
        <p:spPr>
          <a:xfrm>
            <a:off x="4535424" y="4434840"/>
            <a:ext cx="3120847" cy="411480"/>
          </a:xfrm>
          <a:prstGeom prst="rect">
            <a:avLst/>
          </a:prstGeom>
          <a:noFill/>
        </p:spPr>
        <p:txBody>
          <a:bodyPr wrap="square" lIns="0" tIns="0" rIns="0" bIns="0">
            <a:spAutoFit/>
          </a:bodyPr>
          <a:lstStyle/>
          <a:p>
            <a:r>
              <a:rPr sz="1150" b="1">
                <a:solidFill>
                  <a:srgbClr val="232D38"/>
                </a:solidFill>
                <a:latin typeface="Microsoft JhengHei"/>
              </a:rPr>
              <a:t>國防地端部署與雙維評測</a:t>
            </a:r>
          </a:p>
        </p:txBody>
      </p:sp>
      <p:sp>
        <p:nvSpPr>
          <p:cNvPr id="37" name="Rectangle 36"/>
          <p:cNvSpPr/>
          <p:nvPr/>
        </p:nvSpPr>
        <p:spPr>
          <a:xfrm>
            <a:off x="4535424" y="4873752"/>
            <a:ext cx="3120847" cy="10972"/>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35424" y="4946904"/>
            <a:ext cx="3120847" cy="1033272"/>
          </a:xfrm>
          <a:prstGeom prst="rect">
            <a:avLst/>
          </a:prstGeom>
          <a:noFill/>
        </p:spPr>
        <p:txBody>
          <a:bodyPr wrap="square" lIns="0" tIns="0" rIns="0" bIns="0">
            <a:spAutoFit/>
          </a:bodyPr>
          <a:lstStyle/>
          <a:p>
            <a:pPr>
              <a:lnSpc>
                <a:spcPct val="115000"/>
              </a:lnSpc>
              <a:spcAft>
                <a:spcPts val="450"/>
              </a:spcAft>
            </a:pPr>
            <a:r>
              <a:rPr sz="750">
                <a:solidFill>
                  <a:srgbClr val="3B6E58"/>
                </a:solidFill>
              </a:rPr>
              <a:t>✦ </a:t>
            </a:r>
            <a:r>
              <a:rPr sz="900">
                <a:solidFill>
                  <a:srgbClr val="4A5568"/>
                </a:solidFill>
                <a:latin typeface="Microsoft JhengHei"/>
              </a:rPr>
              <a:t>實體隔離 (Air-gapped) 三層參考架構</a:t>
            </a:r>
          </a:p>
          <a:p>
            <a:pPr>
              <a:lnSpc>
                <a:spcPct val="115000"/>
              </a:lnSpc>
              <a:spcAft>
                <a:spcPts val="450"/>
              </a:spcAft>
            </a:pPr>
            <a:r>
              <a:rPr sz="750">
                <a:solidFill>
                  <a:srgbClr val="3B6E58"/>
                </a:solidFill>
              </a:rPr>
              <a:t>✦ </a:t>
            </a:r>
            <a:r>
              <a:rPr sz="900">
                <a:solidFill>
                  <a:srgbClr val="4A5568"/>
                </a:solidFill>
                <a:latin typeface="Microsoft JhengHei"/>
              </a:rPr>
              <a:t>企業叢集 vs 工作站兩套落地方案</a:t>
            </a:r>
          </a:p>
          <a:p>
            <a:pPr>
              <a:lnSpc>
                <a:spcPct val="115000"/>
              </a:lnSpc>
              <a:spcAft>
                <a:spcPts val="450"/>
              </a:spcAft>
            </a:pPr>
            <a:r>
              <a:rPr sz="750">
                <a:solidFill>
                  <a:srgbClr val="3B6E58"/>
                </a:solidFill>
              </a:rPr>
              <a:t>✦ </a:t>
            </a:r>
            <a:r>
              <a:rPr sz="900">
                <a:solidFill>
                  <a:srgbClr val="4A5568"/>
                </a:solidFill>
                <a:latin typeface="Microsoft JhengHei"/>
              </a:rPr>
              <a:t>SWE-bench vs Terminal-Bench 雙維度評測</a:t>
            </a:r>
          </a:p>
        </p:txBody>
      </p:sp>
      <p:sp>
        <p:nvSpPr>
          <p:cNvPr id="39" name="Rounded Rectangle 38"/>
          <p:cNvSpPr/>
          <p:nvPr/>
        </p:nvSpPr>
        <p:spPr>
          <a:xfrm>
            <a:off x="8046720" y="3886200"/>
            <a:ext cx="3413455" cy="214884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193024" y="4032504"/>
            <a:ext cx="530352" cy="329184"/>
          </a:xfrm>
          <a:prstGeom prst="roundRect">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Microsoft JhengHei"/>
              </a:rPr>
              <a:t>06</a:t>
            </a:r>
          </a:p>
        </p:txBody>
      </p:sp>
      <p:sp>
        <p:nvSpPr>
          <p:cNvPr id="41" name="TextBox 40"/>
          <p:cNvSpPr txBox="1"/>
          <p:nvPr/>
        </p:nvSpPr>
        <p:spPr>
          <a:xfrm>
            <a:off x="8778240" y="4032504"/>
            <a:ext cx="2544775" cy="320040"/>
          </a:xfrm>
          <a:prstGeom prst="rect">
            <a:avLst/>
          </a:prstGeom>
          <a:noFill/>
        </p:spPr>
        <p:txBody>
          <a:bodyPr wrap="none" lIns="0" tIns="0" rIns="0" bIns="0">
            <a:spAutoFit/>
          </a:bodyPr>
          <a:lstStyle/>
          <a:p>
            <a:r>
              <a:rPr sz="850" b="1">
                <a:solidFill>
                  <a:srgbClr val="7C8695"/>
                </a:solidFill>
                <a:latin typeface="Microsoft JhengHei"/>
              </a:rPr>
              <a:t>EXPERT SYNTHESIS</a:t>
            </a:r>
          </a:p>
        </p:txBody>
      </p:sp>
      <p:sp>
        <p:nvSpPr>
          <p:cNvPr id="42" name="TextBox 41"/>
          <p:cNvSpPr txBox="1"/>
          <p:nvPr/>
        </p:nvSpPr>
        <p:spPr>
          <a:xfrm>
            <a:off x="8193024" y="4434840"/>
            <a:ext cx="3120847" cy="411480"/>
          </a:xfrm>
          <a:prstGeom prst="rect">
            <a:avLst/>
          </a:prstGeom>
          <a:noFill/>
        </p:spPr>
        <p:txBody>
          <a:bodyPr wrap="square" lIns="0" tIns="0" rIns="0" bIns="0">
            <a:spAutoFit/>
          </a:bodyPr>
          <a:lstStyle/>
          <a:p>
            <a:r>
              <a:rPr sz="1150" b="1">
                <a:solidFill>
                  <a:srgbClr val="232D38"/>
                </a:solidFill>
                <a:latin typeface="Microsoft JhengHei"/>
              </a:rPr>
              <a:t>前沿文獻綜整與深度精髓</a:t>
            </a:r>
          </a:p>
        </p:txBody>
      </p:sp>
      <p:sp>
        <p:nvSpPr>
          <p:cNvPr id="43" name="Rectangle 42"/>
          <p:cNvSpPr/>
          <p:nvPr/>
        </p:nvSpPr>
        <p:spPr>
          <a:xfrm>
            <a:off x="8193024" y="4873752"/>
            <a:ext cx="3120847" cy="10972"/>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93024" y="4946904"/>
            <a:ext cx="3120847" cy="1033272"/>
          </a:xfrm>
          <a:prstGeom prst="rect">
            <a:avLst/>
          </a:prstGeom>
          <a:noFill/>
        </p:spPr>
        <p:txBody>
          <a:bodyPr wrap="square" lIns="0" tIns="0" rIns="0" bIns="0">
            <a:spAutoFit/>
          </a:bodyPr>
          <a:lstStyle/>
          <a:p>
            <a:pPr>
              <a:lnSpc>
                <a:spcPct val="115000"/>
              </a:lnSpc>
              <a:spcAft>
                <a:spcPts val="450"/>
              </a:spcAft>
            </a:pPr>
            <a:r>
              <a:rPr sz="750">
                <a:solidFill>
                  <a:srgbClr val="9E5A38"/>
                </a:solidFill>
              </a:rPr>
              <a:t>✦ </a:t>
            </a:r>
            <a:r>
              <a:rPr sz="900">
                <a:solidFill>
                  <a:srgbClr val="4A5568"/>
                </a:solidFill>
                <a:latin typeface="Microsoft JhengHei"/>
              </a:rPr>
              <a:t>Anthropic 三角色 Sprint 合約架構</a:t>
            </a:r>
          </a:p>
          <a:p>
            <a:pPr>
              <a:lnSpc>
                <a:spcPct val="115000"/>
              </a:lnSpc>
              <a:spcAft>
                <a:spcPts val="450"/>
              </a:spcAft>
            </a:pPr>
            <a:r>
              <a:rPr sz="750">
                <a:solidFill>
                  <a:srgbClr val="9E5A38"/>
                </a:solidFill>
              </a:rPr>
              <a:t>✦ </a:t>
            </a:r>
            <a:r>
              <a:rPr sz="900">
                <a:solidFill>
                  <a:srgbClr val="4A5568"/>
                </a:solidFill>
                <a:latin typeface="Microsoft JhengHei"/>
              </a:rPr>
              <a:t>OpenAI AC/DC 範式與零人工編碼</a:t>
            </a:r>
          </a:p>
          <a:p>
            <a:pPr>
              <a:lnSpc>
                <a:spcPct val="115000"/>
              </a:lnSpc>
              <a:spcAft>
                <a:spcPts val="450"/>
              </a:spcAft>
            </a:pPr>
            <a:r>
              <a:rPr sz="750">
                <a:solidFill>
                  <a:srgbClr val="9E5A38"/>
                </a:solidFill>
              </a:rPr>
              <a:t>✦ </a:t>
            </a:r>
            <a:r>
              <a:rPr sz="900">
                <a:solidFill>
                  <a:srgbClr val="4A5568"/>
                </a:solidFill>
                <a:latin typeface="Microsoft JhengHei"/>
              </a:rPr>
              <a:t>Google ADK 與模型吞噬框架辯證</a:t>
            </a:r>
          </a:p>
          <a:p>
            <a:pPr>
              <a:lnSpc>
                <a:spcPct val="115000"/>
              </a:lnSpc>
              <a:spcAft>
                <a:spcPts val="450"/>
              </a:spcAft>
            </a:pPr>
            <a:r>
              <a:rPr sz="750">
                <a:solidFill>
                  <a:srgbClr val="9E5A38"/>
                </a:solidFill>
              </a:rPr>
              <a:t>✦ </a:t>
            </a:r>
            <a:r>
              <a:rPr sz="900">
                <a:solidFill>
                  <a:srgbClr val="4A5568"/>
                </a:solidFill>
                <a:latin typeface="Microsoft JhengHei"/>
              </a:rPr>
              <a:t>深度研析白話精髓與企業行動建議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市場格局</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15 款主流 AI Agent 執行框架市場數據總覽</a:t>
            </a:r>
          </a:p>
          <a:p>
            <a:pPr>
              <a:spcBef>
                <a:spcPts val="300"/>
              </a:spcBef>
            </a:pPr>
            <a:r>
              <a:rPr sz="950">
                <a:solidFill>
                  <a:srgbClr val="7C8695"/>
                </a:solidFill>
                <a:latin typeface="Microsoft JhengHei"/>
              </a:rPr>
              <a:t>涵蓋商業專有閉環、開源自託管與學術基準框架之全景比較 (2026 年 9 月基準)</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03 / 30</a:t>
            </a:r>
          </a:p>
        </p:txBody>
      </p:sp>
      <p:sp>
        <p:nvSpPr>
          <p:cNvPr id="9" name="Rounded Rectangle 8"/>
          <p:cNvSpPr/>
          <p:nvPr/>
        </p:nvSpPr>
        <p:spPr>
          <a:xfrm>
            <a:off x="731520" y="1554480"/>
            <a:ext cx="2542032" cy="621792"/>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554480"/>
            <a:ext cx="45720" cy="621792"/>
          </a:xfrm>
          <a:prstGeom prst="roundRect">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1600200"/>
            <a:ext cx="2359151" cy="530352"/>
          </a:xfrm>
          <a:prstGeom prst="rect">
            <a:avLst/>
          </a:prstGeom>
          <a:noFill/>
        </p:spPr>
        <p:txBody>
          <a:bodyPr wrap="none" lIns="0" tIns="0" rIns="0" bIns="0">
            <a:spAutoFit/>
          </a:bodyPr>
          <a:lstStyle/>
          <a:p>
            <a:r>
              <a:rPr sz="1150" b="1">
                <a:solidFill>
                  <a:srgbClr val="9E5A38"/>
                </a:solidFill>
                <a:latin typeface="Microsoft JhengHei"/>
              </a:rPr>
              <a:t>3 巨頭  </a:t>
            </a:r>
            <a:r>
              <a:rPr sz="850" b="1">
                <a:solidFill>
                  <a:srgbClr val="232D38"/>
                </a:solidFill>
                <a:latin typeface="Microsoft JhengHei"/>
              </a:rPr>
              <a:t>商業前沿閉環</a:t>
            </a:r>
          </a:p>
          <a:p>
            <a:pPr>
              <a:spcBef>
                <a:spcPts val="100"/>
              </a:spcBef>
            </a:pPr>
            <a:r>
              <a:rPr sz="800">
                <a:solidFill>
                  <a:srgbClr val="7C8695"/>
                </a:solidFill>
                <a:latin typeface="Microsoft JhengHei"/>
              </a:rPr>
              <a:t>Claude / Codex / Antigravity 壟斷旗艦</a:t>
            </a:r>
          </a:p>
        </p:txBody>
      </p:sp>
      <p:sp>
        <p:nvSpPr>
          <p:cNvPr id="12" name="Rounded Rectangle 11"/>
          <p:cNvSpPr/>
          <p:nvPr/>
        </p:nvSpPr>
        <p:spPr>
          <a:xfrm>
            <a:off x="3456432" y="1554480"/>
            <a:ext cx="2542032" cy="621792"/>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56432" y="1554480"/>
            <a:ext cx="45720" cy="621792"/>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84448" y="1600200"/>
            <a:ext cx="2359151" cy="530352"/>
          </a:xfrm>
          <a:prstGeom prst="rect">
            <a:avLst/>
          </a:prstGeom>
          <a:noFill/>
        </p:spPr>
        <p:txBody>
          <a:bodyPr wrap="none" lIns="0" tIns="0" rIns="0" bIns="0">
            <a:spAutoFit/>
          </a:bodyPr>
          <a:lstStyle/>
          <a:p>
            <a:r>
              <a:rPr sz="1150" b="1">
                <a:solidFill>
                  <a:srgbClr val="3B6E58"/>
                </a:solidFill>
                <a:latin typeface="Microsoft JhengHei"/>
              </a:rPr>
              <a:t>&gt;200K ⭐  </a:t>
            </a:r>
            <a:r>
              <a:rPr sz="850" b="1">
                <a:solidFill>
                  <a:srgbClr val="232D38"/>
                </a:solidFill>
                <a:latin typeface="Microsoft JhengHei"/>
              </a:rPr>
              <a:t>開源社群龍頭</a:t>
            </a:r>
          </a:p>
          <a:p>
            <a:pPr>
              <a:spcBef>
                <a:spcPts val="100"/>
              </a:spcBef>
            </a:pPr>
            <a:r>
              <a:rPr sz="800">
                <a:solidFill>
                  <a:srgbClr val="7C8695"/>
                </a:solidFill>
                <a:latin typeface="Microsoft JhengHei"/>
              </a:rPr>
              <a:t>Hermes / OpenCode 自託管躍升</a:t>
            </a:r>
          </a:p>
        </p:txBody>
      </p:sp>
      <p:sp>
        <p:nvSpPr>
          <p:cNvPr id="15" name="Rounded Rectangle 14"/>
          <p:cNvSpPr/>
          <p:nvPr/>
        </p:nvSpPr>
        <p:spPr>
          <a:xfrm>
            <a:off x="6181344" y="1554480"/>
            <a:ext cx="2542032" cy="621792"/>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81344" y="1554480"/>
            <a:ext cx="45720" cy="621792"/>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59" y="1600200"/>
            <a:ext cx="2359151" cy="530352"/>
          </a:xfrm>
          <a:prstGeom prst="rect">
            <a:avLst/>
          </a:prstGeom>
          <a:noFill/>
        </p:spPr>
        <p:txBody>
          <a:bodyPr wrap="none" lIns="0" tIns="0" rIns="0" bIns="0">
            <a:spAutoFit/>
          </a:bodyPr>
          <a:lstStyle/>
          <a:p>
            <a:r>
              <a:rPr sz="1150" b="1">
                <a:solidFill>
                  <a:srgbClr val="2C3E50"/>
                </a:solidFill>
                <a:latin typeface="Microsoft JhengHei"/>
              </a:rPr>
              <a:t>420萬+ 下載  </a:t>
            </a:r>
            <a:r>
              <a:rPr sz="850" b="1">
                <a:solidFill>
                  <a:srgbClr val="232D38"/>
                </a:solidFill>
                <a:latin typeface="Microsoft JhengHei"/>
              </a:rPr>
              <a:t>Git 結對首選</a:t>
            </a:r>
          </a:p>
          <a:p>
            <a:pPr>
              <a:spcBef>
                <a:spcPts val="100"/>
              </a:spcBef>
            </a:pPr>
            <a:r>
              <a:rPr sz="800">
                <a:solidFill>
                  <a:srgbClr val="7C8695"/>
                </a:solidFill>
                <a:latin typeface="Microsoft JhengHei"/>
              </a:rPr>
              <a:t>Aider 國防離線機敏唯一長青</a:t>
            </a:r>
          </a:p>
        </p:txBody>
      </p:sp>
      <p:sp>
        <p:nvSpPr>
          <p:cNvPr id="18" name="Rounded Rectangle 17"/>
          <p:cNvSpPr/>
          <p:nvPr/>
        </p:nvSpPr>
        <p:spPr>
          <a:xfrm>
            <a:off x="8906256" y="1554480"/>
            <a:ext cx="2542032" cy="621792"/>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906256" y="1554480"/>
            <a:ext cx="45720" cy="621792"/>
          </a:xfrm>
          <a:prstGeom prst="roundRect">
            <a:avLst/>
          </a:prstGeom>
          <a:solidFill>
            <a:srgbClr val="B47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34272" y="1600200"/>
            <a:ext cx="2359151" cy="530352"/>
          </a:xfrm>
          <a:prstGeom prst="rect">
            <a:avLst/>
          </a:prstGeom>
          <a:noFill/>
        </p:spPr>
        <p:txBody>
          <a:bodyPr wrap="none" lIns="0" tIns="0" rIns="0" bIns="0">
            <a:spAutoFit/>
          </a:bodyPr>
          <a:lstStyle/>
          <a:p>
            <a:r>
              <a:rPr sz="1150" b="1">
                <a:solidFill>
                  <a:srgbClr val="B4782A"/>
                </a:solidFill>
                <a:latin typeface="Microsoft JhengHei"/>
              </a:rPr>
              <a:t>92% 滲透率  </a:t>
            </a:r>
            <a:r>
              <a:rPr sz="850" b="1">
                <a:solidFill>
                  <a:srgbClr val="232D38"/>
                </a:solidFill>
                <a:latin typeface="Microsoft JhengHei"/>
              </a:rPr>
              <a:t>工程範式轉移</a:t>
            </a:r>
          </a:p>
          <a:p>
            <a:pPr>
              <a:spcBef>
                <a:spcPts val="100"/>
              </a:spcBef>
            </a:pPr>
            <a:r>
              <a:rPr sz="800">
                <a:solidFill>
                  <a:srgbClr val="7C8695"/>
                </a:solidFill>
                <a:latin typeface="Microsoft JhengHei"/>
              </a:rPr>
              <a:t>從單行補全走向 Spec 自主編程</a:t>
            </a:r>
          </a:p>
        </p:txBody>
      </p:sp>
      <p:sp>
        <p:nvSpPr>
          <p:cNvPr id="21" name="Rounded Rectangle 20"/>
          <p:cNvSpPr/>
          <p:nvPr/>
        </p:nvSpPr>
        <p:spPr>
          <a:xfrm>
            <a:off x="731520" y="2286000"/>
            <a:ext cx="10728655" cy="3977639"/>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2" name="Table 21"/>
          <p:cNvGraphicFramePr>
            <a:graphicFrameLocks noGrp="1"/>
          </p:cNvGraphicFramePr>
          <p:nvPr/>
        </p:nvGraphicFramePr>
        <p:xfrm>
          <a:off x="841248" y="2377440"/>
          <a:ext cx="10509196" cy="3794759"/>
        </p:xfrm>
        <a:graphic>
          <a:graphicData uri="http://schemas.openxmlformats.org/drawingml/2006/table">
            <a:tbl>
              <a:tblPr firstRow="1" bandRow="1">
                <a:tableStyleId>{5C22544A-7EE6-4342-B048-85BDC9FD1C3A}</a:tableStyleId>
              </a:tblPr>
              <a:tblGrid>
                <a:gridCol w="1820491"/>
                <a:gridCol w="1158494"/>
                <a:gridCol w="1158494"/>
                <a:gridCol w="2565237"/>
                <a:gridCol w="1323993"/>
                <a:gridCol w="1489492"/>
                <a:gridCol w="992995"/>
              </a:tblGrid>
              <a:tr h="291904">
                <a:tc>
                  <a:txBody>
                    <a:bodyPr/>
                    <a:lstStyle/>
                    <a:p>
                      <a:pPr algn="l">
                        <a:defRPr sz="869" b="1">
                          <a:solidFill>
                            <a:srgbClr val="232D38"/>
                          </a:solidFill>
                          <a:latin typeface="Microsoft JhengHei"/>
                        </a:defRPr>
                      </a:pPr>
                      <a:r>
                        <a:t>框架名稱</a:t>
                      </a:r>
                    </a:p>
                  </a:txBody>
                  <a:tcPr anchor="ctr">
                    <a:solidFill>
                      <a:srgbClr val="EAE4D8"/>
                    </a:solidFill>
                  </a:tcPr>
                </a:tc>
                <a:tc>
                  <a:txBody>
                    <a:bodyPr/>
                    <a:lstStyle/>
                    <a:p>
                      <a:pPr algn="ctr">
                        <a:defRPr sz="869" b="1">
                          <a:solidFill>
                            <a:srgbClr val="232D38"/>
                          </a:solidFill>
                          <a:latin typeface="Microsoft JhengHei"/>
                        </a:defRPr>
                      </a:pPr>
                      <a:r>
                        <a:t>類型</a:t>
                      </a:r>
                    </a:p>
                  </a:txBody>
                  <a:tcPr anchor="ctr">
                    <a:solidFill>
                      <a:srgbClr val="EAE4D8"/>
                    </a:solidFill>
                  </a:tcPr>
                </a:tc>
                <a:tc>
                  <a:txBody>
                    <a:bodyPr/>
                    <a:lstStyle/>
                    <a:p>
                      <a:pPr algn="ctr">
                        <a:defRPr sz="869" b="1">
                          <a:solidFill>
                            <a:srgbClr val="232D38"/>
                          </a:solidFill>
                          <a:latin typeface="Microsoft JhengHei"/>
                        </a:defRPr>
                      </a:pPr>
                      <a:r>
                        <a:t>GitHub ⭐</a:t>
                      </a:r>
                    </a:p>
                  </a:txBody>
                  <a:tcPr anchor="ctr">
                    <a:solidFill>
                      <a:srgbClr val="EAE4D8"/>
                    </a:solidFill>
                  </a:tcPr>
                </a:tc>
                <a:tc>
                  <a:txBody>
                    <a:bodyPr/>
                    <a:lstStyle/>
                    <a:p>
                      <a:pPr algn="l">
                        <a:defRPr sz="869" b="1">
                          <a:solidFill>
                            <a:srgbClr val="232D38"/>
                          </a:solidFill>
                          <a:latin typeface="Microsoft JhengHei"/>
                        </a:defRPr>
                      </a:pPr>
                      <a:r>
                        <a:t>月活 / 安裝量規模</a:t>
                      </a:r>
                    </a:p>
                  </a:txBody>
                  <a:tcPr anchor="ctr">
                    <a:solidFill>
                      <a:srgbClr val="EAE4D8"/>
                    </a:solidFill>
                  </a:tcPr>
                </a:tc>
                <a:tc>
                  <a:txBody>
                    <a:bodyPr/>
                    <a:lstStyle/>
                    <a:p>
                      <a:pPr algn="ctr">
                        <a:defRPr sz="869" b="1">
                          <a:solidFill>
                            <a:srgbClr val="232D38"/>
                          </a:solidFill>
                          <a:latin typeface="Microsoft JhengHei"/>
                        </a:defRPr>
                      </a:pPr>
                      <a:r>
                        <a:t>定價模式</a:t>
                      </a:r>
                    </a:p>
                  </a:txBody>
                  <a:tcPr anchor="ctr">
                    <a:solidFill>
                      <a:srgbClr val="EAE4D8"/>
                    </a:solidFill>
                  </a:tcPr>
                </a:tc>
                <a:tc>
                  <a:txBody>
                    <a:bodyPr/>
                    <a:lstStyle/>
                    <a:p>
                      <a:pPr algn="ctr">
                        <a:defRPr sz="869" b="1">
                          <a:solidFill>
                            <a:srgbClr val="232D38"/>
                          </a:solidFill>
                          <a:latin typeface="Microsoft JhengHei"/>
                        </a:defRPr>
                      </a:pPr>
                      <a:r>
                        <a:t>SWE-bench</a:t>
                      </a:r>
                    </a:p>
                  </a:txBody>
                  <a:tcPr anchor="ctr">
                    <a:solidFill>
                      <a:srgbClr val="EAE4D8"/>
                    </a:solidFill>
                  </a:tcPr>
                </a:tc>
                <a:tc>
                  <a:txBody>
                    <a:bodyPr/>
                    <a:lstStyle/>
                    <a:p>
                      <a:pPr algn="ctr">
                        <a:defRPr sz="869" b="1">
                          <a:solidFill>
                            <a:srgbClr val="232D38"/>
                          </a:solidFill>
                          <a:latin typeface="Microsoft JhengHei"/>
                        </a:defRPr>
                      </a:pPr>
                      <a:r>
                        <a:t>成熟度</a:t>
                      </a:r>
                    </a:p>
                  </a:txBody>
                  <a:tcPr anchor="ctr">
                    <a:solidFill>
                      <a:srgbClr val="EAE4D8"/>
                    </a:solidFill>
                  </a:tcPr>
                </a:tc>
              </a:tr>
              <a:tr h="291904">
                <a:tc>
                  <a:txBody>
                    <a:bodyPr/>
                    <a:lstStyle/>
                    <a:p>
                      <a:pPr algn="l">
                        <a:defRPr sz="819" b="1">
                          <a:solidFill>
                            <a:srgbClr val="232D38"/>
                          </a:solidFill>
                          <a:latin typeface="Microsoft JhengHei"/>
                        </a:defRPr>
                      </a:pPr>
                      <a:r>
                        <a:t>Claude Code</a:t>
                      </a:r>
                    </a:p>
                  </a:txBody>
                  <a:tcPr anchor="ctr">
                    <a:solidFill>
                      <a:srgbClr val="FDFCFA"/>
                    </a:solidFill>
                  </a:tcPr>
                </a:tc>
                <a:tc>
                  <a:txBody>
                    <a:bodyPr/>
                    <a:lstStyle/>
                    <a:p>
                      <a:pPr algn="ctr">
                        <a:defRPr sz="819" b="1">
                          <a:solidFill>
                            <a:srgbClr val="9E5A38"/>
                          </a:solidFill>
                          <a:latin typeface="Microsoft JhengHei"/>
                        </a:defRPr>
                      </a:pPr>
                      <a:r>
                        <a:t>商業 (終端)</a:t>
                      </a:r>
                    </a:p>
                  </a:txBody>
                  <a:tcPr anchor="ctr">
                    <a:solidFill>
                      <a:srgbClr val="FDFCFA"/>
                    </a:solidFill>
                  </a:tcPr>
                </a:tc>
                <a:tc>
                  <a:txBody>
                    <a:bodyPr/>
                    <a:lstStyle/>
                    <a:p>
                      <a:pPr algn="ctr">
                        <a:defRPr sz="819">
                          <a:solidFill>
                            <a:srgbClr val="4A5568"/>
                          </a:solidFill>
                          <a:latin typeface="Microsoft JhengHei"/>
                        </a:defRPr>
                      </a:pPr>
                      <a:r>
                        <a:t>~81.6K (SDK)</a:t>
                      </a:r>
                    </a:p>
                  </a:txBody>
                  <a:tcPr anchor="ctr">
                    <a:solidFill>
                      <a:srgbClr val="FDFCFA"/>
                    </a:solidFill>
                  </a:tcPr>
                </a:tc>
                <a:tc>
                  <a:txBody>
                    <a:bodyPr/>
                    <a:lstStyle/>
                    <a:p>
                      <a:pPr algn="l">
                        <a:defRPr sz="819">
                          <a:solidFill>
                            <a:srgbClr val="4A5568"/>
                          </a:solidFill>
                          <a:latin typeface="Microsoft JhengHei"/>
                        </a:defRPr>
                      </a:pPr>
                      <a:r>
                        <a:t>350–500 萬 MAU (Pro/Team)</a:t>
                      </a:r>
                    </a:p>
                  </a:txBody>
                  <a:tcPr anchor="ctr">
                    <a:solidFill>
                      <a:srgbClr val="FDFCFA"/>
                    </a:solidFill>
                  </a:tcPr>
                </a:tc>
                <a:tc>
                  <a:txBody>
                    <a:bodyPr/>
                    <a:lstStyle/>
                    <a:p>
                      <a:pPr algn="ctr">
                        <a:defRPr sz="819">
                          <a:solidFill>
                            <a:srgbClr val="4A5568"/>
                          </a:solidFill>
                          <a:latin typeface="Microsoft JhengHei"/>
                        </a:defRPr>
                      </a:pPr>
                      <a:r>
                        <a:t>$20–200/月</a:t>
                      </a:r>
                    </a:p>
                  </a:txBody>
                  <a:tcPr anchor="ctr">
                    <a:solidFill>
                      <a:srgbClr val="FDFCFA"/>
                    </a:solidFill>
                  </a:tcPr>
                </a:tc>
                <a:tc>
                  <a:txBody>
                    <a:bodyPr/>
                    <a:lstStyle/>
                    <a:p>
                      <a:pPr algn="ctr">
                        <a:defRPr sz="819" b="1">
                          <a:solidFill>
                            <a:srgbClr val="9E5A38"/>
                          </a:solidFill>
                          <a:latin typeface="Microsoft JhengHei"/>
                        </a:defRPr>
                      </a:pPr>
                      <a:r>
                        <a:t>🥇 極高 (Opus 5)</a:t>
                      </a:r>
                    </a:p>
                  </a:txBody>
                  <a:tcPr anchor="ctr">
                    <a:solidFill>
                      <a:srgbClr val="FDFCFA"/>
                    </a:solidFill>
                  </a:tcPr>
                </a:tc>
                <a:tc>
                  <a:txBody>
                    <a:bodyPr/>
                    <a:lstStyle/>
                    <a:p>
                      <a:pPr algn="ctr">
                        <a:defRPr sz="819" b="1">
                          <a:solidFill>
                            <a:srgbClr val="9E5A38"/>
                          </a:solidFill>
                          <a:latin typeface="Microsoft JhengHei"/>
                        </a:defRPr>
                      </a:pPr>
                      <a:r>
                        <a:t>★★★★★</a:t>
                      </a:r>
                    </a:p>
                  </a:txBody>
                  <a:tcPr anchor="ctr">
                    <a:solidFill>
                      <a:srgbClr val="FDFCFA"/>
                    </a:solidFill>
                  </a:tcPr>
                </a:tc>
              </a:tr>
              <a:tr h="291904">
                <a:tc>
                  <a:txBody>
                    <a:bodyPr/>
                    <a:lstStyle/>
                    <a:p>
                      <a:pPr algn="l">
                        <a:defRPr sz="819" b="1">
                          <a:solidFill>
                            <a:srgbClr val="232D38"/>
                          </a:solidFill>
                          <a:latin typeface="Microsoft JhengHei"/>
                        </a:defRPr>
                      </a:pPr>
                      <a:r>
                        <a:t>OpenAI Codex</a:t>
                      </a:r>
                    </a:p>
                  </a:txBody>
                  <a:tcPr anchor="ctr">
                    <a:solidFill>
                      <a:srgbClr val="F7F4ED"/>
                    </a:solidFill>
                  </a:tcPr>
                </a:tc>
                <a:tc>
                  <a:txBody>
                    <a:bodyPr/>
                    <a:lstStyle/>
                    <a:p>
                      <a:pPr algn="ctr">
                        <a:defRPr sz="819" b="1">
                          <a:solidFill>
                            <a:srgbClr val="9E5A38"/>
                          </a:solidFill>
                          <a:latin typeface="Microsoft JhengHei"/>
                        </a:defRPr>
                      </a:pPr>
                      <a:r>
                        <a:t>商業 (模式)</a:t>
                      </a:r>
                    </a:p>
                  </a:txBody>
                  <a:tcPr anchor="ctr">
                    <a:solidFill>
                      <a:srgbClr val="F7F4ED"/>
                    </a:solidFill>
                  </a:tcPr>
                </a:tc>
                <a:tc>
                  <a:txBody>
                    <a:bodyPr/>
                    <a:lstStyle/>
                    <a:p>
                      <a:pPr algn="ctr">
                        <a:defRPr sz="819">
                          <a:solidFill>
                            <a:srgbClr val="4A5568"/>
                          </a:solidFill>
                          <a:latin typeface="Microsoft JhengHei"/>
                        </a:defRPr>
                      </a:pPr>
                      <a:r>
                        <a:t>專有閉環</a:t>
                      </a:r>
                    </a:p>
                  </a:txBody>
                  <a:tcPr anchor="ctr">
                    <a:solidFill>
                      <a:srgbClr val="F7F4ED"/>
                    </a:solidFill>
                  </a:tcPr>
                </a:tc>
                <a:tc>
                  <a:txBody>
                    <a:bodyPr/>
                    <a:lstStyle/>
                    <a:p>
                      <a:pPr algn="l">
                        <a:defRPr sz="819">
                          <a:solidFill>
                            <a:srgbClr val="4A5568"/>
                          </a:solidFill>
                          <a:latin typeface="Microsoft JhengHei"/>
                        </a:defRPr>
                      </a:pPr>
                      <a:r>
                        <a:t>2.5 億+ WAU (ChatGPT)</a:t>
                      </a:r>
                    </a:p>
                  </a:txBody>
                  <a:tcPr anchor="ctr">
                    <a:solidFill>
                      <a:srgbClr val="F7F4ED"/>
                    </a:solidFill>
                  </a:tcPr>
                </a:tc>
                <a:tc>
                  <a:txBody>
                    <a:bodyPr/>
                    <a:lstStyle/>
                    <a:p>
                      <a:pPr algn="ctr">
                        <a:defRPr sz="819">
                          <a:solidFill>
                            <a:srgbClr val="4A5568"/>
                          </a:solidFill>
                          <a:latin typeface="Microsoft JhengHei"/>
                        </a:defRPr>
                      </a:pPr>
                      <a:r>
                        <a:t>Plus/Pro/企業</a:t>
                      </a:r>
                    </a:p>
                  </a:txBody>
                  <a:tcPr anchor="ctr">
                    <a:solidFill>
                      <a:srgbClr val="F7F4ED"/>
                    </a:solidFill>
                  </a:tcPr>
                </a:tc>
                <a:tc>
                  <a:txBody>
                    <a:bodyPr/>
                    <a:lstStyle/>
                    <a:p>
                      <a:pPr algn="ctr">
                        <a:defRPr sz="819" b="1">
                          <a:solidFill>
                            <a:srgbClr val="9E5A38"/>
                          </a:solidFill>
                          <a:latin typeface="Microsoft JhengHei"/>
                        </a:defRPr>
                      </a:pPr>
                      <a:r>
                        <a:t>🥇 極高 (GPT-6)</a:t>
                      </a:r>
                    </a:p>
                  </a:txBody>
                  <a:tcPr anchor="ctr">
                    <a:solidFill>
                      <a:srgbClr val="F7F4ED"/>
                    </a:solidFill>
                  </a:tcPr>
                </a:tc>
                <a:tc>
                  <a:txBody>
                    <a:bodyPr/>
                    <a:lstStyle/>
                    <a:p>
                      <a:pPr algn="ctr">
                        <a:defRPr sz="819" b="1">
                          <a:solidFill>
                            <a:srgbClr val="9E5A38"/>
                          </a:solidFill>
                          <a:latin typeface="Microsoft JhengHei"/>
                        </a:defRPr>
                      </a:pPr>
                      <a:r>
                        <a:t>★★★★★</a:t>
                      </a:r>
                    </a:p>
                  </a:txBody>
                  <a:tcPr anchor="ctr">
                    <a:solidFill>
                      <a:srgbClr val="F7F4ED"/>
                    </a:solidFill>
                  </a:tcPr>
                </a:tc>
              </a:tr>
              <a:tr h="291904">
                <a:tc>
                  <a:txBody>
                    <a:bodyPr/>
                    <a:lstStyle/>
                    <a:p>
                      <a:pPr algn="l">
                        <a:defRPr sz="819" b="1">
                          <a:solidFill>
                            <a:srgbClr val="232D38"/>
                          </a:solidFill>
                          <a:latin typeface="Microsoft JhengHei"/>
                        </a:defRPr>
                      </a:pPr>
                      <a:r>
                        <a:t>Antigravity 2.0</a:t>
                      </a:r>
                    </a:p>
                  </a:txBody>
                  <a:tcPr anchor="ctr">
                    <a:solidFill>
                      <a:srgbClr val="FDFCFA"/>
                    </a:solidFill>
                  </a:tcPr>
                </a:tc>
                <a:tc>
                  <a:txBody>
                    <a:bodyPr/>
                    <a:lstStyle/>
                    <a:p>
                      <a:pPr algn="ctr">
                        <a:defRPr sz="819" b="1">
                          <a:solidFill>
                            <a:srgbClr val="9E5A38"/>
                          </a:solidFill>
                          <a:latin typeface="Microsoft JhengHei"/>
                        </a:defRPr>
                      </a:pPr>
                      <a:r>
                        <a:t>商業 (Swarm)</a:t>
                      </a:r>
                    </a:p>
                  </a:txBody>
                  <a:tcPr anchor="ctr">
                    <a:solidFill>
                      <a:srgbClr val="FDFCFA"/>
                    </a:solidFill>
                  </a:tcPr>
                </a:tc>
                <a:tc>
                  <a:txBody>
                    <a:bodyPr/>
                    <a:lstStyle/>
                    <a:p>
                      <a:pPr algn="ctr">
                        <a:defRPr sz="819">
                          <a:solidFill>
                            <a:srgbClr val="4A5568"/>
                          </a:solidFill>
                          <a:latin typeface="Microsoft JhengHei"/>
                        </a:defRPr>
                      </a:pPr>
                      <a:r>
                        <a:t>專有閉環</a:t>
                      </a:r>
                    </a:p>
                  </a:txBody>
                  <a:tcPr anchor="ctr">
                    <a:solidFill>
                      <a:srgbClr val="FDFCFA"/>
                    </a:solidFill>
                  </a:tcPr>
                </a:tc>
                <a:tc>
                  <a:txBody>
                    <a:bodyPr/>
                    <a:lstStyle/>
                    <a:p>
                      <a:pPr algn="l">
                        <a:defRPr sz="819">
                          <a:solidFill>
                            <a:srgbClr val="4A5568"/>
                          </a:solidFill>
                          <a:latin typeface="Microsoft JhengHei"/>
                        </a:defRPr>
                      </a:pPr>
                      <a:r>
                        <a:t>120–200 萬 (AI Ultra)</a:t>
                      </a:r>
                    </a:p>
                  </a:txBody>
                  <a:tcPr anchor="ctr">
                    <a:solidFill>
                      <a:srgbClr val="FDFCFA"/>
                    </a:solidFill>
                  </a:tcPr>
                </a:tc>
                <a:tc>
                  <a:txBody>
                    <a:bodyPr/>
                    <a:lstStyle/>
                    <a:p>
                      <a:pPr algn="ctr">
                        <a:defRPr sz="819">
                          <a:solidFill>
                            <a:srgbClr val="4A5568"/>
                          </a:solidFill>
                          <a:latin typeface="Microsoft JhengHei"/>
                        </a:defRPr>
                      </a:pPr>
                      <a:r>
                        <a:t>$100/月 (Ultra)</a:t>
                      </a:r>
                    </a:p>
                  </a:txBody>
                  <a:tcPr anchor="ctr">
                    <a:solidFill>
                      <a:srgbClr val="FDFCFA"/>
                    </a:solidFill>
                  </a:tcPr>
                </a:tc>
                <a:tc>
                  <a:txBody>
                    <a:bodyPr/>
                    <a:lstStyle/>
                    <a:p>
                      <a:pPr algn="ctr">
                        <a:defRPr sz="819" b="1">
                          <a:solidFill>
                            <a:srgbClr val="9E5A38"/>
                          </a:solidFill>
                          <a:latin typeface="Microsoft JhengHei"/>
                        </a:defRPr>
                      </a:pPr>
                      <a:r>
                        <a:t>🥇 極高 (Gemini 3)</a:t>
                      </a:r>
                    </a:p>
                  </a:txBody>
                  <a:tcPr anchor="ctr">
                    <a:solidFill>
                      <a:srgbClr val="FDFCFA"/>
                    </a:solidFill>
                  </a:tcPr>
                </a:tc>
                <a:tc>
                  <a:txBody>
                    <a:bodyPr/>
                    <a:lstStyle/>
                    <a:p>
                      <a:pPr algn="ctr">
                        <a:defRPr sz="819">
                          <a:solidFill>
                            <a:srgbClr val="3B6E58"/>
                          </a:solidFill>
                          <a:latin typeface="Microsoft JhengHei"/>
                        </a:defRPr>
                      </a:pPr>
                      <a:r>
                        <a:t>★★★★☆</a:t>
                      </a:r>
                    </a:p>
                  </a:txBody>
                  <a:tcPr anchor="ctr">
                    <a:solidFill>
                      <a:srgbClr val="FDFCFA"/>
                    </a:solidFill>
                  </a:tcPr>
                </a:tc>
              </a:tr>
              <a:tr h="291904">
                <a:tc>
                  <a:txBody>
                    <a:bodyPr/>
                    <a:lstStyle/>
                    <a:p>
                      <a:pPr algn="l">
                        <a:defRPr sz="819" b="1">
                          <a:solidFill>
                            <a:srgbClr val="232D38"/>
                          </a:solidFill>
                          <a:latin typeface="Microsoft JhengHei"/>
                        </a:defRPr>
                      </a:pPr>
                      <a:r>
                        <a:t>Cursor</a:t>
                      </a:r>
                    </a:p>
                  </a:txBody>
                  <a:tcPr anchor="ctr">
                    <a:solidFill>
                      <a:srgbClr val="F7F4ED"/>
                    </a:solidFill>
                  </a:tcPr>
                </a:tc>
                <a:tc>
                  <a:txBody>
                    <a:bodyPr/>
                    <a:lstStyle/>
                    <a:p>
                      <a:pPr algn="ctr">
                        <a:defRPr sz="819" b="1">
                          <a:solidFill>
                            <a:srgbClr val="9E5A38"/>
                          </a:solidFill>
                          <a:latin typeface="Microsoft JhengHei"/>
                        </a:defRPr>
                      </a:pPr>
                      <a:r>
                        <a:t>商業 (IDE)</a:t>
                      </a:r>
                    </a:p>
                  </a:txBody>
                  <a:tcPr anchor="ctr">
                    <a:solidFill>
                      <a:srgbClr val="F7F4ED"/>
                    </a:solidFill>
                  </a:tcPr>
                </a:tc>
                <a:tc>
                  <a:txBody>
                    <a:bodyPr/>
                    <a:lstStyle/>
                    <a:p>
                      <a:pPr algn="ctr">
                        <a:defRPr sz="819">
                          <a:solidFill>
                            <a:srgbClr val="4A5568"/>
                          </a:solidFill>
                          <a:latin typeface="Microsoft JhengHei"/>
                        </a:defRPr>
                      </a:pPr>
                      <a:r>
                        <a:t>~33.3K (非核)</a:t>
                      </a:r>
                    </a:p>
                  </a:txBody>
                  <a:tcPr anchor="ctr">
                    <a:solidFill>
                      <a:srgbClr val="F7F4ED"/>
                    </a:solidFill>
                  </a:tcPr>
                </a:tc>
                <a:tc>
                  <a:txBody>
                    <a:bodyPr/>
                    <a:lstStyle/>
                    <a:p>
                      <a:pPr algn="l">
                        <a:defRPr sz="819">
                          <a:solidFill>
                            <a:srgbClr val="4A5568"/>
                          </a:solidFill>
                          <a:latin typeface="Microsoft JhengHei"/>
                        </a:defRPr>
                      </a:pPr>
                      <a:r>
                        <a:t>130 萬+ 付費用戶 (&gt;300萬MAU)</a:t>
                      </a:r>
                    </a:p>
                  </a:txBody>
                  <a:tcPr anchor="ctr">
                    <a:solidFill>
                      <a:srgbClr val="F7F4ED"/>
                    </a:solidFill>
                  </a:tcPr>
                </a:tc>
                <a:tc>
                  <a:txBody>
                    <a:bodyPr/>
                    <a:lstStyle/>
                    <a:p>
                      <a:pPr algn="ctr">
                        <a:defRPr sz="819">
                          <a:solidFill>
                            <a:srgbClr val="4A5568"/>
                          </a:solidFill>
                          <a:latin typeface="Microsoft JhengHei"/>
                        </a:defRPr>
                      </a:pPr>
                      <a:r>
                        <a:t>$20–200/月</a:t>
                      </a:r>
                    </a:p>
                  </a:txBody>
                  <a:tcPr anchor="ctr">
                    <a:solidFill>
                      <a:srgbClr val="F7F4ED"/>
                    </a:solidFill>
                  </a:tcPr>
                </a:tc>
                <a:tc>
                  <a:txBody>
                    <a:bodyPr/>
                    <a:lstStyle/>
                    <a:p>
                      <a:pPr algn="ctr">
                        <a:defRPr sz="819">
                          <a:solidFill>
                            <a:srgbClr val="4A5568"/>
                          </a:solidFill>
                          <a:latin typeface="Microsoft JhengHei"/>
                        </a:defRPr>
                      </a:pPr>
                      <a:r>
                        <a:t>高 (優化補全)</a:t>
                      </a:r>
                    </a:p>
                  </a:txBody>
                  <a:tcPr anchor="ctr">
                    <a:solidFill>
                      <a:srgbClr val="F7F4ED"/>
                    </a:solidFill>
                  </a:tcPr>
                </a:tc>
                <a:tc>
                  <a:txBody>
                    <a:bodyPr/>
                    <a:lstStyle/>
                    <a:p>
                      <a:pPr algn="ctr">
                        <a:defRPr sz="819" b="1">
                          <a:solidFill>
                            <a:srgbClr val="9E5A38"/>
                          </a:solidFill>
                          <a:latin typeface="Microsoft JhengHei"/>
                        </a:defRPr>
                      </a:pPr>
                      <a:r>
                        <a:t>★★★★★</a:t>
                      </a:r>
                    </a:p>
                  </a:txBody>
                  <a:tcPr anchor="ctr">
                    <a:solidFill>
                      <a:srgbClr val="F7F4ED"/>
                    </a:solidFill>
                  </a:tcPr>
                </a:tc>
              </a:tr>
              <a:tr h="291904">
                <a:tc>
                  <a:txBody>
                    <a:bodyPr/>
                    <a:lstStyle/>
                    <a:p>
                      <a:pPr algn="l">
                        <a:defRPr sz="819" b="1">
                          <a:solidFill>
                            <a:srgbClr val="232D38"/>
                          </a:solidFill>
                          <a:latin typeface="Microsoft JhengHei"/>
                        </a:defRPr>
                      </a:pPr>
                      <a:r>
                        <a:t>Windsurf→Devin</a:t>
                      </a:r>
                    </a:p>
                  </a:txBody>
                  <a:tcPr anchor="ctr">
                    <a:solidFill>
                      <a:srgbClr val="FDFCFA"/>
                    </a:solidFill>
                  </a:tcPr>
                </a:tc>
                <a:tc>
                  <a:txBody>
                    <a:bodyPr/>
                    <a:lstStyle/>
                    <a:p>
                      <a:pPr algn="ctr">
                        <a:defRPr sz="819" b="1">
                          <a:solidFill>
                            <a:srgbClr val="9E5A38"/>
                          </a:solidFill>
                          <a:latin typeface="Microsoft JhengHei"/>
                        </a:defRPr>
                      </a:pPr>
                      <a:r>
                        <a:t>商業 (Agent)</a:t>
                      </a:r>
                    </a:p>
                  </a:txBody>
                  <a:tcPr anchor="ctr">
                    <a:solidFill>
                      <a:srgbClr val="FDFCFA"/>
                    </a:solidFill>
                  </a:tcPr>
                </a:tc>
                <a:tc>
                  <a:txBody>
                    <a:bodyPr/>
                    <a:lstStyle/>
                    <a:p>
                      <a:pPr algn="ctr">
                        <a:defRPr sz="819">
                          <a:solidFill>
                            <a:srgbClr val="4A5568"/>
                          </a:solidFill>
                          <a:latin typeface="Microsoft JhengHei"/>
                        </a:defRPr>
                      </a:pPr>
                      <a:r>
                        <a:t>專有閉環</a:t>
                      </a:r>
                    </a:p>
                  </a:txBody>
                  <a:tcPr anchor="ctr">
                    <a:solidFill>
                      <a:srgbClr val="FDFCFA"/>
                    </a:solidFill>
                  </a:tcPr>
                </a:tc>
                <a:tc>
                  <a:txBody>
                    <a:bodyPr/>
                    <a:lstStyle/>
                    <a:p>
                      <a:pPr algn="l">
                        <a:defRPr sz="819">
                          <a:solidFill>
                            <a:srgbClr val="4A5568"/>
                          </a:solidFill>
                          <a:latin typeface="Microsoft JhengHei"/>
                        </a:defRPr>
                      </a:pPr>
                      <a:r>
                        <a:t>100–150 萬 開發者 (Cognition)</a:t>
                      </a:r>
                    </a:p>
                  </a:txBody>
                  <a:tcPr anchor="ctr">
                    <a:solidFill>
                      <a:srgbClr val="FDFCFA"/>
                    </a:solidFill>
                  </a:tcPr>
                </a:tc>
                <a:tc>
                  <a:txBody>
                    <a:bodyPr/>
                    <a:lstStyle/>
                    <a:p>
                      <a:pPr algn="ctr">
                        <a:defRPr sz="819">
                          <a:solidFill>
                            <a:srgbClr val="4A5568"/>
                          </a:solidFill>
                          <a:latin typeface="Microsoft JhengHei"/>
                        </a:defRPr>
                      </a:pPr>
                      <a:r>
                        <a:t>$20–200/月</a:t>
                      </a:r>
                    </a:p>
                  </a:txBody>
                  <a:tcPr anchor="ctr">
                    <a:solidFill>
                      <a:srgbClr val="FDFCFA"/>
                    </a:solidFill>
                  </a:tcPr>
                </a:tc>
                <a:tc>
                  <a:txBody>
                    <a:bodyPr/>
                    <a:lstStyle/>
                    <a:p>
                      <a:pPr algn="ctr">
                        <a:defRPr sz="819">
                          <a:solidFill>
                            <a:srgbClr val="4A5568"/>
                          </a:solidFill>
                          <a:latin typeface="Microsoft JhengHei"/>
                        </a:defRPr>
                      </a:pPr>
                      <a:r>
                        <a:t>高 (SWE-1)</a:t>
                      </a:r>
                    </a:p>
                  </a:txBody>
                  <a:tcPr anchor="ctr">
                    <a:solidFill>
                      <a:srgbClr val="FDFCFA"/>
                    </a:solidFill>
                  </a:tcPr>
                </a:tc>
                <a:tc>
                  <a:txBody>
                    <a:bodyPr/>
                    <a:lstStyle/>
                    <a:p>
                      <a:pPr algn="ctr">
                        <a:defRPr sz="819">
                          <a:solidFill>
                            <a:srgbClr val="3B6E58"/>
                          </a:solidFill>
                          <a:latin typeface="Microsoft JhengHei"/>
                        </a:defRPr>
                      </a:pPr>
                      <a:r>
                        <a:t>★★★★☆</a:t>
                      </a:r>
                    </a:p>
                  </a:txBody>
                  <a:tcPr anchor="ctr">
                    <a:solidFill>
                      <a:srgbClr val="FDFCFA"/>
                    </a:solidFill>
                  </a:tcPr>
                </a:tc>
              </a:tr>
              <a:tr h="291904">
                <a:tc>
                  <a:txBody>
                    <a:bodyPr/>
                    <a:lstStyle/>
                    <a:p>
                      <a:pPr algn="l">
                        <a:defRPr sz="819" b="1">
                          <a:solidFill>
                            <a:srgbClr val="232D38"/>
                          </a:solidFill>
                          <a:latin typeface="Microsoft JhengHei"/>
                        </a:defRPr>
                      </a:pPr>
                      <a:r>
                        <a:t>OpenCode</a:t>
                      </a:r>
                    </a:p>
                  </a:txBody>
                  <a:tcPr anchor="ctr">
                    <a:solidFill>
                      <a:srgbClr val="F7F4ED"/>
                    </a:solidFill>
                  </a:tcPr>
                </a:tc>
                <a:tc>
                  <a:txBody>
                    <a:bodyPr/>
                    <a:lstStyle/>
                    <a:p>
                      <a:pPr algn="ctr">
                        <a:defRPr sz="819" b="1">
                          <a:solidFill>
                            <a:srgbClr val="3B6E58"/>
                          </a:solidFill>
                          <a:latin typeface="Microsoft JhengHei"/>
                        </a:defRPr>
                      </a:pPr>
                      <a:r>
                        <a:t>開源 (IDE/CLI)</a:t>
                      </a:r>
                    </a:p>
                  </a:txBody>
                  <a:tcPr anchor="ctr">
                    <a:solidFill>
                      <a:srgbClr val="F7F4ED"/>
                    </a:solidFill>
                  </a:tcPr>
                </a:tc>
                <a:tc>
                  <a:txBody>
                    <a:bodyPr/>
                    <a:lstStyle/>
                    <a:p>
                      <a:pPr algn="ctr">
                        <a:defRPr sz="819">
                          <a:solidFill>
                            <a:srgbClr val="4A5568"/>
                          </a:solidFill>
                          <a:latin typeface="Microsoft JhengHei"/>
                        </a:defRPr>
                      </a:pPr>
                      <a:r>
                        <a:t>~180.0K</a:t>
                      </a:r>
                    </a:p>
                  </a:txBody>
                  <a:tcPr anchor="ctr">
                    <a:solidFill>
                      <a:srgbClr val="F7F4ED"/>
                    </a:solidFill>
                  </a:tcPr>
                </a:tc>
                <a:tc>
                  <a:txBody>
                    <a:bodyPr/>
                    <a:lstStyle/>
                    <a:p>
                      <a:pPr algn="l">
                        <a:defRPr sz="819">
                          <a:solidFill>
                            <a:srgbClr val="4A5568"/>
                          </a:solidFill>
                          <a:latin typeface="Microsoft JhengHei"/>
                        </a:defRPr>
                      </a:pPr>
                      <a:r>
                        <a:t>280–350 萬 活躍開發者</a:t>
                      </a:r>
                    </a:p>
                  </a:txBody>
                  <a:tcPr anchor="ctr">
                    <a:solidFill>
                      <a:srgbClr val="F7F4ED"/>
                    </a:solidFill>
                  </a:tcPr>
                </a:tc>
                <a:tc>
                  <a:txBody>
                    <a:bodyPr/>
                    <a:lstStyle/>
                    <a:p>
                      <a:pPr algn="ctr">
                        <a:defRPr sz="819">
                          <a:solidFill>
                            <a:srgbClr val="4A5568"/>
                          </a:solidFill>
                          <a:latin typeface="Microsoft JhengHei"/>
                        </a:defRPr>
                      </a:pPr>
                      <a:r>
                        <a:t>免費 / BYOK</a:t>
                      </a:r>
                    </a:p>
                  </a:txBody>
                  <a:tcPr anchor="ctr">
                    <a:solidFill>
                      <a:srgbClr val="F7F4ED"/>
                    </a:solidFill>
                  </a:tcPr>
                </a:tc>
                <a:tc>
                  <a:txBody>
                    <a:bodyPr/>
                    <a:lstStyle/>
                    <a:p>
                      <a:pPr algn="ctr">
                        <a:defRPr sz="819">
                          <a:solidFill>
                            <a:srgbClr val="4A5568"/>
                          </a:solidFill>
                          <a:latin typeface="Microsoft JhengHei"/>
                        </a:defRPr>
                      </a:pPr>
                      <a:r>
                        <a:t>高 (跨模型整合)</a:t>
                      </a:r>
                    </a:p>
                  </a:txBody>
                  <a:tcPr anchor="ctr">
                    <a:solidFill>
                      <a:srgbClr val="F7F4ED"/>
                    </a:solidFill>
                  </a:tcPr>
                </a:tc>
                <a:tc>
                  <a:txBody>
                    <a:bodyPr/>
                    <a:lstStyle/>
                    <a:p>
                      <a:pPr algn="ctr">
                        <a:defRPr sz="819">
                          <a:solidFill>
                            <a:srgbClr val="3B6E58"/>
                          </a:solidFill>
                          <a:latin typeface="Microsoft JhengHei"/>
                        </a:defRPr>
                      </a:pPr>
                      <a:r>
                        <a:t>★★★★☆</a:t>
                      </a:r>
                    </a:p>
                  </a:txBody>
                  <a:tcPr anchor="ctr">
                    <a:solidFill>
                      <a:srgbClr val="F7F4ED"/>
                    </a:solidFill>
                  </a:tcPr>
                </a:tc>
              </a:tr>
              <a:tr h="291904">
                <a:tc>
                  <a:txBody>
                    <a:bodyPr/>
                    <a:lstStyle/>
                    <a:p>
                      <a:pPr algn="l">
                        <a:defRPr sz="819" b="1">
                          <a:solidFill>
                            <a:srgbClr val="232D38"/>
                          </a:solidFill>
                          <a:latin typeface="Microsoft JhengHei"/>
                        </a:defRPr>
                      </a:pPr>
                      <a:r>
                        <a:t>Hermes</a:t>
                      </a:r>
                    </a:p>
                  </a:txBody>
                  <a:tcPr anchor="ctr">
                    <a:solidFill>
                      <a:srgbClr val="FDFCFA"/>
                    </a:solidFill>
                  </a:tcPr>
                </a:tc>
                <a:tc>
                  <a:txBody>
                    <a:bodyPr/>
                    <a:lstStyle/>
                    <a:p>
                      <a:pPr algn="ctr">
                        <a:defRPr sz="819" b="1">
                          <a:solidFill>
                            <a:srgbClr val="3B6E58"/>
                          </a:solidFill>
                          <a:latin typeface="Microsoft JhengHei"/>
                        </a:defRPr>
                      </a:pPr>
                      <a:r>
                        <a:t>開源 (自主Agent)</a:t>
                      </a:r>
                    </a:p>
                  </a:txBody>
                  <a:tcPr anchor="ctr">
                    <a:solidFill>
                      <a:srgbClr val="FDFCFA"/>
                    </a:solidFill>
                  </a:tcPr>
                </a:tc>
                <a:tc>
                  <a:txBody>
                    <a:bodyPr/>
                    <a:lstStyle/>
                    <a:p>
                      <a:pPr algn="ctr">
                        <a:defRPr sz="819">
                          <a:solidFill>
                            <a:srgbClr val="4A5568"/>
                          </a:solidFill>
                          <a:latin typeface="Microsoft JhengHei"/>
                        </a:defRPr>
                      </a:pPr>
                      <a:r>
                        <a:t>&gt;200.0K</a:t>
                      </a:r>
                    </a:p>
                  </a:txBody>
                  <a:tcPr anchor="ctr">
                    <a:solidFill>
                      <a:srgbClr val="FDFCFA"/>
                    </a:solidFill>
                  </a:tcPr>
                </a:tc>
                <a:tc>
                  <a:txBody>
                    <a:bodyPr/>
                    <a:lstStyle/>
                    <a:p>
                      <a:pPr algn="l">
                        <a:defRPr sz="819">
                          <a:solidFill>
                            <a:srgbClr val="4A5568"/>
                          </a:solidFill>
                          <a:latin typeface="Microsoft JhengHei"/>
                        </a:defRPr>
                      </a:pPr>
                      <a:r>
                        <a:t>200–280 萬 下載與自託管節點</a:t>
                      </a:r>
                    </a:p>
                  </a:txBody>
                  <a:tcPr anchor="ctr">
                    <a:solidFill>
                      <a:srgbClr val="FDFCFA"/>
                    </a:solidFill>
                  </a:tcPr>
                </a:tc>
                <a:tc>
                  <a:txBody>
                    <a:bodyPr/>
                    <a:lstStyle/>
                    <a:p>
                      <a:pPr algn="ctr">
                        <a:defRPr sz="819">
                          <a:solidFill>
                            <a:srgbClr val="4A5568"/>
                          </a:solidFill>
                          <a:latin typeface="Microsoft JhengHei"/>
                        </a:defRPr>
                      </a:pPr>
                      <a:r>
                        <a:t>免費 (MIT)</a:t>
                      </a:r>
                    </a:p>
                  </a:txBody>
                  <a:tcPr anchor="ctr">
                    <a:solidFill>
                      <a:srgbClr val="FDFCFA"/>
                    </a:solidFill>
                  </a:tcPr>
                </a:tc>
                <a:tc>
                  <a:txBody>
                    <a:bodyPr/>
                    <a:lstStyle/>
                    <a:p>
                      <a:pPr algn="ctr">
                        <a:defRPr sz="819">
                          <a:solidFill>
                            <a:srgbClr val="4A5568"/>
                          </a:solidFill>
                          <a:latin typeface="Microsoft JhengHei"/>
                        </a:defRPr>
                      </a:pPr>
                      <a:r>
                        <a:t>58.6%–80%</a:t>
                      </a:r>
                    </a:p>
                  </a:txBody>
                  <a:tcPr anchor="ctr">
                    <a:solidFill>
                      <a:srgbClr val="FDFCFA"/>
                    </a:solidFill>
                  </a:tcPr>
                </a:tc>
                <a:tc>
                  <a:txBody>
                    <a:bodyPr/>
                    <a:lstStyle/>
                    <a:p>
                      <a:pPr algn="ctr">
                        <a:defRPr sz="819">
                          <a:solidFill>
                            <a:srgbClr val="3B6E58"/>
                          </a:solidFill>
                          <a:latin typeface="Microsoft JhengHei"/>
                        </a:defRPr>
                      </a:pPr>
                      <a:r>
                        <a:t>★★★★☆</a:t>
                      </a:r>
                    </a:p>
                  </a:txBody>
                  <a:tcPr anchor="ctr">
                    <a:solidFill>
                      <a:srgbClr val="FDFCFA"/>
                    </a:solidFill>
                  </a:tcPr>
                </a:tc>
              </a:tr>
              <a:tr h="291904">
                <a:tc>
                  <a:txBody>
                    <a:bodyPr/>
                    <a:lstStyle/>
                    <a:p>
                      <a:pPr algn="l">
                        <a:defRPr sz="819" b="1">
                          <a:solidFill>
                            <a:srgbClr val="232D38"/>
                          </a:solidFill>
                          <a:latin typeface="Microsoft JhengHei"/>
                        </a:defRPr>
                      </a:pPr>
                      <a:r>
                        <a:t>Cline</a:t>
                      </a:r>
                    </a:p>
                  </a:txBody>
                  <a:tcPr anchor="ctr">
                    <a:solidFill>
                      <a:srgbClr val="F7F4ED"/>
                    </a:solidFill>
                  </a:tcPr>
                </a:tc>
                <a:tc>
                  <a:txBody>
                    <a:bodyPr/>
                    <a:lstStyle/>
                    <a:p>
                      <a:pPr algn="ctr">
                        <a:defRPr sz="819" b="1">
                          <a:solidFill>
                            <a:srgbClr val="3B6E58"/>
                          </a:solidFill>
                          <a:latin typeface="Microsoft JhengHei"/>
                        </a:defRPr>
                      </a:pPr>
                      <a:r>
                        <a:t>開源 (Extension)</a:t>
                      </a:r>
                    </a:p>
                  </a:txBody>
                  <a:tcPr anchor="ctr">
                    <a:solidFill>
                      <a:srgbClr val="F7F4ED"/>
                    </a:solidFill>
                  </a:tcPr>
                </a:tc>
                <a:tc>
                  <a:txBody>
                    <a:bodyPr/>
                    <a:lstStyle/>
                    <a:p>
                      <a:pPr algn="ctr">
                        <a:defRPr sz="819">
                          <a:solidFill>
                            <a:srgbClr val="4A5568"/>
                          </a:solidFill>
                          <a:latin typeface="Microsoft JhengHei"/>
                        </a:defRPr>
                      </a:pPr>
                      <a:r>
                        <a:t>~68.5K</a:t>
                      </a:r>
                    </a:p>
                  </a:txBody>
                  <a:tcPr anchor="ctr">
                    <a:solidFill>
                      <a:srgbClr val="F7F4ED"/>
                    </a:solidFill>
                  </a:tcPr>
                </a:tc>
                <a:tc>
                  <a:txBody>
                    <a:bodyPr/>
                    <a:lstStyle/>
                    <a:p>
                      <a:pPr algn="l">
                        <a:defRPr sz="819">
                          <a:solidFill>
                            <a:srgbClr val="4A5568"/>
                          </a:solidFill>
                          <a:latin typeface="Microsoft JhengHei"/>
                        </a:defRPr>
                      </a:pPr>
                      <a:r>
                        <a:t>480–540 萬 VS Code 下載量</a:t>
                      </a:r>
                    </a:p>
                  </a:txBody>
                  <a:tcPr anchor="ctr">
                    <a:solidFill>
                      <a:srgbClr val="F7F4ED"/>
                    </a:solidFill>
                  </a:tcPr>
                </a:tc>
                <a:tc>
                  <a:txBody>
                    <a:bodyPr/>
                    <a:lstStyle/>
                    <a:p>
                      <a:pPr algn="ctr">
                        <a:defRPr sz="819">
                          <a:solidFill>
                            <a:srgbClr val="4A5568"/>
                          </a:solidFill>
                          <a:latin typeface="Microsoft JhengHei"/>
                        </a:defRPr>
                      </a:pPr>
                      <a:r>
                        <a:t>免費 / BYOK</a:t>
                      </a:r>
                    </a:p>
                  </a:txBody>
                  <a:tcPr anchor="ctr">
                    <a:solidFill>
                      <a:srgbClr val="F7F4ED"/>
                    </a:solidFill>
                  </a:tcPr>
                </a:tc>
                <a:tc>
                  <a:txBody>
                    <a:bodyPr/>
                    <a:lstStyle/>
                    <a:p>
                      <a:pPr algn="ctr">
                        <a:defRPr sz="819">
                          <a:solidFill>
                            <a:srgbClr val="4A5568"/>
                          </a:solidFill>
                          <a:latin typeface="Microsoft JhengHei"/>
                        </a:defRPr>
                      </a:pPr>
                      <a:r>
                        <a:t>中高 (自定義Prompt)</a:t>
                      </a:r>
                    </a:p>
                  </a:txBody>
                  <a:tcPr anchor="ctr">
                    <a:solidFill>
                      <a:srgbClr val="F7F4ED"/>
                    </a:solidFill>
                  </a:tcPr>
                </a:tc>
                <a:tc>
                  <a:txBody>
                    <a:bodyPr/>
                    <a:lstStyle/>
                    <a:p>
                      <a:pPr algn="ctr">
                        <a:defRPr sz="819">
                          <a:solidFill>
                            <a:srgbClr val="3B6E58"/>
                          </a:solidFill>
                          <a:latin typeface="Microsoft JhengHei"/>
                        </a:defRPr>
                      </a:pPr>
                      <a:r>
                        <a:t>★★★★☆</a:t>
                      </a:r>
                    </a:p>
                  </a:txBody>
                  <a:tcPr anchor="ctr">
                    <a:solidFill>
                      <a:srgbClr val="F7F4ED"/>
                    </a:solidFill>
                  </a:tcPr>
                </a:tc>
              </a:tr>
              <a:tr h="291904">
                <a:tc>
                  <a:txBody>
                    <a:bodyPr/>
                    <a:lstStyle/>
                    <a:p>
                      <a:pPr algn="l">
                        <a:defRPr sz="819" b="1">
                          <a:solidFill>
                            <a:srgbClr val="232D38"/>
                          </a:solidFill>
                          <a:latin typeface="Microsoft JhengHei"/>
                        </a:defRPr>
                      </a:pPr>
                      <a:r>
                        <a:t>Goose</a:t>
                      </a:r>
                    </a:p>
                  </a:txBody>
                  <a:tcPr anchor="ctr">
                    <a:solidFill>
                      <a:srgbClr val="FDFCFA"/>
                    </a:solidFill>
                  </a:tcPr>
                </a:tc>
                <a:tc>
                  <a:txBody>
                    <a:bodyPr/>
                    <a:lstStyle/>
                    <a:p>
                      <a:pPr algn="ctr">
                        <a:defRPr sz="819" b="1">
                          <a:solidFill>
                            <a:srgbClr val="3B6E58"/>
                          </a:solidFill>
                          <a:latin typeface="Microsoft JhengHei"/>
                        </a:defRPr>
                      </a:pPr>
                      <a:r>
                        <a:t>開源 (CLI/AAIF)</a:t>
                      </a:r>
                    </a:p>
                  </a:txBody>
                  <a:tcPr anchor="ctr">
                    <a:solidFill>
                      <a:srgbClr val="FDFCFA"/>
                    </a:solidFill>
                  </a:tcPr>
                </a:tc>
                <a:tc>
                  <a:txBody>
                    <a:bodyPr/>
                    <a:lstStyle/>
                    <a:p>
                      <a:pPr algn="ctr">
                        <a:defRPr sz="819">
                          <a:solidFill>
                            <a:srgbClr val="4A5568"/>
                          </a:solidFill>
                          <a:latin typeface="Microsoft JhengHei"/>
                        </a:defRPr>
                      </a:pPr>
                      <a:r>
                        <a:t>~54.0K</a:t>
                      </a:r>
                    </a:p>
                  </a:txBody>
                  <a:tcPr anchor="ctr">
                    <a:solidFill>
                      <a:srgbClr val="FDFCFA"/>
                    </a:solidFill>
                  </a:tcPr>
                </a:tc>
                <a:tc>
                  <a:txBody>
                    <a:bodyPr/>
                    <a:lstStyle/>
                    <a:p>
                      <a:pPr algn="l">
                        <a:defRPr sz="819">
                          <a:solidFill>
                            <a:srgbClr val="4A5568"/>
                          </a:solidFill>
                          <a:latin typeface="Microsoft JhengHei"/>
                        </a:defRPr>
                      </a:pPr>
                      <a:r>
                        <a:t>120–160 萬 下載與外掛安裝</a:t>
                      </a:r>
                    </a:p>
                  </a:txBody>
                  <a:tcPr anchor="ctr">
                    <a:solidFill>
                      <a:srgbClr val="FDFCFA"/>
                    </a:solidFill>
                  </a:tcPr>
                </a:tc>
                <a:tc>
                  <a:txBody>
                    <a:bodyPr/>
                    <a:lstStyle/>
                    <a:p>
                      <a:pPr algn="ctr">
                        <a:defRPr sz="819">
                          <a:solidFill>
                            <a:srgbClr val="4A5568"/>
                          </a:solidFill>
                          <a:latin typeface="Microsoft JhengHei"/>
                        </a:defRPr>
                      </a:pPr>
                      <a:r>
                        <a:t>免費 (Apache 2.0)</a:t>
                      </a:r>
                    </a:p>
                  </a:txBody>
                  <a:tcPr anchor="ctr">
                    <a:solidFill>
                      <a:srgbClr val="FDFCFA"/>
                    </a:solidFill>
                  </a:tcPr>
                </a:tc>
                <a:tc>
                  <a:txBody>
                    <a:bodyPr/>
                    <a:lstStyle/>
                    <a:p>
                      <a:pPr algn="ctr">
                        <a:defRPr sz="819">
                          <a:solidFill>
                            <a:srgbClr val="4A5568"/>
                          </a:solidFill>
                          <a:latin typeface="Microsoft JhengHei"/>
                        </a:defRPr>
                      </a:pPr>
                      <a:r>
                        <a:t>中高 (Recipes)</a:t>
                      </a:r>
                    </a:p>
                  </a:txBody>
                  <a:tcPr anchor="ctr">
                    <a:solidFill>
                      <a:srgbClr val="FDFCFA"/>
                    </a:solidFill>
                  </a:tcPr>
                </a:tc>
                <a:tc>
                  <a:txBody>
                    <a:bodyPr/>
                    <a:lstStyle/>
                    <a:p>
                      <a:pPr algn="ctr">
                        <a:defRPr sz="819">
                          <a:solidFill>
                            <a:srgbClr val="3B6E58"/>
                          </a:solidFill>
                          <a:latin typeface="Microsoft JhengHei"/>
                        </a:defRPr>
                      </a:pPr>
                      <a:r>
                        <a:t>★★★☆☆</a:t>
                      </a:r>
                    </a:p>
                  </a:txBody>
                  <a:tcPr anchor="ctr">
                    <a:solidFill>
                      <a:srgbClr val="FDFCFA"/>
                    </a:solidFill>
                  </a:tcPr>
                </a:tc>
              </a:tr>
              <a:tr h="291904">
                <a:tc>
                  <a:txBody>
                    <a:bodyPr/>
                    <a:lstStyle/>
                    <a:p>
                      <a:pPr algn="l">
                        <a:defRPr sz="819" b="1">
                          <a:solidFill>
                            <a:srgbClr val="232D38"/>
                          </a:solidFill>
                          <a:latin typeface="Microsoft JhengHei"/>
                        </a:defRPr>
                      </a:pPr>
                      <a:r>
                        <a:t>Aider</a:t>
                      </a:r>
                    </a:p>
                  </a:txBody>
                  <a:tcPr anchor="ctr">
                    <a:solidFill>
                      <a:srgbClr val="F7F4ED"/>
                    </a:solidFill>
                  </a:tcPr>
                </a:tc>
                <a:tc>
                  <a:txBody>
                    <a:bodyPr/>
                    <a:lstStyle/>
                    <a:p>
                      <a:pPr algn="ctr">
                        <a:defRPr sz="819" b="1">
                          <a:solidFill>
                            <a:srgbClr val="3B6E58"/>
                          </a:solidFill>
                          <a:latin typeface="Microsoft JhengHei"/>
                        </a:defRPr>
                      </a:pPr>
                      <a:r>
                        <a:t>開源 (CLI結對)</a:t>
                      </a:r>
                    </a:p>
                  </a:txBody>
                  <a:tcPr anchor="ctr">
                    <a:solidFill>
                      <a:srgbClr val="F7F4ED"/>
                    </a:solidFill>
                  </a:tcPr>
                </a:tc>
                <a:tc>
                  <a:txBody>
                    <a:bodyPr/>
                    <a:lstStyle/>
                    <a:p>
                      <a:pPr algn="ctr">
                        <a:defRPr sz="819">
                          <a:solidFill>
                            <a:srgbClr val="4A5568"/>
                          </a:solidFill>
                          <a:latin typeface="Microsoft JhengHei"/>
                        </a:defRPr>
                      </a:pPr>
                      <a:r>
                        <a:t>~39.5K</a:t>
                      </a:r>
                    </a:p>
                  </a:txBody>
                  <a:tcPr anchor="ctr">
                    <a:solidFill>
                      <a:srgbClr val="F7F4ED"/>
                    </a:solidFill>
                  </a:tcPr>
                </a:tc>
                <a:tc>
                  <a:txBody>
                    <a:bodyPr/>
                    <a:lstStyle/>
                    <a:p>
                      <a:pPr algn="l">
                        <a:defRPr sz="819">
                          <a:solidFill>
                            <a:srgbClr val="4A5568"/>
                          </a:solidFill>
                          <a:latin typeface="Microsoft JhengHei"/>
                        </a:defRPr>
                      </a:pPr>
                      <a:r>
                        <a:t>420 萬+ PyPI 下載 (45萬MAU)</a:t>
                      </a:r>
                    </a:p>
                  </a:txBody>
                  <a:tcPr anchor="ctr">
                    <a:solidFill>
                      <a:srgbClr val="F7F4ED"/>
                    </a:solidFill>
                  </a:tcPr>
                </a:tc>
                <a:tc>
                  <a:txBody>
                    <a:bodyPr/>
                    <a:lstStyle/>
                    <a:p>
                      <a:pPr algn="ctr">
                        <a:defRPr sz="819">
                          <a:solidFill>
                            <a:srgbClr val="4A5568"/>
                          </a:solidFill>
                          <a:latin typeface="Microsoft JhengHei"/>
                        </a:defRPr>
                      </a:pPr>
                      <a:r>
                        <a:t>免費 / BYOK</a:t>
                      </a:r>
                    </a:p>
                  </a:txBody>
                  <a:tcPr anchor="ctr">
                    <a:solidFill>
                      <a:srgbClr val="F7F4ED"/>
                    </a:solidFill>
                  </a:tcPr>
                </a:tc>
                <a:tc>
                  <a:txBody>
                    <a:bodyPr/>
                    <a:lstStyle/>
                    <a:p>
                      <a:pPr algn="ctr">
                        <a:defRPr sz="819">
                          <a:solidFill>
                            <a:srgbClr val="4A5568"/>
                          </a:solidFill>
                          <a:latin typeface="Microsoft JhengHei"/>
                        </a:defRPr>
                      </a:pPr>
                      <a:r>
                        <a:t>中高 (Git-native)</a:t>
                      </a:r>
                    </a:p>
                  </a:txBody>
                  <a:tcPr anchor="ctr">
                    <a:solidFill>
                      <a:srgbClr val="F7F4ED"/>
                    </a:solidFill>
                  </a:tcPr>
                </a:tc>
                <a:tc>
                  <a:txBody>
                    <a:bodyPr/>
                    <a:lstStyle/>
                    <a:p>
                      <a:pPr algn="ctr">
                        <a:defRPr sz="819" b="1">
                          <a:solidFill>
                            <a:srgbClr val="9E5A38"/>
                          </a:solidFill>
                          <a:latin typeface="Microsoft JhengHei"/>
                        </a:defRPr>
                      </a:pPr>
                      <a:r>
                        <a:t>★★★★★</a:t>
                      </a:r>
                    </a:p>
                  </a:txBody>
                  <a:tcPr anchor="ctr">
                    <a:solidFill>
                      <a:srgbClr val="F7F4ED"/>
                    </a:solidFill>
                  </a:tcPr>
                </a:tc>
              </a:tr>
              <a:tr h="291904">
                <a:tc>
                  <a:txBody>
                    <a:bodyPr/>
                    <a:lstStyle/>
                    <a:p>
                      <a:pPr algn="l">
                        <a:defRPr sz="819" b="1">
                          <a:solidFill>
                            <a:srgbClr val="232D38"/>
                          </a:solidFill>
                          <a:latin typeface="Microsoft JhengHei"/>
                        </a:defRPr>
                      </a:pPr>
                      <a:r>
                        <a:t>SWE-agent</a:t>
                      </a:r>
                    </a:p>
                  </a:txBody>
                  <a:tcPr anchor="ctr">
                    <a:solidFill>
                      <a:srgbClr val="FDFCFA"/>
                    </a:solidFill>
                  </a:tcPr>
                </a:tc>
                <a:tc>
                  <a:txBody>
                    <a:bodyPr/>
                    <a:lstStyle/>
                    <a:p>
                      <a:pPr algn="ctr">
                        <a:defRPr sz="819">
                          <a:solidFill>
                            <a:srgbClr val="4A5568"/>
                          </a:solidFill>
                          <a:latin typeface="Microsoft JhengHei"/>
                        </a:defRPr>
                      </a:pPr>
                      <a:r>
                        <a:t>學術 (基準)</a:t>
                      </a:r>
                    </a:p>
                  </a:txBody>
                  <a:tcPr anchor="ctr">
                    <a:solidFill>
                      <a:srgbClr val="FDFCFA"/>
                    </a:solidFill>
                  </a:tcPr>
                </a:tc>
                <a:tc>
                  <a:txBody>
                    <a:bodyPr/>
                    <a:lstStyle/>
                    <a:p>
                      <a:pPr algn="ctr">
                        <a:defRPr sz="819">
                          <a:solidFill>
                            <a:srgbClr val="4A5568"/>
                          </a:solidFill>
                          <a:latin typeface="Microsoft JhengHei"/>
                        </a:defRPr>
                      </a:pPr>
                      <a:r>
                        <a:t>~20.0K</a:t>
                      </a:r>
                    </a:p>
                  </a:txBody>
                  <a:tcPr anchor="ctr">
                    <a:solidFill>
                      <a:srgbClr val="FDFCFA"/>
                    </a:solidFill>
                  </a:tcPr>
                </a:tc>
                <a:tc>
                  <a:txBody>
                    <a:bodyPr/>
                    <a:lstStyle/>
                    <a:p>
                      <a:pPr algn="l">
                        <a:defRPr sz="819">
                          <a:solidFill>
                            <a:srgbClr val="4A5568"/>
                          </a:solidFill>
                          <a:latin typeface="Microsoft JhengHei"/>
                        </a:defRPr>
                      </a:pPr>
                      <a:r>
                        <a:t>25–40 萬 實驗室重現安裝</a:t>
                      </a:r>
                    </a:p>
                  </a:txBody>
                  <a:tcPr anchor="ctr">
                    <a:solidFill>
                      <a:srgbClr val="FDFCFA"/>
                    </a:solidFill>
                  </a:tcPr>
                </a:tc>
                <a:tc>
                  <a:txBody>
                    <a:bodyPr/>
                    <a:lstStyle/>
                    <a:p>
                      <a:pPr algn="ctr">
                        <a:defRPr sz="819">
                          <a:solidFill>
                            <a:srgbClr val="4A5568"/>
                          </a:solidFill>
                          <a:latin typeface="Microsoft JhengHei"/>
                        </a:defRPr>
                      </a:pPr>
                      <a:r>
                        <a:t>免費 (MIT)</a:t>
                      </a:r>
                    </a:p>
                  </a:txBody>
                  <a:tcPr anchor="ctr">
                    <a:solidFill>
                      <a:srgbClr val="FDFCFA"/>
                    </a:solidFill>
                  </a:tcPr>
                </a:tc>
                <a:tc>
                  <a:txBody>
                    <a:bodyPr/>
                    <a:lstStyle/>
                    <a:p>
                      <a:pPr algn="ctr">
                        <a:defRPr sz="819">
                          <a:solidFill>
                            <a:srgbClr val="4A5568"/>
                          </a:solidFill>
                          <a:latin typeface="Microsoft JhengHei"/>
                        </a:defRPr>
                      </a:pPr>
                      <a:r>
                        <a:t>74%+ (mini)</a:t>
                      </a:r>
                    </a:p>
                  </a:txBody>
                  <a:tcPr anchor="ctr">
                    <a:solidFill>
                      <a:srgbClr val="FDFCFA"/>
                    </a:solidFill>
                  </a:tcPr>
                </a:tc>
                <a:tc>
                  <a:txBody>
                    <a:bodyPr/>
                    <a:lstStyle/>
                    <a:p>
                      <a:pPr algn="ctr">
                        <a:defRPr sz="819">
                          <a:solidFill>
                            <a:srgbClr val="3B6E58"/>
                          </a:solidFill>
                          <a:latin typeface="Microsoft JhengHei"/>
                        </a:defRPr>
                      </a:pPr>
                      <a:r>
                        <a:t>★★★☆☆</a:t>
                      </a:r>
                    </a:p>
                  </a:txBody>
                  <a:tcPr anchor="ctr">
                    <a:solidFill>
                      <a:srgbClr val="FDFCFA"/>
                    </a:solidFill>
                  </a:tcPr>
                </a:tc>
              </a:tr>
              <a:tr h="291911">
                <a:tc>
                  <a:txBody>
                    <a:bodyPr/>
                    <a:lstStyle/>
                    <a:p>
                      <a:pPr algn="l">
                        <a:defRPr sz="819" b="1">
                          <a:solidFill>
                            <a:srgbClr val="232D38"/>
                          </a:solidFill>
                          <a:latin typeface="Microsoft JhengHei"/>
                        </a:defRPr>
                      </a:pPr>
                      <a:r>
                        <a:t>LangChain DeepAgents</a:t>
                      </a:r>
                    </a:p>
                  </a:txBody>
                  <a:tcPr anchor="ctr">
                    <a:solidFill>
                      <a:srgbClr val="F7F4ED"/>
                    </a:solidFill>
                  </a:tcPr>
                </a:tc>
                <a:tc>
                  <a:txBody>
                    <a:bodyPr/>
                    <a:lstStyle/>
                    <a:p>
                      <a:pPr algn="ctr">
                        <a:defRPr sz="819" b="1">
                          <a:solidFill>
                            <a:srgbClr val="3B6E58"/>
                          </a:solidFill>
                          <a:latin typeface="Microsoft JhengHei"/>
                        </a:defRPr>
                      </a:pPr>
                      <a:r>
                        <a:t>開源 (多代理)</a:t>
                      </a:r>
                    </a:p>
                  </a:txBody>
                  <a:tcPr anchor="ctr">
                    <a:solidFill>
                      <a:srgbClr val="F7F4ED"/>
                    </a:solidFill>
                  </a:tcPr>
                </a:tc>
                <a:tc>
                  <a:txBody>
                    <a:bodyPr/>
                    <a:lstStyle/>
                    <a:p>
                      <a:pPr algn="ctr">
                        <a:defRPr sz="819">
                          <a:solidFill>
                            <a:srgbClr val="4A5568"/>
                          </a:solidFill>
                          <a:latin typeface="Microsoft JhengHei"/>
                        </a:defRPr>
                      </a:pPr>
                      <a:r>
                        <a:t>~98.0K (生態)</a:t>
                      </a:r>
                    </a:p>
                  </a:txBody>
                  <a:tcPr anchor="ctr">
                    <a:solidFill>
                      <a:srgbClr val="F7F4ED"/>
                    </a:solidFill>
                  </a:tcPr>
                </a:tc>
                <a:tc>
                  <a:txBody>
                    <a:bodyPr/>
                    <a:lstStyle/>
                    <a:p>
                      <a:pPr algn="l">
                        <a:defRPr sz="819">
                          <a:solidFill>
                            <a:srgbClr val="4A5568"/>
                          </a:solidFill>
                          <a:latin typeface="Microsoft JhengHei"/>
                        </a:defRPr>
                      </a:pPr>
                      <a:r>
                        <a:t>150–220 萬 企業管線部署</a:t>
                      </a:r>
                    </a:p>
                  </a:txBody>
                  <a:tcPr anchor="ctr">
                    <a:solidFill>
                      <a:srgbClr val="F7F4ED"/>
                    </a:solidFill>
                  </a:tcPr>
                </a:tc>
                <a:tc>
                  <a:txBody>
                    <a:bodyPr/>
                    <a:lstStyle/>
                    <a:p>
                      <a:pPr algn="ctr">
                        <a:defRPr sz="819" b="1">
                          <a:solidFill>
                            <a:srgbClr val="3B6E58"/>
                          </a:solidFill>
                          <a:latin typeface="Microsoft JhengHei"/>
                        </a:defRPr>
                      </a:pPr>
                      <a:r>
                        <a:t>開源 / 企業版</a:t>
                      </a:r>
                    </a:p>
                  </a:txBody>
                  <a:tcPr anchor="ctr">
                    <a:solidFill>
                      <a:srgbClr val="F7F4ED"/>
                    </a:solidFill>
                  </a:tcPr>
                </a:tc>
                <a:tc>
                  <a:txBody>
                    <a:bodyPr/>
                    <a:lstStyle/>
                    <a:p>
                      <a:pPr algn="ctr">
                        <a:defRPr sz="819">
                          <a:solidFill>
                            <a:srgbClr val="4A5568"/>
                          </a:solidFill>
                          <a:latin typeface="Microsoft JhengHei"/>
                        </a:defRPr>
                      </a:pPr>
                      <a:r>
                        <a:t>高 (生態整合)</a:t>
                      </a:r>
                    </a:p>
                  </a:txBody>
                  <a:tcPr anchor="ctr">
                    <a:solidFill>
                      <a:srgbClr val="F7F4ED"/>
                    </a:solidFill>
                  </a:tcPr>
                </a:tc>
                <a:tc>
                  <a:txBody>
                    <a:bodyPr/>
                    <a:lstStyle/>
                    <a:p>
                      <a:pPr algn="ctr">
                        <a:defRPr sz="819">
                          <a:solidFill>
                            <a:srgbClr val="3B6E58"/>
                          </a:solidFill>
                          <a:latin typeface="Microsoft JhengHei"/>
                        </a:defRPr>
                      </a:pPr>
                      <a:r>
                        <a:t>★★★★☆</a:t>
                      </a:r>
                    </a:p>
                  </a:txBody>
                  <a:tcPr anchor="ctr">
                    <a:solidFill>
                      <a:srgbClr val="F7F4ED"/>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影響力指標</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圖 1-1 主流框架 GitHub Stars 與開源影響力對比</a:t>
            </a:r>
          </a:p>
          <a:p>
            <a:pPr>
              <a:spcBef>
                <a:spcPts val="300"/>
              </a:spcBef>
            </a:pPr>
            <a:r>
              <a:rPr sz="950">
                <a:solidFill>
                  <a:srgbClr val="7C8695"/>
                </a:solidFill>
                <a:latin typeface="Microsoft JhengHei"/>
              </a:rPr>
              <a:t>雙軸指標呈現：左軸 GitHub Stars（社群普及度），右軸 成熟度與 SWE-bench 修復能力</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04 / 30</a:t>
            </a:r>
          </a:p>
        </p:txBody>
      </p:sp>
      <p:sp>
        <p:nvSpPr>
          <p:cNvPr id="9" name="Rounded Rectangle 8"/>
          <p:cNvSpPr/>
          <p:nvPr/>
        </p:nvSpPr>
        <p:spPr>
          <a:xfrm>
            <a:off x="676656" y="1885286"/>
            <a:ext cx="6784848" cy="4093267"/>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1_github_stars_comparison.png"/>
          <p:cNvPicPr>
            <a:picLocks noChangeAspect="1"/>
          </p:cNvPicPr>
          <p:nvPr/>
        </p:nvPicPr>
        <p:blipFill>
          <a:blip r:embed="rId2"/>
          <a:stretch>
            <a:fillRect/>
          </a:stretch>
        </p:blipFill>
        <p:spPr>
          <a:xfrm>
            <a:off x="731520" y="1940150"/>
            <a:ext cx="6675120" cy="3983539"/>
          </a:xfrm>
          <a:prstGeom prst="rect">
            <a:avLst/>
          </a:prstGeom>
        </p:spPr>
      </p:pic>
      <p:sp>
        <p:nvSpPr>
          <p:cNvPr id="11" name="Rounded Rectangle 10"/>
          <p:cNvSpPr/>
          <p:nvPr/>
        </p:nvSpPr>
        <p:spPr>
          <a:xfrm>
            <a:off x="7589520" y="1600200"/>
            <a:ext cx="3870655"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開源與商業雙軌演進</a:t>
            </a:r>
            <a:r>
              <a:rPr sz="850" b="1">
                <a:solidFill>
                  <a:srgbClr val="D6CEBF"/>
                </a:solidFill>
                <a:latin typeface="Microsoft JhengHei"/>
              </a:rPr>
              <a:t>  [KEY TAKEAWAYS]</a:t>
            </a:r>
          </a:p>
        </p:txBody>
      </p:sp>
      <p:sp>
        <p:nvSpPr>
          <p:cNvPr id="12" name="Rounded Rectangle 11"/>
          <p:cNvSpPr/>
          <p:nvPr/>
        </p:nvSpPr>
        <p:spPr>
          <a:xfrm>
            <a:off x="7589520" y="2167128"/>
            <a:ext cx="38706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35824" y="227685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14" name="TextBox 13"/>
          <p:cNvSpPr txBox="1"/>
          <p:nvPr/>
        </p:nvSpPr>
        <p:spPr>
          <a:xfrm>
            <a:off x="8065008" y="2240280"/>
            <a:ext cx="33037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開源頭部崛起：</a:t>
            </a:r>
            <a:r>
              <a:rPr sz="900">
                <a:solidFill>
                  <a:srgbClr val="4A5568"/>
                </a:solidFill>
                <a:latin typeface="Microsoft JhengHei"/>
              </a:rPr>
              <a:t>Hermes (&gt;200K⭐) 與 OpenCode (~180K⭐) 超越商業框架社群規模，展現開發者對資料自主之強烈訴求。</a:t>
            </a:r>
          </a:p>
        </p:txBody>
      </p:sp>
      <p:sp>
        <p:nvSpPr>
          <p:cNvPr id="15" name="Rounded Rectangle 14"/>
          <p:cNvSpPr/>
          <p:nvPr/>
        </p:nvSpPr>
        <p:spPr>
          <a:xfrm>
            <a:off x="7589520" y="3214116"/>
            <a:ext cx="38706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35824" y="3323844"/>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17" name="TextBox 16"/>
          <p:cNvSpPr txBox="1"/>
          <p:nvPr/>
        </p:nvSpPr>
        <p:spPr>
          <a:xfrm>
            <a:off x="8065008" y="3287268"/>
            <a:ext cx="33037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商業閉環主導：</a:t>
            </a:r>
            <a:r>
              <a:rPr sz="900">
                <a:solidFill>
                  <a:srgbClr val="4A5568"/>
                </a:solidFill>
                <a:latin typeface="Microsoft JhengHei"/>
              </a:rPr>
              <a:t>Claude Code 與 Codex 雖不開源，但憑前沿模型垂直整合，在 SWE-bench 取得極高評分。</a:t>
            </a:r>
          </a:p>
        </p:txBody>
      </p:sp>
      <p:sp>
        <p:nvSpPr>
          <p:cNvPr id="18" name="Rounded Rectangle 17"/>
          <p:cNvSpPr/>
          <p:nvPr/>
        </p:nvSpPr>
        <p:spPr>
          <a:xfrm>
            <a:off x="7589520" y="4261104"/>
            <a:ext cx="38706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735824" y="4370832"/>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20" name="TextBox 19"/>
          <p:cNvSpPr txBox="1"/>
          <p:nvPr/>
        </p:nvSpPr>
        <p:spPr>
          <a:xfrm>
            <a:off x="8065008" y="4334256"/>
            <a:ext cx="33037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結對編程長青：</a:t>
            </a:r>
            <a:r>
              <a:rPr sz="900">
                <a:solidFill>
                  <a:srgbClr val="4A5568"/>
                </a:solidFill>
                <a:latin typeface="Microsoft JhengHei"/>
              </a:rPr>
              <a:t>Aider 憑極致 Git-native 與低 Token 浪費獲五星滿意度，在國防機敏與離線環境無可撼動。</a:t>
            </a:r>
          </a:p>
        </p:txBody>
      </p:sp>
      <p:sp>
        <p:nvSpPr>
          <p:cNvPr id="21" name="Rounded Rectangle 20"/>
          <p:cNvSpPr/>
          <p:nvPr/>
        </p:nvSpPr>
        <p:spPr>
          <a:xfrm>
            <a:off x="7589520" y="5308092"/>
            <a:ext cx="38706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35824" y="5417820"/>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4</a:t>
            </a:r>
          </a:p>
        </p:txBody>
      </p:sp>
      <p:sp>
        <p:nvSpPr>
          <p:cNvPr id="23" name="TextBox 22"/>
          <p:cNvSpPr txBox="1"/>
          <p:nvPr/>
        </p:nvSpPr>
        <p:spPr>
          <a:xfrm>
            <a:off x="8065008" y="5381244"/>
            <a:ext cx="33037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輕量擴充生態：</a:t>
            </a:r>
            <a:r>
              <a:rPr sz="900">
                <a:solidFill>
                  <a:srgbClr val="4A5568"/>
                </a:solidFill>
                <a:latin typeface="Microsoft JhengHei"/>
              </a:rPr>
              <a:t>Cline (68.5K⭐) 與 Goose (54K⭐) 透過 VS Code 外掛與 MCP 協議，成為最親民的代理入門首選。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產業反思</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開發者採用率激增 vs. 信任度危機之矛盾</a:t>
            </a:r>
          </a:p>
          <a:p>
            <a:pPr>
              <a:spcBef>
                <a:spcPts val="300"/>
              </a:spcBef>
            </a:pPr>
            <a:r>
              <a:rPr sz="950">
                <a:solidFill>
                  <a:srgbClr val="7C8695"/>
                </a:solidFill>
                <a:latin typeface="Microsoft JhengHei"/>
              </a:rPr>
              <a:t>2023–2026 開發者生態演進：從「單行補全工具」轉向「自主 Agentic 架構」之關鍵反思</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05 / 30</a:t>
            </a:r>
          </a:p>
        </p:txBody>
      </p:sp>
      <p:sp>
        <p:nvSpPr>
          <p:cNvPr id="9" name="Rounded Rectangle 8"/>
          <p:cNvSpPr/>
          <p:nvPr/>
        </p:nvSpPr>
        <p:spPr>
          <a:xfrm>
            <a:off x="731520" y="1600200"/>
            <a:ext cx="5212080" cy="210312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841248" y="1691640"/>
          <a:ext cx="4992622" cy="1920239"/>
        </p:xfrm>
        <a:graphic>
          <a:graphicData uri="http://schemas.openxmlformats.org/drawingml/2006/table">
            <a:tbl>
              <a:tblPr firstRow="1" bandRow="1">
                <a:tableStyleId>{5C22544A-7EE6-4342-B048-85BDC9FD1C3A}</a:tableStyleId>
              </a:tblPr>
              <a:tblGrid>
                <a:gridCol w="963488"/>
                <a:gridCol w="1226258"/>
                <a:gridCol w="1401438"/>
                <a:gridCol w="1401438"/>
              </a:tblGrid>
              <a:tr h="384047">
                <a:tc>
                  <a:txBody>
                    <a:bodyPr/>
                    <a:lstStyle/>
                    <a:p>
                      <a:pPr algn="ctr">
                        <a:defRPr sz="900" b="1">
                          <a:solidFill>
                            <a:srgbClr val="232D38"/>
                          </a:solidFill>
                          <a:latin typeface="Microsoft JhengHei"/>
                        </a:defRPr>
                      </a:pPr>
                      <a:r>
                        <a:t>年份</a:t>
                      </a:r>
                    </a:p>
                  </a:txBody>
                  <a:tcPr anchor="ctr">
                    <a:solidFill>
                      <a:srgbClr val="EAE4D8"/>
                    </a:solidFill>
                  </a:tcPr>
                </a:tc>
                <a:tc>
                  <a:txBody>
                    <a:bodyPr/>
                    <a:lstStyle/>
                    <a:p>
                      <a:pPr algn="ctr">
                        <a:defRPr sz="900" b="1">
                          <a:solidFill>
                            <a:srgbClr val="232D38"/>
                          </a:solidFill>
                          <a:latin typeface="Microsoft JhengHei"/>
                        </a:defRPr>
                      </a:pPr>
                      <a:r>
                        <a:t>AI 工具採用率</a:t>
                      </a:r>
                    </a:p>
                  </a:txBody>
                  <a:tcPr anchor="ctr">
                    <a:solidFill>
                      <a:srgbClr val="EAE4D8"/>
                    </a:solidFill>
                  </a:tcPr>
                </a:tc>
                <a:tc>
                  <a:txBody>
                    <a:bodyPr/>
                    <a:lstStyle/>
                    <a:p>
                      <a:pPr algn="l">
                        <a:defRPr sz="900" b="1">
                          <a:solidFill>
                            <a:srgbClr val="232D38"/>
                          </a:solidFill>
                          <a:latin typeface="Microsoft JhengHei"/>
                        </a:defRPr>
                      </a:pPr>
                      <a:r>
                        <a:t>主要型態</a:t>
                      </a:r>
                    </a:p>
                  </a:txBody>
                  <a:tcPr anchor="ctr">
                    <a:solidFill>
                      <a:srgbClr val="EAE4D8"/>
                    </a:solidFill>
                  </a:tcPr>
                </a:tc>
                <a:tc>
                  <a:txBody>
                    <a:bodyPr/>
                    <a:lstStyle/>
                    <a:p>
                      <a:pPr algn="l">
                        <a:defRPr sz="900" b="1">
                          <a:solidFill>
                            <a:srgbClr val="232D38"/>
                          </a:solidFill>
                          <a:latin typeface="Microsoft JhengHei"/>
                        </a:defRPr>
                      </a:pPr>
                      <a:r>
                        <a:t>產業焦點</a:t>
                      </a:r>
                    </a:p>
                  </a:txBody>
                  <a:tcPr anchor="ctr">
                    <a:solidFill>
                      <a:srgbClr val="EAE4D8"/>
                    </a:solidFill>
                  </a:tcPr>
                </a:tc>
              </a:tr>
              <a:tr h="384047">
                <a:tc>
                  <a:txBody>
                    <a:bodyPr/>
                    <a:lstStyle/>
                    <a:p>
                      <a:pPr algn="ctr">
                        <a:defRPr sz="850" b="1">
                          <a:solidFill>
                            <a:srgbClr val="232D38"/>
                          </a:solidFill>
                          <a:latin typeface="Microsoft JhengHei"/>
                        </a:defRPr>
                      </a:pPr>
                      <a:r>
                        <a:t>2023 年</a:t>
                      </a:r>
                    </a:p>
                  </a:txBody>
                  <a:tcPr anchor="ctr">
                    <a:solidFill>
                      <a:srgbClr val="FDFCFA"/>
                    </a:solidFill>
                  </a:tcPr>
                </a:tc>
                <a:tc>
                  <a:txBody>
                    <a:bodyPr/>
                    <a:lstStyle/>
                    <a:p>
                      <a:pPr algn="ctr">
                        <a:defRPr sz="850">
                          <a:solidFill>
                            <a:srgbClr val="4A5568"/>
                          </a:solidFill>
                          <a:latin typeface="Microsoft JhengHei"/>
                        </a:defRPr>
                      </a:pPr>
                      <a:r>
                        <a:t>44%</a:t>
                      </a:r>
                    </a:p>
                  </a:txBody>
                  <a:tcPr anchor="ctr">
                    <a:solidFill>
                      <a:srgbClr val="FDFCFA"/>
                    </a:solidFill>
                  </a:tcPr>
                </a:tc>
                <a:tc>
                  <a:txBody>
                    <a:bodyPr/>
                    <a:lstStyle/>
                    <a:p>
                      <a:pPr algn="l">
                        <a:defRPr sz="850">
                          <a:solidFill>
                            <a:srgbClr val="4A5568"/>
                          </a:solidFill>
                          <a:latin typeface="Microsoft JhengHei"/>
                        </a:defRPr>
                      </a:pPr>
                      <a:r>
                        <a:t>單行代碼補全</a:t>
                      </a:r>
                    </a:p>
                  </a:txBody>
                  <a:tcPr anchor="ctr">
                    <a:solidFill>
                      <a:srgbClr val="FDFCFA"/>
                    </a:solidFill>
                  </a:tcPr>
                </a:tc>
                <a:tc>
                  <a:txBody>
                    <a:bodyPr/>
                    <a:lstStyle/>
                    <a:p>
                      <a:pPr algn="l">
                        <a:defRPr sz="850">
                          <a:solidFill>
                            <a:srgbClr val="4A5568"/>
                          </a:solidFill>
                          <a:latin typeface="Microsoft JhengHei"/>
                        </a:defRPr>
                      </a:pPr>
                      <a:r>
                        <a:t>GitHub Copilot 早期普及</a:t>
                      </a:r>
                    </a:p>
                  </a:txBody>
                  <a:tcPr anchor="ctr">
                    <a:solidFill>
                      <a:srgbClr val="FDFCFA"/>
                    </a:solidFill>
                  </a:tcPr>
                </a:tc>
              </a:tr>
              <a:tr h="384047">
                <a:tc>
                  <a:txBody>
                    <a:bodyPr/>
                    <a:lstStyle/>
                    <a:p>
                      <a:pPr algn="ctr">
                        <a:defRPr sz="850" b="1">
                          <a:solidFill>
                            <a:srgbClr val="232D38"/>
                          </a:solidFill>
                          <a:latin typeface="Microsoft JhengHei"/>
                        </a:defRPr>
                      </a:pPr>
                      <a:r>
                        <a:t>2024 年</a:t>
                      </a:r>
                    </a:p>
                  </a:txBody>
                  <a:tcPr anchor="ctr">
                    <a:solidFill>
                      <a:srgbClr val="F7F4ED"/>
                    </a:solidFill>
                  </a:tcPr>
                </a:tc>
                <a:tc>
                  <a:txBody>
                    <a:bodyPr/>
                    <a:lstStyle/>
                    <a:p>
                      <a:pPr algn="ctr">
                        <a:defRPr sz="850">
                          <a:solidFill>
                            <a:srgbClr val="4A5568"/>
                          </a:solidFill>
                          <a:latin typeface="Microsoft JhengHei"/>
                        </a:defRPr>
                      </a:pPr>
                      <a:r>
                        <a:t>62%</a:t>
                      </a:r>
                    </a:p>
                  </a:txBody>
                  <a:tcPr anchor="ctr">
                    <a:solidFill>
                      <a:srgbClr val="F7F4ED"/>
                    </a:solidFill>
                  </a:tcPr>
                </a:tc>
                <a:tc>
                  <a:txBody>
                    <a:bodyPr/>
                    <a:lstStyle/>
                    <a:p>
                      <a:pPr algn="l">
                        <a:defRPr sz="850">
                          <a:solidFill>
                            <a:srgbClr val="4A5568"/>
                          </a:solidFill>
                          <a:latin typeface="Microsoft JhengHei"/>
                        </a:defRPr>
                      </a:pPr>
                      <a:r>
                        <a:t>聊天對話 / 側邊欄</a:t>
                      </a:r>
                    </a:p>
                  </a:txBody>
                  <a:tcPr anchor="ctr">
                    <a:solidFill>
                      <a:srgbClr val="F7F4ED"/>
                    </a:solidFill>
                  </a:tcPr>
                </a:tc>
                <a:tc>
                  <a:txBody>
                    <a:bodyPr/>
                    <a:lstStyle/>
                    <a:p>
                      <a:pPr algn="l">
                        <a:defRPr sz="850">
                          <a:solidFill>
                            <a:srgbClr val="4A5568"/>
                          </a:solidFill>
                          <a:latin typeface="Microsoft JhengHei"/>
                        </a:defRPr>
                      </a:pPr>
                      <a:r>
                        <a:t>Cursor / Continue 初露頭角</a:t>
                      </a:r>
                    </a:p>
                  </a:txBody>
                  <a:tcPr anchor="ctr">
                    <a:solidFill>
                      <a:srgbClr val="F7F4ED"/>
                    </a:solidFill>
                  </a:tcPr>
                </a:tc>
              </a:tr>
              <a:tr h="384047">
                <a:tc>
                  <a:txBody>
                    <a:bodyPr/>
                    <a:lstStyle/>
                    <a:p>
                      <a:pPr algn="ctr">
                        <a:defRPr sz="850" b="1">
                          <a:solidFill>
                            <a:srgbClr val="232D38"/>
                          </a:solidFill>
                          <a:latin typeface="Microsoft JhengHei"/>
                        </a:defRPr>
                      </a:pPr>
                      <a:r>
                        <a:t>2025 年</a:t>
                      </a:r>
                    </a:p>
                  </a:txBody>
                  <a:tcPr anchor="ctr">
                    <a:solidFill>
                      <a:srgbClr val="FDFCFA"/>
                    </a:solidFill>
                  </a:tcPr>
                </a:tc>
                <a:tc>
                  <a:txBody>
                    <a:bodyPr/>
                    <a:lstStyle/>
                    <a:p>
                      <a:pPr algn="ctr">
                        <a:defRPr sz="850">
                          <a:solidFill>
                            <a:srgbClr val="4A5568"/>
                          </a:solidFill>
                          <a:latin typeface="Microsoft JhengHei"/>
                        </a:defRPr>
                      </a:pPr>
                      <a:r>
                        <a:t>84%</a:t>
                      </a:r>
                    </a:p>
                  </a:txBody>
                  <a:tcPr anchor="ctr">
                    <a:solidFill>
                      <a:srgbClr val="FDFCFA"/>
                    </a:solidFill>
                  </a:tcPr>
                </a:tc>
                <a:tc>
                  <a:txBody>
                    <a:bodyPr/>
                    <a:lstStyle/>
                    <a:p>
                      <a:pPr algn="l">
                        <a:defRPr sz="850">
                          <a:solidFill>
                            <a:srgbClr val="4A5568"/>
                          </a:solidFill>
                          <a:latin typeface="Microsoft JhengHei"/>
                        </a:defRPr>
                      </a:pPr>
                      <a:r>
                        <a:t>多檔案編輯 / 結對</a:t>
                      </a:r>
                    </a:p>
                  </a:txBody>
                  <a:tcPr anchor="ctr">
                    <a:solidFill>
                      <a:srgbClr val="FDFCFA"/>
                    </a:solidFill>
                  </a:tcPr>
                </a:tc>
                <a:tc>
                  <a:txBody>
                    <a:bodyPr/>
                    <a:lstStyle/>
                    <a:p>
                      <a:pPr algn="l">
                        <a:defRPr sz="850">
                          <a:solidFill>
                            <a:srgbClr val="4A5568"/>
                          </a:solidFill>
                          <a:latin typeface="Microsoft JhengHei"/>
                        </a:defRPr>
                      </a:pPr>
                      <a:r>
                        <a:t>Aider / Claude 3.5 Sonnet 熱潮</a:t>
                      </a:r>
                    </a:p>
                  </a:txBody>
                  <a:tcPr anchor="ctr">
                    <a:solidFill>
                      <a:srgbClr val="FDFCFA"/>
                    </a:solidFill>
                  </a:tcPr>
                </a:tc>
              </a:tr>
              <a:tr h="384051">
                <a:tc>
                  <a:txBody>
                    <a:bodyPr/>
                    <a:lstStyle/>
                    <a:p>
                      <a:pPr algn="ctr">
                        <a:defRPr sz="850" b="1">
                          <a:solidFill>
                            <a:srgbClr val="232D38"/>
                          </a:solidFill>
                          <a:latin typeface="Microsoft JhengHei"/>
                        </a:defRPr>
                      </a:pPr>
                      <a:r>
                        <a:t>2026 年 (預估)</a:t>
                      </a:r>
                    </a:p>
                  </a:txBody>
                  <a:tcPr anchor="ctr">
                    <a:solidFill>
                      <a:srgbClr val="F7F4ED"/>
                    </a:solidFill>
                  </a:tcPr>
                </a:tc>
                <a:tc>
                  <a:txBody>
                    <a:bodyPr/>
                    <a:lstStyle/>
                    <a:p>
                      <a:pPr algn="ctr">
                        <a:defRPr sz="850">
                          <a:solidFill>
                            <a:srgbClr val="4A5568"/>
                          </a:solidFill>
                          <a:latin typeface="Microsoft JhengHei"/>
                        </a:defRPr>
                      </a:pPr>
                      <a:r>
                        <a:t>~92%</a:t>
                      </a:r>
                    </a:p>
                  </a:txBody>
                  <a:tcPr anchor="ctr">
                    <a:solidFill>
                      <a:srgbClr val="F7F4ED"/>
                    </a:solidFill>
                  </a:tcPr>
                </a:tc>
                <a:tc>
                  <a:txBody>
                    <a:bodyPr/>
                    <a:lstStyle/>
                    <a:p>
                      <a:pPr algn="l">
                        <a:defRPr sz="850">
                          <a:solidFill>
                            <a:srgbClr val="4A5568"/>
                          </a:solidFill>
                          <a:latin typeface="Microsoft JhengHei"/>
                        </a:defRPr>
                      </a:pPr>
                      <a:r>
                        <a:t>自主 Agent 艦隊 / Harness</a:t>
                      </a:r>
                    </a:p>
                  </a:txBody>
                  <a:tcPr anchor="ctr">
                    <a:solidFill>
                      <a:srgbClr val="F7F4ED"/>
                    </a:solidFill>
                  </a:tcPr>
                </a:tc>
                <a:tc>
                  <a:txBody>
                    <a:bodyPr/>
                    <a:lstStyle/>
                    <a:p>
                      <a:pPr algn="l">
                        <a:defRPr sz="850">
                          <a:solidFill>
                            <a:srgbClr val="4A5568"/>
                          </a:solidFill>
                          <a:latin typeface="Microsoft JhengHei"/>
                        </a:defRPr>
                      </a:pPr>
                      <a:r>
                        <a:t>長程任務、三代理評估、MCP</a:t>
                      </a:r>
                    </a:p>
                  </a:txBody>
                  <a:tcPr anchor="ctr">
                    <a:solidFill>
                      <a:srgbClr val="F7F4ED"/>
                    </a:solidFill>
                  </a:tcPr>
                </a:tc>
              </a:tr>
            </a:tbl>
          </a:graphicData>
        </a:graphic>
      </p:graphicFrame>
      <p:sp>
        <p:nvSpPr>
          <p:cNvPr id="11" name="Rounded Rectangle 10"/>
          <p:cNvSpPr/>
          <p:nvPr/>
        </p:nvSpPr>
        <p:spPr>
          <a:xfrm>
            <a:off x="731520" y="3977639"/>
            <a:ext cx="5212080" cy="228600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841248" y="4069079"/>
          <a:ext cx="4992622" cy="2103120"/>
        </p:xfrm>
        <a:graphic>
          <a:graphicData uri="http://schemas.openxmlformats.org/drawingml/2006/table">
            <a:tbl>
              <a:tblPr firstRow="1" bandRow="1">
                <a:tableStyleId>{5C22544A-7EE6-4342-B048-85BDC9FD1C3A}</a:tableStyleId>
              </a:tblPr>
              <a:tblGrid>
                <a:gridCol w="1401438"/>
                <a:gridCol w="1051078"/>
                <a:gridCol w="1226258"/>
                <a:gridCol w="1313848"/>
              </a:tblGrid>
              <a:tr h="420624">
                <a:tc>
                  <a:txBody>
                    <a:bodyPr/>
                    <a:lstStyle/>
                    <a:p>
                      <a:pPr algn="l">
                        <a:defRPr sz="900" b="1">
                          <a:solidFill>
                            <a:srgbClr val="232D38"/>
                          </a:solidFill>
                          <a:latin typeface="Microsoft JhengHei"/>
                        </a:defRPr>
                      </a:pPr>
                      <a:r>
                        <a:t>關鍵指標 (Stack Overflow)</a:t>
                      </a:r>
                    </a:p>
                  </a:txBody>
                  <a:tcPr anchor="ctr">
                    <a:solidFill>
                      <a:srgbClr val="EAE4D8"/>
                    </a:solidFill>
                  </a:tcPr>
                </a:tc>
                <a:tc>
                  <a:txBody>
                    <a:bodyPr/>
                    <a:lstStyle/>
                    <a:p>
                      <a:pPr algn="ctr">
                        <a:defRPr sz="900" b="1">
                          <a:solidFill>
                            <a:srgbClr val="232D38"/>
                          </a:solidFill>
                          <a:latin typeface="Microsoft JhengHei"/>
                        </a:defRPr>
                      </a:pPr>
                      <a:r>
                        <a:t>2025 年數據</a:t>
                      </a:r>
                    </a:p>
                  </a:txBody>
                  <a:tcPr anchor="ctr">
                    <a:solidFill>
                      <a:srgbClr val="EAE4D8"/>
                    </a:solidFill>
                  </a:tcPr>
                </a:tc>
                <a:tc>
                  <a:txBody>
                    <a:bodyPr/>
                    <a:lstStyle/>
                    <a:p>
                      <a:pPr algn="ctr">
                        <a:defRPr sz="900" b="1">
                          <a:solidFill>
                            <a:srgbClr val="232D38"/>
                          </a:solidFill>
                          <a:latin typeface="Microsoft JhengHei"/>
                        </a:defRPr>
                      </a:pPr>
                      <a:r>
                        <a:t>2026 年趨勢</a:t>
                      </a:r>
                    </a:p>
                  </a:txBody>
                  <a:tcPr anchor="ctr">
                    <a:solidFill>
                      <a:srgbClr val="EAE4D8"/>
                    </a:solidFill>
                  </a:tcPr>
                </a:tc>
                <a:tc>
                  <a:txBody>
                    <a:bodyPr/>
                    <a:lstStyle/>
                    <a:p>
                      <a:pPr algn="l">
                        <a:defRPr sz="900" b="1">
                          <a:solidFill>
                            <a:srgbClr val="232D38"/>
                          </a:solidFill>
                          <a:latin typeface="Microsoft JhengHei"/>
                        </a:defRPr>
                      </a:pPr>
                      <a:r>
                        <a:t>深層意涵</a:t>
                      </a:r>
                    </a:p>
                  </a:txBody>
                  <a:tcPr anchor="ctr">
                    <a:solidFill>
                      <a:srgbClr val="EAE4D8"/>
                    </a:solidFill>
                  </a:tcPr>
                </a:tc>
              </a:tr>
              <a:tr h="420624">
                <a:tc>
                  <a:txBody>
                    <a:bodyPr/>
                    <a:lstStyle/>
                    <a:p>
                      <a:pPr algn="l">
                        <a:defRPr sz="850" b="1">
                          <a:solidFill>
                            <a:srgbClr val="232D38"/>
                          </a:solidFill>
                          <a:latin typeface="Microsoft JhengHei"/>
                        </a:defRPr>
                      </a:pPr>
                      <a:r>
                        <a:t>每日使用率</a:t>
                      </a:r>
                    </a:p>
                  </a:txBody>
                  <a:tcPr anchor="ctr">
                    <a:solidFill>
                      <a:srgbClr val="FDFCFA"/>
                    </a:solidFill>
                  </a:tcPr>
                </a:tc>
                <a:tc>
                  <a:txBody>
                    <a:bodyPr/>
                    <a:lstStyle/>
                    <a:p>
                      <a:pPr algn="ctr">
                        <a:defRPr sz="850">
                          <a:solidFill>
                            <a:srgbClr val="4A5568"/>
                          </a:solidFill>
                          <a:latin typeface="Microsoft JhengHei"/>
                        </a:defRPr>
                      </a:pPr>
                      <a:r>
                        <a:t>51%</a:t>
                      </a:r>
                    </a:p>
                  </a:txBody>
                  <a:tcPr anchor="ctr">
                    <a:solidFill>
                      <a:srgbClr val="FDFCFA"/>
                    </a:solidFill>
                  </a:tcPr>
                </a:tc>
                <a:tc>
                  <a:txBody>
                    <a:bodyPr/>
                    <a:lstStyle/>
                    <a:p>
                      <a:pPr algn="ctr">
                        <a:defRPr sz="850">
                          <a:solidFill>
                            <a:srgbClr val="4A5568"/>
                          </a:solidFill>
                          <a:latin typeface="Microsoft JhengHei"/>
                        </a:defRPr>
                      </a:pPr>
                      <a:r>
                        <a:t>持續攀升 (&gt;68%)</a:t>
                      </a:r>
                    </a:p>
                  </a:txBody>
                  <a:tcPr anchor="ctr">
                    <a:solidFill>
                      <a:srgbClr val="FDFCFA"/>
                    </a:solidFill>
                  </a:tcPr>
                </a:tc>
                <a:tc>
                  <a:txBody>
                    <a:bodyPr/>
                    <a:lstStyle/>
                    <a:p>
                      <a:pPr algn="l">
                        <a:defRPr sz="850">
                          <a:solidFill>
                            <a:srgbClr val="4A5568"/>
                          </a:solidFill>
                          <a:latin typeface="Microsoft JhengHei"/>
                        </a:defRPr>
                      </a:pPr>
                      <a:r>
                        <a:t>AI 已成日常開發不可或缺工具</a:t>
                      </a:r>
                    </a:p>
                  </a:txBody>
                  <a:tcPr anchor="ctr">
                    <a:solidFill>
                      <a:srgbClr val="FDFCFA"/>
                    </a:solidFill>
                  </a:tcPr>
                </a:tc>
              </a:tr>
              <a:tr h="420624">
                <a:tc>
                  <a:txBody>
                    <a:bodyPr/>
                    <a:lstStyle/>
                    <a:p>
                      <a:pPr algn="l">
                        <a:defRPr sz="850" b="1">
                          <a:solidFill>
                            <a:srgbClr val="232D38"/>
                          </a:solidFill>
                          <a:latin typeface="Microsoft JhengHei"/>
                        </a:defRPr>
                      </a:pPr>
                      <a:r>
                        <a:t>對 AI 輸出信任度</a:t>
                      </a:r>
                    </a:p>
                  </a:txBody>
                  <a:tcPr anchor="ctr">
                    <a:solidFill>
                      <a:srgbClr val="F7F4ED"/>
                    </a:solidFill>
                  </a:tcPr>
                </a:tc>
                <a:tc>
                  <a:txBody>
                    <a:bodyPr/>
                    <a:lstStyle/>
                    <a:p>
                      <a:pPr algn="ctr">
                        <a:defRPr sz="850">
                          <a:solidFill>
                            <a:srgbClr val="4A5568"/>
                          </a:solidFill>
                          <a:latin typeface="Microsoft JhengHei"/>
                        </a:defRPr>
                      </a:pPr>
                      <a:r>
                        <a:t>29% (↓自 40%)</a:t>
                      </a:r>
                    </a:p>
                  </a:txBody>
                  <a:tcPr anchor="ctr">
                    <a:solidFill>
                      <a:srgbClr val="F7F4ED"/>
                    </a:solidFill>
                  </a:tcPr>
                </a:tc>
                <a:tc>
                  <a:txBody>
                    <a:bodyPr/>
                    <a:lstStyle/>
                    <a:p>
                      <a:pPr algn="ctr">
                        <a:defRPr sz="850">
                          <a:solidFill>
                            <a:srgbClr val="4A5568"/>
                          </a:solidFill>
                          <a:latin typeface="Microsoft JhengHei"/>
                        </a:defRPr>
                      </a:pPr>
                      <a:r>
                        <a:t>信任危機持續擴大</a:t>
                      </a:r>
                    </a:p>
                  </a:txBody>
                  <a:tcPr anchor="ctr">
                    <a:solidFill>
                      <a:srgbClr val="F7F4ED"/>
                    </a:solidFill>
                  </a:tcPr>
                </a:tc>
                <a:tc>
                  <a:txBody>
                    <a:bodyPr/>
                    <a:lstStyle/>
                    <a:p>
                      <a:pPr algn="l">
                        <a:defRPr sz="850">
                          <a:solidFill>
                            <a:srgbClr val="4A5568"/>
                          </a:solidFill>
                          <a:latin typeface="Microsoft JhengHei"/>
                        </a:defRPr>
                      </a:pPr>
                      <a:r>
                        <a:t>幻覺與代碼異味引發工程師反彈</a:t>
                      </a:r>
                    </a:p>
                  </a:txBody>
                  <a:tcPr anchor="ctr">
                    <a:solidFill>
                      <a:srgbClr val="F7F4ED"/>
                    </a:solidFill>
                  </a:tcPr>
                </a:tc>
              </a:tr>
              <a:tr h="420624">
                <a:tc>
                  <a:txBody>
                    <a:bodyPr/>
                    <a:lstStyle/>
                    <a:p>
                      <a:pPr algn="l">
                        <a:defRPr sz="850" b="1">
                          <a:solidFill>
                            <a:srgbClr val="232D38"/>
                          </a:solidFill>
                          <a:latin typeface="Microsoft JhengHei"/>
                        </a:defRPr>
                      </a:pPr>
                      <a:r>
                        <a:t>驗證瓶頸抱怨率</a:t>
                      </a:r>
                    </a:p>
                  </a:txBody>
                  <a:tcPr anchor="ctr">
                    <a:solidFill>
                      <a:srgbClr val="FDFCFA"/>
                    </a:solidFill>
                  </a:tcPr>
                </a:tc>
                <a:tc>
                  <a:txBody>
                    <a:bodyPr/>
                    <a:lstStyle/>
                    <a:p>
                      <a:pPr algn="ctr">
                        <a:defRPr sz="850">
                          <a:solidFill>
                            <a:srgbClr val="4A5568"/>
                          </a:solidFill>
                          <a:latin typeface="Microsoft JhengHei"/>
                        </a:defRPr>
                      </a:pPr>
                      <a:r>
                        <a:t>45%</a:t>
                      </a:r>
                    </a:p>
                  </a:txBody>
                  <a:tcPr anchor="ctr">
                    <a:solidFill>
                      <a:srgbClr val="FDFCFA"/>
                    </a:solidFill>
                  </a:tcPr>
                </a:tc>
                <a:tc>
                  <a:txBody>
                    <a:bodyPr/>
                    <a:lstStyle/>
                    <a:p>
                      <a:pPr algn="ctr">
                        <a:defRPr sz="850">
                          <a:solidFill>
                            <a:srgbClr val="4A5568"/>
                          </a:solidFill>
                          <a:latin typeface="Microsoft JhengHei"/>
                        </a:defRPr>
                      </a:pPr>
                      <a:r>
                        <a:t>急劇上升 (&gt;60%)</a:t>
                      </a:r>
                    </a:p>
                  </a:txBody>
                  <a:tcPr anchor="ctr">
                    <a:solidFill>
                      <a:srgbClr val="FDFCFA"/>
                    </a:solidFill>
                  </a:tcPr>
                </a:tc>
                <a:tc>
                  <a:txBody>
                    <a:bodyPr/>
                    <a:lstStyle/>
                    <a:p>
                      <a:pPr algn="l">
                        <a:defRPr sz="850">
                          <a:solidFill>
                            <a:srgbClr val="4A5568"/>
                          </a:solidFill>
                          <a:latin typeface="Microsoft JhengHei"/>
                        </a:defRPr>
                      </a:pPr>
                      <a:r>
                        <a:t>工程師 70% 時間耗在審查與驗收</a:t>
                      </a:r>
                    </a:p>
                  </a:txBody>
                  <a:tcPr anchor="ctr">
                    <a:solidFill>
                      <a:srgbClr val="FDFCFA"/>
                    </a:solidFill>
                  </a:tcPr>
                </a:tc>
              </a:tr>
              <a:tr h="420624">
                <a:tc>
                  <a:txBody>
                    <a:bodyPr/>
                    <a:lstStyle/>
                    <a:p>
                      <a:pPr algn="l">
                        <a:defRPr sz="850" b="1">
                          <a:solidFill>
                            <a:srgbClr val="232D38"/>
                          </a:solidFill>
                          <a:latin typeface="Microsoft JhengHei"/>
                        </a:defRPr>
                      </a:pPr>
                      <a:r>
                        <a:t>架構防護需求</a:t>
                      </a:r>
                    </a:p>
                  </a:txBody>
                  <a:tcPr anchor="ctr">
                    <a:solidFill>
                      <a:srgbClr val="F7F4ED"/>
                    </a:solidFill>
                  </a:tcPr>
                </a:tc>
                <a:tc>
                  <a:txBody>
                    <a:bodyPr/>
                    <a:lstStyle/>
                    <a:p>
                      <a:pPr algn="ctr">
                        <a:defRPr sz="850">
                          <a:solidFill>
                            <a:srgbClr val="4A5568"/>
                          </a:solidFill>
                          <a:latin typeface="Microsoft JhengHei"/>
                        </a:defRPr>
                      </a:pPr>
                      <a:r>
                        <a:t>低</a:t>
                      </a:r>
                    </a:p>
                  </a:txBody>
                  <a:tcPr anchor="ctr">
                    <a:solidFill>
                      <a:srgbClr val="F7F4ED"/>
                    </a:solidFill>
                  </a:tcPr>
                </a:tc>
                <a:tc>
                  <a:txBody>
                    <a:bodyPr/>
                    <a:lstStyle/>
                    <a:p>
                      <a:pPr algn="ctr">
                        <a:defRPr sz="850">
                          <a:solidFill>
                            <a:srgbClr val="4A5568"/>
                          </a:solidFill>
                          <a:latin typeface="Microsoft JhengHei"/>
                        </a:defRPr>
                      </a:pPr>
                      <a:r>
                        <a:t>成為第一優先</a:t>
                      </a:r>
                    </a:p>
                  </a:txBody>
                  <a:tcPr anchor="ctr">
                    <a:solidFill>
                      <a:srgbClr val="F7F4ED"/>
                    </a:solidFill>
                  </a:tcPr>
                </a:tc>
                <a:tc>
                  <a:txBody>
                    <a:bodyPr/>
                    <a:lstStyle/>
                    <a:p>
                      <a:pPr algn="l">
                        <a:defRPr sz="850">
                          <a:solidFill>
                            <a:srgbClr val="4A5568"/>
                          </a:solidFill>
                          <a:latin typeface="Microsoft JhengHei"/>
                        </a:defRPr>
                      </a:pPr>
                      <a:r>
                        <a:t>推動 Harness 獨立評估與安全閘門</a:t>
                      </a:r>
                    </a:p>
                  </a:txBody>
                  <a:tcPr anchor="ctr">
                    <a:solidFill>
                      <a:srgbClr val="F7F4ED"/>
                    </a:solidFill>
                  </a:tcPr>
                </a:tc>
              </a:tr>
            </a:tbl>
          </a:graphicData>
        </a:graphic>
      </p:graphicFrame>
      <p:sp>
        <p:nvSpPr>
          <p:cNvPr id="13" name="Rounded Rectangle 12"/>
          <p:cNvSpPr/>
          <p:nvPr/>
        </p:nvSpPr>
        <p:spPr>
          <a:xfrm>
            <a:off x="6126480" y="1600200"/>
            <a:ext cx="5333695"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產業核心矛盾深度剖析</a:t>
            </a:r>
            <a:r>
              <a:rPr sz="850" b="1">
                <a:solidFill>
                  <a:srgbClr val="D6CEBF"/>
                </a:solidFill>
                <a:latin typeface="Microsoft JhengHei"/>
              </a:rPr>
              <a:t>  [THE TRUST GAP]</a:t>
            </a:r>
          </a:p>
        </p:txBody>
      </p:sp>
      <p:sp>
        <p:nvSpPr>
          <p:cNvPr id="14" name="Rounded Rectangle 13"/>
          <p:cNvSpPr/>
          <p:nvPr/>
        </p:nvSpPr>
        <p:spPr>
          <a:xfrm>
            <a:off x="6126480" y="2167128"/>
            <a:ext cx="533369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272784" y="2276856"/>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16" name="TextBox 15"/>
          <p:cNvSpPr txBox="1"/>
          <p:nvPr/>
        </p:nvSpPr>
        <p:spPr>
          <a:xfrm>
            <a:off x="6601968" y="2240280"/>
            <a:ext cx="476676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92% 採用率 vs 29% 信任度：</a:t>
            </a:r>
            <a:r>
              <a:rPr sz="900">
                <a:solidFill>
                  <a:srgbClr val="4A5568"/>
                </a:solidFill>
                <a:latin typeface="Microsoft JhengHei"/>
              </a:rPr>
              <a:t>產業不是不愛用 AI，而是「不敢直接信任未經約束的代碼」。</a:t>
            </a:r>
          </a:p>
        </p:txBody>
      </p:sp>
      <p:sp>
        <p:nvSpPr>
          <p:cNvPr id="17" name="Rounded Rectangle 16"/>
          <p:cNvSpPr/>
          <p:nvPr/>
        </p:nvSpPr>
        <p:spPr>
          <a:xfrm>
            <a:off x="6126480" y="3214116"/>
            <a:ext cx="533369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72784" y="3323844"/>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19" name="TextBox 18"/>
          <p:cNvSpPr txBox="1"/>
          <p:nvPr/>
        </p:nvSpPr>
        <p:spPr>
          <a:xfrm>
            <a:off x="6601968" y="3287268"/>
            <a:ext cx="476676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驗證瓶頸推動革命：</a:t>
            </a:r>
            <a:r>
              <a:rPr sz="900">
                <a:solidFill>
                  <a:srgbClr val="4A5568"/>
                </a:solidFill>
                <a:latin typeface="Microsoft JhengHei"/>
              </a:rPr>
              <a:t>人肉 Code Review 跟不上 AI 生成速度，迫使團隊轉向自動化品管架構。</a:t>
            </a:r>
          </a:p>
        </p:txBody>
      </p:sp>
      <p:sp>
        <p:nvSpPr>
          <p:cNvPr id="20" name="Rounded Rectangle 19"/>
          <p:cNvSpPr/>
          <p:nvPr/>
        </p:nvSpPr>
        <p:spPr>
          <a:xfrm>
            <a:off x="6126480" y="4261104"/>
            <a:ext cx="533369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72784" y="4370832"/>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22" name="TextBox 21"/>
          <p:cNvSpPr txBox="1"/>
          <p:nvPr/>
        </p:nvSpPr>
        <p:spPr>
          <a:xfrm>
            <a:off x="6601968" y="4334256"/>
            <a:ext cx="476676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確定性約束的核心價值：</a:t>
            </a:r>
            <a:r>
              <a:rPr sz="900">
                <a:solidFill>
                  <a:srgbClr val="4A5568"/>
                </a:solidFill>
                <a:latin typeface="Microsoft JhengHei"/>
              </a:rPr>
              <a:t>唯有引進獨立 Evaluator、客觀測試沙盒與 SAST 閘門，才能真正逆轉信任危機。</a:t>
            </a:r>
          </a:p>
        </p:txBody>
      </p:sp>
      <p:sp>
        <p:nvSpPr>
          <p:cNvPr id="23" name="Rounded Rectangle 22"/>
          <p:cNvSpPr/>
          <p:nvPr/>
        </p:nvSpPr>
        <p:spPr>
          <a:xfrm>
            <a:off x="6126480" y="5308092"/>
            <a:ext cx="533369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272784" y="5417820"/>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4</a:t>
            </a:r>
          </a:p>
        </p:txBody>
      </p:sp>
      <p:sp>
        <p:nvSpPr>
          <p:cNvPr id="25" name="TextBox 24"/>
          <p:cNvSpPr txBox="1"/>
          <p:nvPr/>
        </p:nvSpPr>
        <p:spPr>
          <a:xfrm>
            <a:off x="6601968" y="5381244"/>
            <a:ext cx="476676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告別 Vibe Coding：</a:t>
            </a:r>
            <a:r>
              <a:rPr sz="900">
                <a:solidFill>
                  <a:srgbClr val="4A5568"/>
                </a:solidFill>
                <a:latin typeface="Microsoft JhengHei"/>
              </a:rPr>
              <a:t>隨性對話編程已死，以明確架構規格為依歸的 Spec-Driven 代理成為主流。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能力基準</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圖 1-2 六維核心能力量化雷達對比 (基準版)</a:t>
            </a:r>
          </a:p>
          <a:p>
            <a:pPr>
              <a:spcBef>
                <a:spcPts val="300"/>
              </a:spcBef>
            </a:pPr>
            <a:r>
              <a:rPr sz="950">
                <a:solidFill>
                  <a:srgbClr val="7C8695"/>
                </a:solidFill>
                <a:latin typeface="Microsoft JhengHei"/>
              </a:rPr>
              <a:t>程式碼生成、多步推理、自主修正、多代理協同、外部工具整合與離線工作能力</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06 / 30</a:t>
            </a:r>
          </a:p>
        </p:txBody>
      </p:sp>
      <p:sp>
        <p:nvSpPr>
          <p:cNvPr id="9" name="Rounded Rectangle 8"/>
          <p:cNvSpPr/>
          <p:nvPr/>
        </p:nvSpPr>
        <p:spPr>
          <a:xfrm>
            <a:off x="1198663" y="1545336"/>
            <a:ext cx="3820593" cy="477316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2_agent_capabilities_radar.png"/>
          <p:cNvPicPr>
            <a:picLocks noChangeAspect="1"/>
          </p:cNvPicPr>
          <p:nvPr/>
        </p:nvPicPr>
        <p:blipFill>
          <a:blip r:embed="rId2"/>
          <a:stretch>
            <a:fillRect/>
          </a:stretch>
        </p:blipFill>
        <p:spPr>
          <a:xfrm>
            <a:off x="1253527" y="1600200"/>
            <a:ext cx="3710865" cy="4663440"/>
          </a:xfrm>
          <a:prstGeom prst="rect">
            <a:avLst/>
          </a:prstGeom>
        </p:spPr>
      </p:pic>
      <p:sp>
        <p:nvSpPr>
          <p:cNvPr id="11" name="Rounded Rectangle 10"/>
          <p:cNvSpPr/>
          <p:nvPr/>
        </p:nvSpPr>
        <p:spPr>
          <a:xfrm>
            <a:off x="5760720" y="1600200"/>
            <a:ext cx="5699455"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商業旗艦格局透視</a:t>
            </a:r>
            <a:r>
              <a:rPr sz="850" b="1">
                <a:solidFill>
                  <a:srgbClr val="D6CEBF"/>
                </a:solidFill>
                <a:latin typeface="Microsoft JhengHei"/>
              </a:rPr>
              <a:t>  [COMMERCIAL TIERS]</a:t>
            </a:r>
          </a:p>
        </p:txBody>
      </p:sp>
      <p:sp>
        <p:nvSpPr>
          <p:cNvPr id="12" name="Rounded Rectangle 11"/>
          <p:cNvSpPr/>
          <p:nvPr/>
        </p:nvSpPr>
        <p:spPr>
          <a:xfrm>
            <a:off x="5760720" y="2167128"/>
            <a:ext cx="5699455" cy="49682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907024" y="227685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14" name="TextBox 13"/>
          <p:cNvSpPr txBox="1"/>
          <p:nvPr/>
        </p:nvSpPr>
        <p:spPr>
          <a:xfrm>
            <a:off x="6236208" y="2240280"/>
            <a:ext cx="5132527" cy="35052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商業旗艦三足鼎立：</a:t>
            </a:r>
            <a:r>
              <a:rPr sz="900">
                <a:solidFill>
                  <a:srgbClr val="4A5568"/>
                </a:solidFill>
                <a:latin typeface="Microsoft JhengHei"/>
              </a:rPr>
              <a:t>Claude Code、Codex 與 Antigravity 在代碼生成與多步推理均達 9.5–10 滿分。</a:t>
            </a:r>
          </a:p>
        </p:txBody>
      </p:sp>
      <p:sp>
        <p:nvSpPr>
          <p:cNvPr id="15" name="Rounded Rectangle 14"/>
          <p:cNvSpPr/>
          <p:nvPr/>
        </p:nvSpPr>
        <p:spPr>
          <a:xfrm>
            <a:off x="5760720" y="2755392"/>
            <a:ext cx="5699455" cy="49682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07024" y="2865120"/>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17" name="TextBox 16"/>
          <p:cNvSpPr txBox="1"/>
          <p:nvPr/>
        </p:nvSpPr>
        <p:spPr>
          <a:xfrm>
            <a:off x="6236208" y="2828544"/>
            <a:ext cx="5132527" cy="35052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Antigravity 多代理領先：</a:t>
            </a:r>
            <a:r>
              <a:rPr sz="900">
                <a:solidFill>
                  <a:srgbClr val="4A5568"/>
                </a:solidFill>
                <a:latin typeface="Microsoft JhengHei"/>
              </a:rPr>
              <a:t>協同 (Swarm) 獲 9.8 頂級評價，憑非同步階梯路由處理大規模重構表現優異。</a:t>
            </a:r>
          </a:p>
        </p:txBody>
      </p:sp>
      <p:sp>
        <p:nvSpPr>
          <p:cNvPr id="18" name="Rounded Rectangle 17"/>
          <p:cNvSpPr/>
          <p:nvPr/>
        </p:nvSpPr>
        <p:spPr>
          <a:xfrm>
            <a:off x="5760720" y="3343656"/>
            <a:ext cx="5699455" cy="49682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907024" y="3453384"/>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20" name="TextBox 19"/>
          <p:cNvSpPr txBox="1"/>
          <p:nvPr/>
        </p:nvSpPr>
        <p:spPr>
          <a:xfrm>
            <a:off x="6236208" y="3416808"/>
            <a:ext cx="5132527" cy="35052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離線能力嚴重匱乏：</a:t>
            </a:r>
            <a:r>
              <a:rPr sz="900">
                <a:solidFill>
                  <a:srgbClr val="4A5568"/>
                </a:solidFill>
                <a:latin typeface="Microsoft JhengHei"/>
              </a:rPr>
              <a:t>三大商業框架完全綁定雲端 API，離線得分僅 1–2 分，在機敏隔離環境無法運行。</a:t>
            </a:r>
          </a:p>
        </p:txBody>
      </p:sp>
      <p:sp>
        <p:nvSpPr>
          <p:cNvPr id="21" name="Rounded Rectangle 20"/>
          <p:cNvSpPr/>
          <p:nvPr/>
        </p:nvSpPr>
        <p:spPr>
          <a:xfrm>
            <a:off x="5760720" y="4023360"/>
            <a:ext cx="5699455"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開源陣營亮點評析</a:t>
            </a:r>
            <a:r>
              <a:rPr sz="850" b="1">
                <a:solidFill>
                  <a:srgbClr val="D6CEBF"/>
                </a:solidFill>
                <a:latin typeface="Microsoft JhengHei"/>
              </a:rPr>
              <a:t>  [OPEN SOURCE LEADERS]</a:t>
            </a:r>
          </a:p>
        </p:txBody>
      </p:sp>
      <p:sp>
        <p:nvSpPr>
          <p:cNvPr id="22" name="Rounded Rectangle 21"/>
          <p:cNvSpPr/>
          <p:nvPr/>
        </p:nvSpPr>
        <p:spPr>
          <a:xfrm>
            <a:off x="5760720" y="4590288"/>
            <a:ext cx="5699455" cy="790956"/>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907024" y="4700016"/>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24" name="TextBox 23"/>
          <p:cNvSpPr txBox="1"/>
          <p:nvPr/>
        </p:nvSpPr>
        <p:spPr>
          <a:xfrm>
            <a:off x="6236208" y="4663440"/>
            <a:ext cx="5132527" cy="644652"/>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開源全能冠軍 Hermes：</a:t>
            </a:r>
            <a:r>
              <a:rPr sz="900">
                <a:solidFill>
                  <a:srgbClr val="4A5568"/>
                </a:solidFill>
                <a:latin typeface="Microsoft JhengHei"/>
              </a:rPr>
              <a:t>保有 8.5+ 自主推理之際，離線能力達 9.0 分，內建 SQLite 展現極高實用價值。</a:t>
            </a:r>
          </a:p>
        </p:txBody>
      </p:sp>
      <p:sp>
        <p:nvSpPr>
          <p:cNvPr id="25" name="Rounded Rectangle 24"/>
          <p:cNvSpPr/>
          <p:nvPr/>
        </p:nvSpPr>
        <p:spPr>
          <a:xfrm>
            <a:off x="5760720" y="5472683"/>
            <a:ext cx="5699455" cy="790956"/>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907024" y="5582412"/>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27" name="TextBox 26"/>
          <p:cNvSpPr txBox="1"/>
          <p:nvPr/>
        </p:nvSpPr>
        <p:spPr>
          <a:xfrm>
            <a:off x="6236208" y="5545836"/>
            <a:ext cx="5132527" cy="644652"/>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極致工程工具 Aider：</a:t>
            </a:r>
            <a:r>
              <a:rPr sz="900">
                <a:solidFill>
                  <a:srgbClr val="4A5568"/>
                </a:solidFill>
                <a:latin typeface="Microsoft JhengHei"/>
              </a:rPr>
              <a:t>版本控制原生深度整合，雖然多代理較克制，但代碼修改精準度獲極高敬意。</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生態解構</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雷達圖 V2 演進：納入 LangChain DeepAgents 與離線落後成因</a:t>
            </a:r>
          </a:p>
          <a:p>
            <a:pPr>
              <a:spcBef>
                <a:spcPts val="300"/>
              </a:spcBef>
            </a:pPr>
            <a:r>
              <a:rPr sz="950">
                <a:solidFill>
                  <a:srgbClr val="7C8695"/>
                </a:solidFill>
                <a:latin typeface="Microsoft JhengHei"/>
              </a:rPr>
              <a:t>剖析 LangChain 生態企業管線特徵，以及為何其離線自主能力落後 Hermes 整整 1 分</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07 / 30</a:t>
            </a:r>
          </a:p>
        </p:txBody>
      </p:sp>
      <p:sp>
        <p:nvSpPr>
          <p:cNvPr id="9" name="Rounded Rectangle 8"/>
          <p:cNvSpPr/>
          <p:nvPr/>
        </p:nvSpPr>
        <p:spPr>
          <a:xfrm>
            <a:off x="1178055" y="1545336"/>
            <a:ext cx="3861809" cy="477316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2_agent_capabilities_radar_v2.png"/>
          <p:cNvPicPr>
            <a:picLocks noChangeAspect="1"/>
          </p:cNvPicPr>
          <p:nvPr/>
        </p:nvPicPr>
        <p:blipFill>
          <a:blip r:embed="rId2"/>
          <a:stretch>
            <a:fillRect/>
          </a:stretch>
        </p:blipFill>
        <p:spPr>
          <a:xfrm>
            <a:off x="1232919" y="1600200"/>
            <a:ext cx="3752081" cy="4663440"/>
          </a:xfrm>
          <a:prstGeom prst="rect">
            <a:avLst/>
          </a:prstGeom>
        </p:spPr>
      </p:pic>
      <p:sp>
        <p:nvSpPr>
          <p:cNvPr id="11" name="Rounded Rectangle 10"/>
          <p:cNvSpPr/>
          <p:nvPr/>
        </p:nvSpPr>
        <p:spPr>
          <a:xfrm>
            <a:off x="5760720" y="1600200"/>
            <a:ext cx="5699455"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DeepAgents vs. Hermes 關鍵架構差異</a:t>
            </a:r>
            <a:r>
              <a:rPr sz="850" b="1">
                <a:solidFill>
                  <a:srgbClr val="D6CEBF"/>
                </a:solidFill>
                <a:latin typeface="Microsoft JhengHei"/>
              </a:rPr>
              <a:t>  [ARCHITECTURE GAP]</a:t>
            </a:r>
          </a:p>
        </p:txBody>
      </p:sp>
      <p:sp>
        <p:nvSpPr>
          <p:cNvPr id="12" name="Rounded Rectangle 11"/>
          <p:cNvSpPr/>
          <p:nvPr/>
        </p:nvSpPr>
        <p:spPr>
          <a:xfrm>
            <a:off x="5760720" y="2167128"/>
            <a:ext cx="56994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907024" y="227685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14" name="TextBox 13"/>
          <p:cNvSpPr txBox="1"/>
          <p:nvPr/>
        </p:nvSpPr>
        <p:spPr>
          <a:xfrm>
            <a:off x="6236208" y="2240280"/>
            <a:ext cx="51325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DeepAgents 生態位優勢：</a:t>
            </a:r>
            <a:r>
              <a:rPr sz="900">
                <a:solidFill>
                  <a:srgbClr val="4A5568"/>
                </a:solidFill>
                <a:latin typeface="Microsoft JhengHei"/>
              </a:rPr>
              <a:t>在「多代理協作 (5.0分)」與「工具整合 (5.0分)」達滿分頂標，深度繼承 LangChain/LangGraph 狀態圖編排，是企業既有管線升級首選。</a:t>
            </a:r>
          </a:p>
        </p:txBody>
      </p:sp>
      <p:sp>
        <p:nvSpPr>
          <p:cNvPr id="15" name="Rounded Rectangle 14"/>
          <p:cNvSpPr/>
          <p:nvPr/>
        </p:nvSpPr>
        <p:spPr>
          <a:xfrm>
            <a:off x="5760720" y="3214116"/>
            <a:ext cx="56994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07024" y="3323844"/>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17" name="TextBox 16"/>
          <p:cNvSpPr txBox="1"/>
          <p:nvPr/>
        </p:nvSpPr>
        <p:spPr>
          <a:xfrm>
            <a:off x="6236208" y="3287268"/>
            <a:ext cx="51325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離線能力落後 1 分成因剖析：</a:t>
            </a:r>
            <a:r>
              <a:rPr sz="900">
                <a:solidFill>
                  <a:srgbClr val="4A5568"/>
                </a:solidFill>
                <a:latin typeface="Microsoft JhengHei"/>
              </a:rPr>
              <a:t>圖中 DeepAgents 離線得分 4.0 分（落後 Hermes 的 5.0 滿分），主因其架構高度依賴 LangSmith 雲端追蹤、外部向量資料庫與繁複的第三方套件鏈，一旦置身無外網隔離環境，極易因遙測連線逾時而引發執行阻塞。</a:t>
            </a:r>
          </a:p>
        </p:txBody>
      </p:sp>
      <p:sp>
        <p:nvSpPr>
          <p:cNvPr id="18" name="Rounded Rectangle 17"/>
          <p:cNvSpPr/>
          <p:nvPr/>
        </p:nvSpPr>
        <p:spPr>
          <a:xfrm>
            <a:off x="5760720" y="4261104"/>
            <a:ext cx="56994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907024" y="4370832"/>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20" name="TextBox 19"/>
          <p:cNvSpPr txBox="1"/>
          <p:nvPr/>
        </p:nvSpPr>
        <p:spPr>
          <a:xfrm>
            <a:off x="6236208" y="4334256"/>
            <a:ext cx="51325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持久化底層架構分歧：</a:t>
            </a:r>
            <a:r>
              <a:rPr sz="900">
                <a:solidFill>
                  <a:srgbClr val="4A5568"/>
                </a:solidFill>
                <a:latin typeface="Microsoft JhengHei"/>
              </a:rPr>
              <a:t>Hermes 採用純本地 C-level SQLite 零外部相依檔案資料庫，拔掉網路線依然 100% 正常存取；DeepAgents 預設配置傾向分散式服務，離線部署需額外架設重量級本地模擬伺服器。</a:t>
            </a:r>
          </a:p>
        </p:txBody>
      </p:sp>
      <p:sp>
        <p:nvSpPr>
          <p:cNvPr id="21" name="Rounded Rectangle 20"/>
          <p:cNvSpPr/>
          <p:nvPr/>
        </p:nvSpPr>
        <p:spPr>
          <a:xfrm>
            <a:off x="5760720" y="5308092"/>
            <a:ext cx="56994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07024" y="5417820"/>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4</a:t>
            </a:r>
          </a:p>
        </p:txBody>
      </p:sp>
      <p:sp>
        <p:nvSpPr>
          <p:cNvPr id="23" name="TextBox 22"/>
          <p:cNvSpPr txBox="1"/>
          <p:nvPr/>
        </p:nvSpPr>
        <p:spPr>
          <a:xfrm>
            <a:off x="6236208" y="5381244"/>
            <a:ext cx="51325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選型落地決策指引：</a:t>
            </a:r>
            <a:r>
              <a:rPr sz="900">
                <a:solidFill>
                  <a:srgbClr val="4A5568"/>
                </a:solidFill>
                <a:latin typeface="Microsoft JhengHei"/>
              </a:rPr>
              <a:t>對接既有企業 LangGraph 生態選 DeepAgents；但若為國防、晶圓廠等嚴格實體隔離 (Air-gapped) 涉密環境，具備原生離線能力的 Hermes 具備壓倒性穩定優勢。</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模型排名</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開源 LLM 於 Agent 任務表現排名總表</a:t>
            </a:r>
          </a:p>
          <a:p>
            <a:pPr>
              <a:spcBef>
                <a:spcPts val="300"/>
              </a:spcBef>
            </a:pPr>
            <a:r>
              <a:rPr sz="950">
                <a:solidFill>
                  <a:srgbClr val="7C8695"/>
                </a:solidFill>
                <a:latin typeface="Microsoft JhengHei"/>
              </a:rPr>
              <a:t>涵蓋參數量、VRAM 需求、Tool Calling、程式碼生成與代理穩定性量化評定</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08 / 30</a:t>
            </a:r>
          </a:p>
        </p:txBody>
      </p:sp>
      <p:sp>
        <p:nvSpPr>
          <p:cNvPr id="9" name="Rounded Rectangle 8"/>
          <p:cNvSpPr/>
          <p:nvPr/>
        </p:nvSpPr>
        <p:spPr>
          <a:xfrm>
            <a:off x="731520" y="1600200"/>
            <a:ext cx="10728655" cy="448056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841248" y="1691640"/>
          <a:ext cx="10509194" cy="4297680"/>
        </p:xfrm>
        <a:graphic>
          <a:graphicData uri="http://schemas.openxmlformats.org/drawingml/2006/table">
            <a:tbl>
              <a:tblPr firstRow="1" bandRow="1">
                <a:tableStyleId>{5C22544A-7EE6-4342-B048-85BDC9FD1C3A}</a:tableStyleId>
              </a:tblPr>
              <a:tblGrid>
                <a:gridCol w="716556"/>
                <a:gridCol w="1880961"/>
                <a:gridCol w="1433113"/>
                <a:gridCol w="1253974"/>
                <a:gridCol w="1074834"/>
                <a:gridCol w="1074834"/>
                <a:gridCol w="1074834"/>
                <a:gridCol w="2000088"/>
              </a:tblGrid>
              <a:tr h="390698">
                <a:tc>
                  <a:txBody>
                    <a:bodyPr/>
                    <a:lstStyle/>
                    <a:p>
                      <a:pPr algn="ctr">
                        <a:defRPr sz="900" b="1">
                          <a:solidFill>
                            <a:srgbClr val="232D38"/>
                          </a:solidFill>
                          <a:latin typeface="Microsoft JhengHei"/>
                        </a:defRPr>
                      </a:pPr>
                      <a:r>
                        <a:t>排名</a:t>
                      </a:r>
                    </a:p>
                  </a:txBody>
                  <a:tcPr anchor="ctr">
                    <a:solidFill>
                      <a:srgbClr val="EAE4D8"/>
                    </a:solidFill>
                  </a:tcPr>
                </a:tc>
                <a:tc>
                  <a:txBody>
                    <a:bodyPr/>
                    <a:lstStyle/>
                    <a:p>
                      <a:pPr algn="l">
                        <a:defRPr sz="900" b="1">
                          <a:solidFill>
                            <a:srgbClr val="232D38"/>
                          </a:solidFill>
                          <a:latin typeface="Microsoft JhengHei"/>
                        </a:defRPr>
                      </a:pPr>
                      <a:r>
                        <a:t>模型名稱</a:t>
                      </a:r>
                    </a:p>
                  </a:txBody>
                  <a:tcPr anchor="ctr">
                    <a:solidFill>
                      <a:srgbClr val="EAE4D8"/>
                    </a:solidFill>
                  </a:tcPr>
                </a:tc>
                <a:tc>
                  <a:txBody>
                    <a:bodyPr/>
                    <a:lstStyle/>
                    <a:p>
                      <a:pPr algn="ctr">
                        <a:defRPr sz="900" b="1">
                          <a:solidFill>
                            <a:srgbClr val="232D38"/>
                          </a:solidFill>
                          <a:latin typeface="Microsoft JhengHei"/>
                        </a:defRPr>
                      </a:pPr>
                      <a:r>
                        <a:t>參數量規格</a:t>
                      </a:r>
                    </a:p>
                  </a:txBody>
                  <a:tcPr anchor="ctr">
                    <a:solidFill>
                      <a:srgbClr val="EAE4D8"/>
                    </a:solidFill>
                  </a:tcPr>
                </a:tc>
                <a:tc>
                  <a:txBody>
                    <a:bodyPr/>
                    <a:lstStyle/>
                    <a:p>
                      <a:pPr algn="ctr">
                        <a:defRPr sz="900" b="1">
                          <a:solidFill>
                            <a:srgbClr val="232D38"/>
                          </a:solidFill>
                          <a:latin typeface="Microsoft JhengHei"/>
                        </a:defRPr>
                      </a:pPr>
                      <a:r>
                        <a:t>VRAM 需求</a:t>
                      </a:r>
                    </a:p>
                  </a:txBody>
                  <a:tcPr anchor="ctr">
                    <a:solidFill>
                      <a:srgbClr val="EAE4D8"/>
                    </a:solidFill>
                  </a:tcPr>
                </a:tc>
                <a:tc>
                  <a:txBody>
                    <a:bodyPr/>
                    <a:lstStyle/>
                    <a:p>
                      <a:pPr algn="ctr">
                        <a:defRPr sz="900" b="1">
                          <a:solidFill>
                            <a:srgbClr val="232D38"/>
                          </a:solidFill>
                          <a:latin typeface="Microsoft JhengHei"/>
                        </a:defRPr>
                      </a:pPr>
                      <a:r>
                        <a:t>工具調用</a:t>
                      </a:r>
                    </a:p>
                  </a:txBody>
                  <a:tcPr anchor="ctr">
                    <a:solidFill>
                      <a:srgbClr val="EAE4D8"/>
                    </a:solidFill>
                  </a:tcPr>
                </a:tc>
                <a:tc>
                  <a:txBody>
                    <a:bodyPr/>
                    <a:lstStyle/>
                    <a:p>
                      <a:pPr algn="ctr">
                        <a:defRPr sz="900" b="1">
                          <a:solidFill>
                            <a:srgbClr val="232D38"/>
                          </a:solidFill>
                          <a:latin typeface="Microsoft JhengHei"/>
                        </a:defRPr>
                      </a:pPr>
                      <a:r>
                        <a:t>程式碼生成</a:t>
                      </a:r>
                    </a:p>
                  </a:txBody>
                  <a:tcPr anchor="ctr">
                    <a:solidFill>
                      <a:srgbClr val="EAE4D8"/>
                    </a:solidFill>
                  </a:tcPr>
                </a:tc>
                <a:tc>
                  <a:txBody>
                    <a:bodyPr/>
                    <a:lstStyle/>
                    <a:p>
                      <a:pPr algn="ctr">
                        <a:defRPr sz="900" b="1">
                          <a:solidFill>
                            <a:srgbClr val="232D38"/>
                          </a:solidFill>
                          <a:latin typeface="Microsoft JhengHei"/>
                        </a:defRPr>
                      </a:pPr>
                      <a:r>
                        <a:t>代理穩定性</a:t>
                      </a:r>
                    </a:p>
                  </a:txBody>
                  <a:tcPr anchor="ctr">
                    <a:solidFill>
                      <a:srgbClr val="EAE4D8"/>
                    </a:solidFill>
                  </a:tcPr>
                </a:tc>
                <a:tc>
                  <a:txBody>
                    <a:bodyPr/>
                    <a:lstStyle/>
                    <a:p>
                      <a:pPr algn="l">
                        <a:defRPr sz="900" b="1">
                          <a:solidFill>
                            <a:srgbClr val="232D38"/>
                          </a:solidFill>
                          <a:latin typeface="Microsoft JhengHei"/>
                        </a:defRPr>
                      </a:pPr>
                      <a:r>
                        <a:t>推薦部署場景</a:t>
                      </a:r>
                    </a:p>
                  </a:txBody>
                  <a:tcPr anchor="ctr">
                    <a:solidFill>
                      <a:srgbClr val="EAE4D8"/>
                    </a:solidFill>
                  </a:tcPr>
                </a:tc>
              </a:tr>
              <a:tr h="390698">
                <a:tc>
                  <a:txBody>
                    <a:bodyPr/>
                    <a:lstStyle/>
                    <a:p>
                      <a:pPr algn="ctr">
                        <a:defRPr sz="850" b="1">
                          <a:solidFill>
                            <a:srgbClr val="232D38"/>
                          </a:solidFill>
                          <a:latin typeface="Microsoft JhengHei"/>
                        </a:defRPr>
                      </a:pPr>
                      <a:r>
                        <a:t>1</a:t>
                      </a:r>
                    </a:p>
                  </a:txBody>
                  <a:tcPr anchor="ctr">
                    <a:solidFill>
                      <a:srgbClr val="FDFCFA"/>
                    </a:solidFill>
                  </a:tcPr>
                </a:tc>
                <a:tc>
                  <a:txBody>
                    <a:bodyPr/>
                    <a:lstStyle/>
                    <a:p>
                      <a:pPr algn="l">
                        <a:defRPr sz="850">
                          <a:solidFill>
                            <a:srgbClr val="4A5568"/>
                          </a:solidFill>
                          <a:latin typeface="Microsoft JhengHei"/>
                        </a:defRPr>
                      </a:pPr>
                      <a:r>
                        <a:t>Kimi K3</a:t>
                      </a:r>
                    </a:p>
                  </a:txBody>
                  <a:tcPr anchor="ctr">
                    <a:solidFill>
                      <a:srgbClr val="FDFCFA"/>
                    </a:solidFill>
                  </a:tcPr>
                </a:tc>
                <a:tc>
                  <a:txBody>
                    <a:bodyPr/>
                    <a:lstStyle/>
                    <a:p>
                      <a:pPr algn="ctr">
                        <a:defRPr sz="850">
                          <a:solidFill>
                            <a:srgbClr val="4A5568"/>
                          </a:solidFill>
                          <a:latin typeface="Microsoft JhengHei"/>
                        </a:defRPr>
                      </a:pPr>
                      <a:r>
                        <a:t>2.8T (總 MoE)</a:t>
                      </a:r>
                    </a:p>
                  </a:txBody>
                  <a:tcPr anchor="ctr">
                    <a:solidFill>
                      <a:srgbClr val="FDFCFA"/>
                    </a:solidFill>
                  </a:tcPr>
                </a:tc>
                <a:tc>
                  <a:txBody>
                    <a:bodyPr/>
                    <a:lstStyle/>
                    <a:p>
                      <a:pPr algn="ctr">
                        <a:defRPr sz="850">
                          <a:solidFill>
                            <a:srgbClr val="4A5568"/>
                          </a:solidFill>
                          <a:latin typeface="Microsoft JhengHei"/>
                        </a:defRPr>
                      </a:pPr>
                      <a:r>
                        <a:t>多 GPU 叢集</a:t>
                      </a:r>
                    </a:p>
                  </a:txBody>
                  <a:tcPr anchor="ctr">
                    <a:solidFill>
                      <a:srgbClr val="FDFCFA"/>
                    </a:solidFill>
                  </a:tcPr>
                </a:tc>
                <a:tc>
                  <a:txBody>
                    <a:bodyPr/>
                    <a:lstStyle/>
                    <a:p>
                      <a:pPr algn="ctr">
                        <a:defRPr sz="850" b="1">
                          <a:solidFill>
                            <a:srgbClr val="9E5A38"/>
                          </a:solidFill>
                          <a:latin typeface="Microsoft JhengHei"/>
                        </a:defRPr>
                      </a:pPr>
                      <a:r>
                        <a:t>★★★★★</a:t>
                      </a:r>
                    </a:p>
                  </a:txBody>
                  <a:tcPr anchor="ctr">
                    <a:solidFill>
                      <a:srgbClr val="FDFCFA"/>
                    </a:solidFill>
                  </a:tcPr>
                </a:tc>
                <a:tc>
                  <a:txBody>
                    <a:bodyPr/>
                    <a:lstStyle/>
                    <a:p>
                      <a:pPr algn="ctr">
                        <a:defRPr sz="850" b="1">
                          <a:solidFill>
                            <a:srgbClr val="9E5A38"/>
                          </a:solidFill>
                          <a:latin typeface="Microsoft JhengHei"/>
                        </a:defRPr>
                      </a:pPr>
                      <a:r>
                        <a:t>★★★★★</a:t>
                      </a:r>
                    </a:p>
                  </a:txBody>
                  <a:tcPr anchor="ctr">
                    <a:solidFill>
                      <a:srgbClr val="FDFCFA"/>
                    </a:solidFill>
                  </a:tcPr>
                </a:tc>
                <a:tc>
                  <a:txBody>
                    <a:bodyPr/>
                    <a:lstStyle/>
                    <a:p>
                      <a:pPr algn="ctr">
                        <a:defRPr sz="850" b="1">
                          <a:solidFill>
                            <a:srgbClr val="9E5A38"/>
                          </a:solidFill>
                          <a:latin typeface="Microsoft JhengHei"/>
                        </a:defRPr>
                      </a:pPr>
                      <a:r>
                        <a:t>★★★★★</a:t>
                      </a:r>
                    </a:p>
                  </a:txBody>
                  <a:tcPr anchor="ctr">
                    <a:solidFill>
                      <a:srgbClr val="FDFCFA"/>
                    </a:solidFill>
                  </a:tcPr>
                </a:tc>
                <a:tc>
                  <a:txBody>
                    <a:bodyPr/>
                    <a:lstStyle/>
                    <a:p>
                      <a:pPr algn="l">
                        <a:defRPr sz="850">
                          <a:solidFill>
                            <a:srgbClr val="4A5568"/>
                          </a:solidFill>
                          <a:latin typeface="Microsoft JhengHei"/>
                        </a:defRPr>
                      </a:pPr>
                      <a:r>
                        <a:t>企業級完整代理 / 跨倉重構</a:t>
                      </a:r>
                    </a:p>
                  </a:txBody>
                  <a:tcPr anchor="ctr">
                    <a:solidFill>
                      <a:srgbClr val="FDFCFA"/>
                    </a:solidFill>
                  </a:tcPr>
                </a:tc>
              </a:tr>
              <a:tr h="390698">
                <a:tc>
                  <a:txBody>
                    <a:bodyPr/>
                    <a:lstStyle/>
                    <a:p>
                      <a:pPr algn="ctr">
                        <a:defRPr sz="850" b="1">
                          <a:solidFill>
                            <a:srgbClr val="232D38"/>
                          </a:solidFill>
                          <a:latin typeface="Microsoft JhengHei"/>
                        </a:defRPr>
                      </a:pPr>
                      <a:r>
                        <a:t>2</a:t>
                      </a:r>
                    </a:p>
                  </a:txBody>
                  <a:tcPr anchor="ctr">
                    <a:solidFill>
                      <a:srgbClr val="F7F4ED"/>
                    </a:solidFill>
                  </a:tcPr>
                </a:tc>
                <a:tc>
                  <a:txBody>
                    <a:bodyPr/>
                    <a:lstStyle/>
                    <a:p>
                      <a:pPr algn="l">
                        <a:defRPr sz="850">
                          <a:solidFill>
                            <a:srgbClr val="4A5568"/>
                          </a:solidFill>
                          <a:latin typeface="Microsoft JhengHei"/>
                        </a:defRPr>
                      </a:pPr>
                      <a:r>
                        <a:t>DeepSeek V4.1 Flash</a:t>
                      </a:r>
                    </a:p>
                  </a:txBody>
                  <a:tcPr anchor="ctr">
                    <a:solidFill>
                      <a:srgbClr val="F7F4ED"/>
                    </a:solidFill>
                  </a:tcPr>
                </a:tc>
                <a:tc>
                  <a:txBody>
                    <a:bodyPr/>
                    <a:lstStyle/>
                    <a:p>
                      <a:pPr algn="ctr">
                        <a:defRPr sz="850">
                          <a:solidFill>
                            <a:srgbClr val="4A5568"/>
                          </a:solidFill>
                          <a:latin typeface="Microsoft JhengHei"/>
                        </a:defRPr>
                      </a:pPr>
                      <a:r>
                        <a:t>552B (CED MoE)</a:t>
                      </a:r>
                    </a:p>
                  </a:txBody>
                  <a:tcPr anchor="ctr">
                    <a:solidFill>
                      <a:srgbClr val="F7F4ED"/>
                    </a:solidFill>
                  </a:tcPr>
                </a:tc>
                <a:tc>
                  <a:txBody>
                    <a:bodyPr/>
                    <a:lstStyle/>
                    <a:p>
                      <a:pPr algn="ctr">
                        <a:defRPr sz="850">
                          <a:solidFill>
                            <a:srgbClr val="4A5568"/>
                          </a:solidFill>
                          <a:latin typeface="Microsoft JhengHei"/>
                        </a:defRPr>
                      </a:pPr>
                      <a:r>
                        <a:t>40–80 GB</a:t>
                      </a:r>
                    </a:p>
                  </a:txBody>
                  <a:tcPr anchor="ctr">
                    <a:solidFill>
                      <a:srgbClr val="F7F4ED"/>
                    </a:solidFill>
                  </a:tcPr>
                </a:tc>
                <a:tc>
                  <a:txBody>
                    <a:bodyPr/>
                    <a:lstStyle/>
                    <a:p>
                      <a:pPr algn="ctr">
                        <a:defRPr sz="850" b="1">
                          <a:solidFill>
                            <a:srgbClr val="9E5A38"/>
                          </a:solidFill>
                          <a:latin typeface="Microsoft JhengHei"/>
                        </a:defRPr>
                      </a:pPr>
                      <a:r>
                        <a:t>★★★★★</a:t>
                      </a:r>
                    </a:p>
                  </a:txBody>
                  <a:tcPr anchor="ctr">
                    <a:solidFill>
                      <a:srgbClr val="F7F4ED"/>
                    </a:solidFill>
                  </a:tcPr>
                </a:tc>
                <a:tc>
                  <a:txBody>
                    <a:bodyPr/>
                    <a:lstStyle/>
                    <a:p>
                      <a:pPr algn="ctr">
                        <a:defRPr sz="850" b="1">
                          <a:solidFill>
                            <a:srgbClr val="9E5A38"/>
                          </a:solidFill>
                          <a:latin typeface="Microsoft JhengHei"/>
                        </a:defRPr>
                      </a:pPr>
                      <a:r>
                        <a:t>★★★★★</a:t>
                      </a:r>
                    </a:p>
                  </a:txBody>
                  <a:tcPr anchor="ctr">
                    <a:solidFill>
                      <a:srgbClr val="F7F4ED"/>
                    </a:solidFill>
                  </a:tcPr>
                </a:tc>
                <a:tc>
                  <a:txBody>
                    <a:bodyPr/>
                    <a:lstStyle/>
                    <a:p>
                      <a:pPr algn="ctr">
                        <a:defRPr sz="850">
                          <a:solidFill>
                            <a:srgbClr val="3B6E58"/>
                          </a:solidFill>
                          <a:latin typeface="Microsoft JhengHei"/>
                        </a:defRPr>
                      </a:pPr>
                      <a:r>
                        <a:t>★★★★☆</a:t>
                      </a:r>
                    </a:p>
                  </a:txBody>
                  <a:tcPr anchor="ctr">
                    <a:solidFill>
                      <a:srgbClr val="F7F4ED"/>
                    </a:solidFill>
                  </a:tcPr>
                </a:tc>
                <a:tc>
                  <a:txBody>
                    <a:bodyPr/>
                    <a:lstStyle/>
                    <a:p>
                      <a:pPr algn="l">
                        <a:defRPr sz="850">
                          <a:solidFill>
                            <a:srgbClr val="4A5568"/>
                          </a:solidFill>
                          <a:latin typeface="Microsoft JhengHei"/>
                        </a:defRPr>
                      </a:pPr>
                      <a:r>
                        <a:t>高吞吐量日常多步任務</a:t>
                      </a:r>
                    </a:p>
                  </a:txBody>
                  <a:tcPr anchor="ctr">
                    <a:solidFill>
                      <a:srgbClr val="F7F4ED"/>
                    </a:solidFill>
                  </a:tcPr>
                </a:tc>
              </a:tr>
              <a:tr h="390698">
                <a:tc>
                  <a:txBody>
                    <a:bodyPr/>
                    <a:lstStyle/>
                    <a:p>
                      <a:pPr algn="ctr">
                        <a:defRPr sz="850" b="1">
                          <a:solidFill>
                            <a:srgbClr val="232D38"/>
                          </a:solidFill>
                          <a:latin typeface="Microsoft JhengHei"/>
                        </a:defRPr>
                      </a:pPr>
                      <a:r>
                        <a:t>3</a:t>
                      </a:r>
                    </a:p>
                  </a:txBody>
                  <a:tcPr anchor="ctr">
                    <a:solidFill>
                      <a:srgbClr val="FDFCFA"/>
                    </a:solidFill>
                  </a:tcPr>
                </a:tc>
                <a:tc>
                  <a:txBody>
                    <a:bodyPr/>
                    <a:lstStyle/>
                    <a:p>
                      <a:pPr algn="l">
                        <a:defRPr sz="850">
                          <a:solidFill>
                            <a:srgbClr val="4A5568"/>
                          </a:solidFill>
                          <a:latin typeface="Microsoft JhengHei"/>
                        </a:defRPr>
                      </a:pPr>
                      <a:r>
                        <a:t>Qwen3-Coder 72B</a:t>
                      </a:r>
                    </a:p>
                  </a:txBody>
                  <a:tcPr anchor="ctr">
                    <a:solidFill>
                      <a:srgbClr val="FDFCFA"/>
                    </a:solidFill>
                  </a:tcPr>
                </a:tc>
                <a:tc>
                  <a:txBody>
                    <a:bodyPr/>
                    <a:lstStyle/>
                    <a:p>
                      <a:pPr algn="ctr">
                        <a:defRPr sz="850">
                          <a:solidFill>
                            <a:srgbClr val="4A5568"/>
                          </a:solidFill>
                          <a:latin typeface="Microsoft JhengHei"/>
                        </a:defRPr>
                      </a:pPr>
                      <a:r>
                        <a:t>72B (Dense)</a:t>
                      </a:r>
                    </a:p>
                  </a:txBody>
                  <a:tcPr anchor="ctr">
                    <a:solidFill>
                      <a:srgbClr val="FDFCFA"/>
                    </a:solidFill>
                  </a:tcPr>
                </a:tc>
                <a:tc>
                  <a:txBody>
                    <a:bodyPr/>
                    <a:lstStyle/>
                    <a:p>
                      <a:pPr algn="ctr">
                        <a:defRPr sz="850">
                          <a:solidFill>
                            <a:srgbClr val="4A5568"/>
                          </a:solidFill>
                          <a:latin typeface="Microsoft JhengHei"/>
                        </a:defRPr>
                      </a:pPr>
                      <a:r>
                        <a:t>80 GB+</a:t>
                      </a:r>
                    </a:p>
                  </a:txBody>
                  <a:tcPr anchor="ctr">
                    <a:solidFill>
                      <a:srgbClr val="FDFCFA"/>
                    </a:solidFill>
                  </a:tcPr>
                </a:tc>
                <a:tc>
                  <a:txBody>
                    <a:bodyPr/>
                    <a:lstStyle/>
                    <a:p>
                      <a:pPr algn="ctr">
                        <a:defRPr sz="850" b="1">
                          <a:solidFill>
                            <a:srgbClr val="9E5A38"/>
                          </a:solidFill>
                          <a:latin typeface="Microsoft JhengHei"/>
                        </a:defRPr>
                      </a:pPr>
                      <a:r>
                        <a:t>★★★★★</a:t>
                      </a:r>
                    </a:p>
                  </a:txBody>
                  <a:tcPr anchor="ctr">
                    <a:solidFill>
                      <a:srgbClr val="FDFCFA"/>
                    </a:solidFill>
                  </a:tcPr>
                </a:tc>
                <a:tc>
                  <a:txBody>
                    <a:bodyPr/>
                    <a:lstStyle/>
                    <a:p>
                      <a:pPr algn="ctr">
                        <a:defRPr sz="850" b="1">
                          <a:solidFill>
                            <a:srgbClr val="9E5A38"/>
                          </a:solidFill>
                          <a:latin typeface="Microsoft JhengHei"/>
                        </a:defRPr>
                      </a:pPr>
                      <a:r>
                        <a:t>★★★★★</a:t>
                      </a:r>
                    </a:p>
                  </a:txBody>
                  <a:tcPr anchor="ctr">
                    <a:solidFill>
                      <a:srgbClr val="FDFCFA"/>
                    </a:solidFill>
                  </a:tcPr>
                </a:tc>
                <a:tc>
                  <a:txBody>
                    <a:bodyPr/>
                    <a:lstStyle/>
                    <a:p>
                      <a:pPr algn="ctr">
                        <a:defRPr sz="850">
                          <a:solidFill>
                            <a:srgbClr val="3B6E58"/>
                          </a:solidFill>
                          <a:latin typeface="Microsoft JhengHei"/>
                        </a:defRPr>
                      </a:pPr>
                      <a:r>
                        <a:t>★★★★☆</a:t>
                      </a:r>
                    </a:p>
                  </a:txBody>
                  <a:tcPr anchor="ctr">
                    <a:solidFill>
                      <a:srgbClr val="FDFCFA"/>
                    </a:solidFill>
                  </a:tcPr>
                </a:tc>
                <a:tc>
                  <a:txBody>
                    <a:bodyPr/>
                    <a:lstStyle/>
                    <a:p>
                      <a:pPr algn="l">
                        <a:defRPr sz="850">
                          <a:solidFill>
                            <a:srgbClr val="4A5568"/>
                          </a:solidFill>
                          <a:latin typeface="Microsoft JhengHei"/>
                        </a:defRPr>
                      </a:pPr>
                      <a:r>
                        <a:t>IDE/CLI 企業內部私有整合</a:t>
                      </a:r>
                    </a:p>
                  </a:txBody>
                  <a:tcPr anchor="ctr">
                    <a:solidFill>
                      <a:srgbClr val="FDFCFA"/>
                    </a:solidFill>
                  </a:tcPr>
                </a:tc>
              </a:tr>
              <a:tr h="390698">
                <a:tc>
                  <a:txBody>
                    <a:bodyPr/>
                    <a:lstStyle/>
                    <a:p>
                      <a:pPr algn="ctr">
                        <a:defRPr sz="850" b="1">
                          <a:solidFill>
                            <a:srgbClr val="232D38"/>
                          </a:solidFill>
                          <a:latin typeface="Microsoft JhengHei"/>
                        </a:defRPr>
                      </a:pPr>
                      <a:r>
                        <a:t>4</a:t>
                      </a:r>
                    </a:p>
                  </a:txBody>
                  <a:tcPr anchor="ctr">
                    <a:solidFill>
                      <a:srgbClr val="F7F4ED"/>
                    </a:solidFill>
                  </a:tcPr>
                </a:tc>
                <a:tc>
                  <a:txBody>
                    <a:bodyPr/>
                    <a:lstStyle/>
                    <a:p>
                      <a:pPr algn="l">
                        <a:defRPr sz="850">
                          <a:solidFill>
                            <a:srgbClr val="4A5568"/>
                          </a:solidFill>
                          <a:latin typeface="Microsoft JhengHei"/>
                        </a:defRPr>
                      </a:pPr>
                      <a:r>
                        <a:t>GLM-5.2</a:t>
                      </a:r>
                    </a:p>
                  </a:txBody>
                  <a:tcPr anchor="ctr">
                    <a:solidFill>
                      <a:srgbClr val="F7F4ED"/>
                    </a:solidFill>
                  </a:tcPr>
                </a:tc>
                <a:tc>
                  <a:txBody>
                    <a:bodyPr/>
                    <a:lstStyle/>
                    <a:p>
                      <a:pPr algn="ctr">
                        <a:defRPr sz="850">
                          <a:solidFill>
                            <a:srgbClr val="4A5568"/>
                          </a:solidFill>
                          <a:latin typeface="Microsoft JhengHei"/>
                        </a:defRPr>
                      </a:pPr>
                      <a:r>
                        <a:t>744B (MoE)</a:t>
                      </a:r>
                    </a:p>
                  </a:txBody>
                  <a:tcPr anchor="ctr">
                    <a:solidFill>
                      <a:srgbClr val="F7F4ED"/>
                    </a:solidFill>
                  </a:tcPr>
                </a:tc>
                <a:tc>
                  <a:txBody>
                    <a:bodyPr/>
                    <a:lstStyle/>
                    <a:p>
                      <a:pPr algn="ctr">
                        <a:defRPr sz="850">
                          <a:solidFill>
                            <a:srgbClr val="4A5568"/>
                          </a:solidFill>
                          <a:latin typeface="Microsoft JhengHei"/>
                        </a:defRPr>
                      </a:pPr>
                      <a:r>
                        <a:t>40–80 GB</a:t>
                      </a:r>
                    </a:p>
                  </a:txBody>
                  <a:tcPr anchor="ctr">
                    <a:solidFill>
                      <a:srgbClr val="F7F4ED"/>
                    </a:solidFill>
                  </a:tcPr>
                </a:tc>
                <a:tc>
                  <a:txBody>
                    <a:bodyPr/>
                    <a:lstStyle/>
                    <a:p>
                      <a:pPr algn="ctr">
                        <a:defRPr sz="850">
                          <a:solidFill>
                            <a:srgbClr val="3B6E58"/>
                          </a:solidFill>
                          <a:latin typeface="Microsoft JhengHei"/>
                        </a:defRPr>
                      </a:pPr>
                      <a:r>
                        <a:t>★★★★☆</a:t>
                      </a:r>
                    </a:p>
                  </a:txBody>
                  <a:tcPr anchor="ctr">
                    <a:solidFill>
                      <a:srgbClr val="F7F4ED"/>
                    </a:solidFill>
                  </a:tcPr>
                </a:tc>
                <a:tc>
                  <a:txBody>
                    <a:bodyPr/>
                    <a:lstStyle/>
                    <a:p>
                      <a:pPr algn="ctr">
                        <a:defRPr sz="850" b="1">
                          <a:solidFill>
                            <a:srgbClr val="9E5A38"/>
                          </a:solidFill>
                          <a:latin typeface="Microsoft JhengHei"/>
                        </a:defRPr>
                      </a:pPr>
                      <a:r>
                        <a:t>★★★★★</a:t>
                      </a:r>
                    </a:p>
                  </a:txBody>
                  <a:tcPr anchor="ctr">
                    <a:solidFill>
                      <a:srgbClr val="F7F4ED"/>
                    </a:solidFill>
                  </a:tcPr>
                </a:tc>
                <a:tc>
                  <a:txBody>
                    <a:bodyPr/>
                    <a:lstStyle/>
                    <a:p>
                      <a:pPr algn="ctr">
                        <a:defRPr sz="850">
                          <a:solidFill>
                            <a:srgbClr val="3B6E58"/>
                          </a:solidFill>
                          <a:latin typeface="Microsoft JhengHei"/>
                        </a:defRPr>
                      </a:pPr>
                      <a:r>
                        <a:t>★★★★☆</a:t>
                      </a:r>
                    </a:p>
                  </a:txBody>
                  <a:tcPr anchor="ctr">
                    <a:solidFill>
                      <a:srgbClr val="F7F4ED"/>
                    </a:solidFill>
                  </a:tcPr>
                </a:tc>
                <a:tc>
                  <a:txBody>
                    <a:bodyPr/>
                    <a:lstStyle/>
                    <a:p>
                      <a:pPr algn="l">
                        <a:defRPr sz="850">
                          <a:solidFill>
                            <a:srgbClr val="4A5568"/>
                          </a:solidFill>
                          <a:latin typeface="Microsoft JhengHei"/>
                        </a:defRPr>
                      </a:pPr>
                      <a:r>
                        <a:t>長期規劃 (MIT 授權最友善)</a:t>
                      </a:r>
                    </a:p>
                  </a:txBody>
                  <a:tcPr anchor="ctr">
                    <a:solidFill>
                      <a:srgbClr val="F7F4ED"/>
                    </a:solidFill>
                  </a:tcPr>
                </a:tc>
              </a:tr>
              <a:tr h="390698">
                <a:tc>
                  <a:txBody>
                    <a:bodyPr/>
                    <a:lstStyle/>
                    <a:p>
                      <a:pPr algn="ctr">
                        <a:defRPr sz="850" b="1">
                          <a:solidFill>
                            <a:srgbClr val="232D38"/>
                          </a:solidFill>
                          <a:latin typeface="Microsoft JhengHei"/>
                        </a:defRPr>
                      </a:pPr>
                      <a:r>
                        <a:t>5</a:t>
                      </a:r>
                    </a:p>
                  </a:txBody>
                  <a:tcPr anchor="ctr">
                    <a:solidFill>
                      <a:srgbClr val="FDFCFA"/>
                    </a:solidFill>
                  </a:tcPr>
                </a:tc>
                <a:tc>
                  <a:txBody>
                    <a:bodyPr/>
                    <a:lstStyle/>
                    <a:p>
                      <a:pPr algn="l">
                        <a:defRPr sz="850">
                          <a:solidFill>
                            <a:srgbClr val="4A5568"/>
                          </a:solidFill>
                          <a:latin typeface="Microsoft JhengHei"/>
                        </a:defRPr>
                      </a:pPr>
                      <a:r>
                        <a:t>Qwen3-Coder 30B</a:t>
                      </a:r>
                    </a:p>
                  </a:txBody>
                  <a:tcPr anchor="ctr">
                    <a:solidFill>
                      <a:srgbClr val="FDFCFA"/>
                    </a:solidFill>
                  </a:tcPr>
                </a:tc>
                <a:tc>
                  <a:txBody>
                    <a:bodyPr/>
                    <a:lstStyle/>
                    <a:p>
                      <a:pPr algn="ctr">
                        <a:defRPr sz="850">
                          <a:solidFill>
                            <a:srgbClr val="4A5568"/>
                          </a:solidFill>
                          <a:latin typeface="Microsoft JhengHei"/>
                        </a:defRPr>
                      </a:pPr>
                      <a:r>
                        <a:t>30B (Dense)</a:t>
                      </a:r>
                    </a:p>
                  </a:txBody>
                  <a:tcPr anchor="ctr">
                    <a:solidFill>
                      <a:srgbClr val="FDFCFA"/>
                    </a:solidFill>
                  </a:tcPr>
                </a:tc>
                <a:tc>
                  <a:txBody>
                    <a:bodyPr/>
                    <a:lstStyle/>
                    <a:p>
                      <a:pPr algn="ctr">
                        <a:defRPr sz="850">
                          <a:solidFill>
                            <a:srgbClr val="4A5568"/>
                          </a:solidFill>
                          <a:latin typeface="Microsoft JhengHei"/>
                        </a:defRPr>
                      </a:pPr>
                      <a:r>
                        <a:t>32 GB</a:t>
                      </a:r>
                    </a:p>
                  </a:txBody>
                  <a:tcPr anchor="ctr">
                    <a:solidFill>
                      <a:srgbClr val="FDFCFA"/>
                    </a:solidFill>
                  </a:tcPr>
                </a:tc>
                <a:tc>
                  <a:txBody>
                    <a:bodyPr/>
                    <a:lstStyle/>
                    <a:p>
                      <a:pPr algn="ctr">
                        <a:defRPr sz="850">
                          <a:solidFill>
                            <a:srgbClr val="3B6E58"/>
                          </a:solidFill>
                          <a:latin typeface="Microsoft JhengHei"/>
                        </a:defRPr>
                      </a:pPr>
                      <a:r>
                        <a:t>★★★★☆</a:t>
                      </a:r>
                    </a:p>
                  </a:txBody>
                  <a:tcPr anchor="ctr">
                    <a:solidFill>
                      <a:srgbClr val="FDFCFA"/>
                    </a:solidFill>
                  </a:tcPr>
                </a:tc>
                <a:tc>
                  <a:txBody>
                    <a:bodyPr/>
                    <a:lstStyle/>
                    <a:p>
                      <a:pPr algn="ctr">
                        <a:defRPr sz="850">
                          <a:solidFill>
                            <a:srgbClr val="3B6E58"/>
                          </a:solidFill>
                          <a:latin typeface="Microsoft JhengHei"/>
                        </a:defRPr>
                      </a:pPr>
                      <a:r>
                        <a:t>★★★★☆</a:t>
                      </a:r>
                    </a:p>
                  </a:txBody>
                  <a:tcPr anchor="ctr">
                    <a:solidFill>
                      <a:srgbClr val="FDFCFA"/>
                    </a:solidFill>
                  </a:tcPr>
                </a:tc>
                <a:tc>
                  <a:txBody>
                    <a:bodyPr/>
                    <a:lstStyle/>
                    <a:p>
                      <a:pPr algn="ctr">
                        <a:defRPr sz="850">
                          <a:solidFill>
                            <a:srgbClr val="3B6E58"/>
                          </a:solidFill>
                          <a:latin typeface="Microsoft JhengHei"/>
                        </a:defRPr>
                      </a:pPr>
                      <a:r>
                        <a:t>★★★★☆</a:t>
                      </a:r>
                    </a:p>
                  </a:txBody>
                  <a:tcPr anchor="ctr">
                    <a:solidFill>
                      <a:srgbClr val="FDFCFA"/>
                    </a:solidFill>
                  </a:tcPr>
                </a:tc>
                <a:tc>
                  <a:txBody>
                    <a:bodyPr/>
                    <a:lstStyle/>
                    <a:p>
                      <a:pPr algn="l">
                        <a:defRPr sz="850">
                          <a:solidFill>
                            <a:srgbClr val="4A5568"/>
                          </a:solidFill>
                          <a:latin typeface="Microsoft JhengHei"/>
                        </a:defRPr>
                      </a:pPr>
                      <a:r>
                        <a:t>本地高階工作站首選 (雙卡)</a:t>
                      </a:r>
                    </a:p>
                  </a:txBody>
                  <a:tcPr anchor="ctr">
                    <a:solidFill>
                      <a:srgbClr val="FDFCFA"/>
                    </a:solidFill>
                  </a:tcPr>
                </a:tc>
              </a:tr>
              <a:tr h="390698">
                <a:tc>
                  <a:txBody>
                    <a:bodyPr/>
                    <a:lstStyle/>
                    <a:p>
                      <a:pPr algn="ctr">
                        <a:defRPr sz="850" b="1">
                          <a:solidFill>
                            <a:srgbClr val="232D38"/>
                          </a:solidFill>
                          <a:latin typeface="Microsoft JhengHei"/>
                        </a:defRPr>
                      </a:pPr>
                      <a:r>
                        <a:t>6</a:t>
                      </a:r>
                    </a:p>
                  </a:txBody>
                  <a:tcPr anchor="ctr">
                    <a:solidFill>
                      <a:srgbClr val="F7F4ED"/>
                    </a:solidFill>
                  </a:tcPr>
                </a:tc>
                <a:tc>
                  <a:txBody>
                    <a:bodyPr/>
                    <a:lstStyle/>
                    <a:p>
                      <a:pPr algn="l">
                        <a:defRPr sz="850">
                          <a:solidFill>
                            <a:srgbClr val="4A5568"/>
                          </a:solidFill>
                          <a:latin typeface="Microsoft JhengHei"/>
                        </a:defRPr>
                      </a:pPr>
                      <a:r>
                        <a:t>Llama 4 (MoE)</a:t>
                      </a:r>
                    </a:p>
                  </a:txBody>
                  <a:tcPr anchor="ctr">
                    <a:solidFill>
                      <a:srgbClr val="F7F4ED"/>
                    </a:solidFill>
                  </a:tcPr>
                </a:tc>
                <a:tc>
                  <a:txBody>
                    <a:bodyPr/>
                    <a:lstStyle/>
                    <a:p>
                      <a:pPr algn="ctr">
                        <a:defRPr sz="850">
                          <a:solidFill>
                            <a:srgbClr val="4A5568"/>
                          </a:solidFill>
                          <a:latin typeface="Microsoft JhengHei"/>
                        </a:defRPr>
                      </a:pPr>
                      <a:r>
                        <a:t>MoE 架構</a:t>
                      </a:r>
                    </a:p>
                  </a:txBody>
                  <a:tcPr anchor="ctr">
                    <a:solidFill>
                      <a:srgbClr val="F7F4ED"/>
                    </a:solidFill>
                  </a:tcPr>
                </a:tc>
                <a:tc>
                  <a:txBody>
                    <a:bodyPr/>
                    <a:lstStyle/>
                    <a:p>
                      <a:pPr algn="ctr">
                        <a:defRPr sz="850">
                          <a:solidFill>
                            <a:srgbClr val="4A5568"/>
                          </a:solidFill>
                          <a:latin typeface="Microsoft JhengHei"/>
                        </a:defRPr>
                      </a:pPr>
                      <a:r>
                        <a:t>視活躍參數</a:t>
                      </a:r>
                    </a:p>
                  </a:txBody>
                  <a:tcPr anchor="ctr">
                    <a:solidFill>
                      <a:srgbClr val="F7F4ED"/>
                    </a:solidFill>
                  </a:tcPr>
                </a:tc>
                <a:tc>
                  <a:txBody>
                    <a:bodyPr/>
                    <a:lstStyle/>
                    <a:p>
                      <a:pPr algn="ctr">
                        <a:defRPr sz="850">
                          <a:solidFill>
                            <a:srgbClr val="3B6E58"/>
                          </a:solidFill>
                          <a:latin typeface="Microsoft JhengHei"/>
                        </a:defRPr>
                      </a:pPr>
                      <a:r>
                        <a:t>★★★★☆</a:t>
                      </a:r>
                    </a:p>
                  </a:txBody>
                  <a:tcPr anchor="ctr">
                    <a:solidFill>
                      <a:srgbClr val="F7F4ED"/>
                    </a:solidFill>
                  </a:tcPr>
                </a:tc>
                <a:tc>
                  <a:txBody>
                    <a:bodyPr/>
                    <a:lstStyle/>
                    <a:p>
                      <a:pPr algn="ctr">
                        <a:defRPr sz="850">
                          <a:solidFill>
                            <a:srgbClr val="3B6E58"/>
                          </a:solidFill>
                          <a:latin typeface="Microsoft JhengHei"/>
                        </a:defRPr>
                      </a:pPr>
                      <a:r>
                        <a:t>★★★★☆</a:t>
                      </a:r>
                    </a:p>
                  </a:txBody>
                  <a:tcPr anchor="ctr">
                    <a:solidFill>
                      <a:srgbClr val="F7F4ED"/>
                    </a:solidFill>
                  </a:tcPr>
                </a:tc>
                <a:tc>
                  <a:txBody>
                    <a:bodyPr/>
                    <a:lstStyle/>
                    <a:p>
                      <a:pPr algn="ctr">
                        <a:defRPr sz="850">
                          <a:solidFill>
                            <a:srgbClr val="3B6E58"/>
                          </a:solidFill>
                          <a:latin typeface="Microsoft JhengHei"/>
                        </a:defRPr>
                      </a:pPr>
                      <a:r>
                        <a:t>★★★☆☆</a:t>
                      </a:r>
                    </a:p>
                  </a:txBody>
                  <a:tcPr anchor="ctr">
                    <a:solidFill>
                      <a:srgbClr val="F7F4ED"/>
                    </a:solidFill>
                  </a:tcPr>
                </a:tc>
                <a:tc>
                  <a:txBody>
                    <a:bodyPr/>
                    <a:lstStyle/>
                    <a:p>
                      <a:pPr algn="l">
                        <a:defRPr sz="850">
                          <a:solidFill>
                            <a:srgbClr val="4A5568"/>
                          </a:solidFill>
                          <a:latin typeface="Microsoft JhengHei"/>
                        </a:defRPr>
                      </a:pPr>
                      <a:r>
                        <a:t>超長上下文 Repo 級分析</a:t>
                      </a:r>
                    </a:p>
                  </a:txBody>
                  <a:tcPr anchor="ctr">
                    <a:solidFill>
                      <a:srgbClr val="F7F4ED"/>
                    </a:solidFill>
                  </a:tcPr>
                </a:tc>
              </a:tr>
              <a:tr h="390698">
                <a:tc>
                  <a:txBody>
                    <a:bodyPr/>
                    <a:lstStyle/>
                    <a:p>
                      <a:pPr algn="ctr">
                        <a:defRPr sz="850" b="1">
                          <a:solidFill>
                            <a:srgbClr val="232D38"/>
                          </a:solidFill>
                          <a:latin typeface="Microsoft JhengHei"/>
                        </a:defRPr>
                      </a:pPr>
                      <a:r>
                        <a:t>7</a:t>
                      </a:r>
                    </a:p>
                  </a:txBody>
                  <a:tcPr anchor="ctr">
                    <a:solidFill>
                      <a:srgbClr val="FDFCFA"/>
                    </a:solidFill>
                  </a:tcPr>
                </a:tc>
                <a:tc>
                  <a:txBody>
                    <a:bodyPr/>
                    <a:lstStyle/>
                    <a:p>
                      <a:pPr algn="l">
                        <a:defRPr sz="850">
                          <a:solidFill>
                            <a:srgbClr val="4A5568"/>
                          </a:solidFill>
                          <a:latin typeface="Microsoft JhengHei"/>
                        </a:defRPr>
                      </a:pPr>
                      <a:r>
                        <a:t>Gemma 4 31B</a:t>
                      </a:r>
                    </a:p>
                  </a:txBody>
                  <a:tcPr anchor="ctr">
                    <a:solidFill>
                      <a:srgbClr val="FDFCFA"/>
                    </a:solidFill>
                  </a:tcPr>
                </a:tc>
                <a:tc>
                  <a:txBody>
                    <a:bodyPr/>
                    <a:lstStyle/>
                    <a:p>
                      <a:pPr algn="ctr">
                        <a:defRPr sz="850">
                          <a:solidFill>
                            <a:srgbClr val="4A5568"/>
                          </a:solidFill>
                          <a:latin typeface="Microsoft JhengHei"/>
                        </a:defRPr>
                      </a:pPr>
                      <a:r>
                        <a:t>31B (Dense)</a:t>
                      </a:r>
                    </a:p>
                  </a:txBody>
                  <a:tcPr anchor="ctr">
                    <a:solidFill>
                      <a:srgbClr val="FDFCFA"/>
                    </a:solidFill>
                  </a:tcPr>
                </a:tc>
                <a:tc>
                  <a:txBody>
                    <a:bodyPr/>
                    <a:lstStyle/>
                    <a:p>
                      <a:pPr algn="ctr">
                        <a:defRPr sz="850">
                          <a:solidFill>
                            <a:srgbClr val="4A5568"/>
                          </a:solidFill>
                          <a:latin typeface="Microsoft JhengHei"/>
                        </a:defRPr>
                      </a:pPr>
                      <a:r>
                        <a:t>32–40 GB</a:t>
                      </a:r>
                    </a:p>
                  </a:txBody>
                  <a:tcPr anchor="ctr">
                    <a:solidFill>
                      <a:srgbClr val="FDFCFA"/>
                    </a:solidFill>
                  </a:tcPr>
                </a:tc>
                <a:tc>
                  <a:txBody>
                    <a:bodyPr/>
                    <a:lstStyle/>
                    <a:p>
                      <a:pPr algn="ctr">
                        <a:defRPr sz="850">
                          <a:solidFill>
                            <a:srgbClr val="3B6E58"/>
                          </a:solidFill>
                          <a:latin typeface="Microsoft JhengHei"/>
                        </a:defRPr>
                      </a:pPr>
                      <a:r>
                        <a:t>★★★★☆</a:t>
                      </a:r>
                    </a:p>
                  </a:txBody>
                  <a:tcPr anchor="ctr">
                    <a:solidFill>
                      <a:srgbClr val="FDFCFA"/>
                    </a:solidFill>
                  </a:tcPr>
                </a:tc>
                <a:tc>
                  <a:txBody>
                    <a:bodyPr/>
                    <a:lstStyle/>
                    <a:p>
                      <a:pPr algn="ctr">
                        <a:defRPr sz="850">
                          <a:solidFill>
                            <a:srgbClr val="3B6E58"/>
                          </a:solidFill>
                          <a:latin typeface="Microsoft JhengHei"/>
                        </a:defRPr>
                      </a:pPr>
                      <a:r>
                        <a:t>★★★★☆</a:t>
                      </a:r>
                    </a:p>
                  </a:txBody>
                  <a:tcPr anchor="ctr">
                    <a:solidFill>
                      <a:srgbClr val="FDFCFA"/>
                    </a:solidFill>
                  </a:tcPr>
                </a:tc>
                <a:tc>
                  <a:txBody>
                    <a:bodyPr/>
                    <a:lstStyle/>
                    <a:p>
                      <a:pPr algn="ctr">
                        <a:defRPr sz="850">
                          <a:solidFill>
                            <a:srgbClr val="3B6E58"/>
                          </a:solidFill>
                          <a:latin typeface="Microsoft JhengHei"/>
                        </a:defRPr>
                      </a:pPr>
                      <a:r>
                        <a:t>★★★★☆</a:t>
                      </a:r>
                    </a:p>
                  </a:txBody>
                  <a:tcPr anchor="ctr">
                    <a:solidFill>
                      <a:srgbClr val="FDFCFA"/>
                    </a:solidFill>
                  </a:tcPr>
                </a:tc>
                <a:tc>
                  <a:txBody>
                    <a:bodyPr/>
                    <a:lstStyle/>
                    <a:p>
                      <a:pPr algn="l">
                        <a:defRPr sz="850">
                          <a:solidFill>
                            <a:srgbClr val="4A5568"/>
                          </a:solidFill>
                          <a:latin typeface="Microsoft JhengHei"/>
                        </a:defRPr>
                      </a:pPr>
                      <a:r>
                        <a:t>本地工作站高階代理 (Apache 2.0)</a:t>
                      </a:r>
                    </a:p>
                  </a:txBody>
                  <a:tcPr anchor="ctr">
                    <a:solidFill>
                      <a:srgbClr val="FDFCFA"/>
                    </a:solidFill>
                  </a:tcPr>
                </a:tc>
              </a:tr>
              <a:tr h="390698">
                <a:tc>
                  <a:txBody>
                    <a:bodyPr/>
                    <a:lstStyle/>
                    <a:p>
                      <a:pPr algn="ctr">
                        <a:defRPr sz="850" b="1">
                          <a:solidFill>
                            <a:srgbClr val="232D38"/>
                          </a:solidFill>
                          <a:latin typeface="Microsoft JhengHei"/>
                        </a:defRPr>
                      </a:pPr>
                      <a:r>
                        <a:t>8</a:t>
                      </a:r>
                    </a:p>
                  </a:txBody>
                  <a:tcPr anchor="ctr">
                    <a:solidFill>
                      <a:srgbClr val="F7F4ED"/>
                    </a:solidFill>
                  </a:tcPr>
                </a:tc>
                <a:tc>
                  <a:txBody>
                    <a:bodyPr/>
                    <a:lstStyle/>
                    <a:p>
                      <a:pPr algn="l">
                        <a:defRPr sz="850">
                          <a:solidFill>
                            <a:srgbClr val="4A5568"/>
                          </a:solidFill>
                          <a:latin typeface="Microsoft JhengHei"/>
                        </a:defRPr>
                      </a:pPr>
                      <a:r>
                        <a:t>Gemma 4 26B (MoE)</a:t>
                      </a:r>
                    </a:p>
                  </a:txBody>
                  <a:tcPr anchor="ctr">
                    <a:solidFill>
                      <a:srgbClr val="F7F4ED"/>
                    </a:solidFill>
                  </a:tcPr>
                </a:tc>
                <a:tc>
                  <a:txBody>
                    <a:bodyPr/>
                    <a:lstStyle/>
                    <a:p>
                      <a:pPr algn="ctr">
                        <a:defRPr sz="850">
                          <a:solidFill>
                            <a:srgbClr val="4A5568"/>
                          </a:solidFill>
                          <a:latin typeface="Microsoft JhengHei"/>
                        </a:defRPr>
                      </a:pPr>
                      <a:r>
                        <a:t>26B (3.8B act)</a:t>
                      </a:r>
                    </a:p>
                  </a:txBody>
                  <a:tcPr anchor="ctr">
                    <a:solidFill>
                      <a:srgbClr val="F7F4ED"/>
                    </a:solidFill>
                  </a:tcPr>
                </a:tc>
                <a:tc>
                  <a:txBody>
                    <a:bodyPr/>
                    <a:lstStyle/>
                    <a:p>
                      <a:pPr algn="ctr">
                        <a:defRPr sz="850">
                          <a:solidFill>
                            <a:srgbClr val="4A5568"/>
                          </a:solidFill>
                          <a:latin typeface="Microsoft JhengHei"/>
                        </a:defRPr>
                      </a:pPr>
                      <a:r>
                        <a:t>16–20 GB</a:t>
                      </a:r>
                    </a:p>
                  </a:txBody>
                  <a:tcPr anchor="ctr">
                    <a:solidFill>
                      <a:srgbClr val="F7F4ED"/>
                    </a:solidFill>
                  </a:tcPr>
                </a:tc>
                <a:tc>
                  <a:txBody>
                    <a:bodyPr/>
                    <a:lstStyle/>
                    <a:p>
                      <a:pPr algn="ctr">
                        <a:defRPr sz="850">
                          <a:solidFill>
                            <a:srgbClr val="3B6E58"/>
                          </a:solidFill>
                          <a:latin typeface="Microsoft JhengHei"/>
                        </a:defRPr>
                      </a:pPr>
                      <a:r>
                        <a:t>★★★★☆</a:t>
                      </a:r>
                    </a:p>
                  </a:txBody>
                  <a:tcPr anchor="ctr">
                    <a:solidFill>
                      <a:srgbClr val="F7F4ED"/>
                    </a:solidFill>
                  </a:tcPr>
                </a:tc>
                <a:tc>
                  <a:txBody>
                    <a:bodyPr/>
                    <a:lstStyle/>
                    <a:p>
                      <a:pPr algn="ctr">
                        <a:defRPr sz="850">
                          <a:solidFill>
                            <a:srgbClr val="3B6E58"/>
                          </a:solidFill>
                          <a:latin typeface="Microsoft JhengHei"/>
                        </a:defRPr>
                      </a:pPr>
                      <a:r>
                        <a:t>★★★☆☆</a:t>
                      </a:r>
                    </a:p>
                  </a:txBody>
                  <a:tcPr anchor="ctr">
                    <a:solidFill>
                      <a:srgbClr val="F7F4ED"/>
                    </a:solidFill>
                  </a:tcPr>
                </a:tc>
                <a:tc>
                  <a:txBody>
                    <a:bodyPr/>
                    <a:lstStyle/>
                    <a:p>
                      <a:pPr algn="ctr">
                        <a:defRPr sz="850">
                          <a:solidFill>
                            <a:srgbClr val="3B6E58"/>
                          </a:solidFill>
                          <a:latin typeface="Microsoft JhengHei"/>
                        </a:defRPr>
                      </a:pPr>
                      <a:r>
                        <a:t>★★★★☆</a:t>
                      </a:r>
                    </a:p>
                  </a:txBody>
                  <a:tcPr anchor="ctr">
                    <a:solidFill>
                      <a:srgbClr val="F7F4ED"/>
                    </a:solidFill>
                  </a:tcPr>
                </a:tc>
                <a:tc>
                  <a:txBody>
                    <a:bodyPr/>
                    <a:lstStyle/>
                    <a:p>
                      <a:pPr algn="l">
                        <a:defRPr sz="850">
                          <a:solidFill>
                            <a:srgbClr val="4A5568"/>
                          </a:solidFill>
                          <a:latin typeface="Microsoft JhengHei"/>
                        </a:defRPr>
                      </a:pPr>
                      <a:r>
                        <a:t>高吞吐單卡工作站 (16G VRAM)</a:t>
                      </a:r>
                    </a:p>
                  </a:txBody>
                  <a:tcPr anchor="ctr">
                    <a:solidFill>
                      <a:srgbClr val="F7F4ED"/>
                    </a:solidFill>
                  </a:tcPr>
                </a:tc>
              </a:tr>
              <a:tr h="390698">
                <a:tc>
                  <a:txBody>
                    <a:bodyPr/>
                    <a:lstStyle/>
                    <a:p>
                      <a:pPr algn="ctr">
                        <a:defRPr sz="850" b="1">
                          <a:solidFill>
                            <a:srgbClr val="232D38"/>
                          </a:solidFill>
                          <a:latin typeface="Microsoft JhengHei"/>
                        </a:defRPr>
                      </a:pPr>
                      <a:r>
                        <a:t>9</a:t>
                      </a:r>
                    </a:p>
                  </a:txBody>
                  <a:tcPr anchor="ctr">
                    <a:solidFill>
                      <a:srgbClr val="FDFCFA"/>
                    </a:solidFill>
                  </a:tcPr>
                </a:tc>
                <a:tc>
                  <a:txBody>
                    <a:bodyPr/>
                    <a:lstStyle/>
                    <a:p>
                      <a:pPr algn="l">
                        <a:defRPr sz="850">
                          <a:solidFill>
                            <a:srgbClr val="4A5568"/>
                          </a:solidFill>
                          <a:latin typeface="Microsoft JhengHei"/>
                        </a:defRPr>
                      </a:pPr>
                      <a:r>
                        <a:t>DeepSeek R1 蒸餾 14B</a:t>
                      </a:r>
                    </a:p>
                  </a:txBody>
                  <a:tcPr anchor="ctr">
                    <a:solidFill>
                      <a:srgbClr val="FDFCFA"/>
                    </a:solidFill>
                  </a:tcPr>
                </a:tc>
                <a:tc>
                  <a:txBody>
                    <a:bodyPr/>
                    <a:lstStyle/>
                    <a:p>
                      <a:pPr algn="ctr">
                        <a:defRPr sz="850">
                          <a:solidFill>
                            <a:srgbClr val="4A5568"/>
                          </a:solidFill>
                          <a:latin typeface="Microsoft JhengHei"/>
                        </a:defRPr>
                      </a:pPr>
                      <a:r>
                        <a:t>14B (Dense)</a:t>
                      </a:r>
                    </a:p>
                  </a:txBody>
                  <a:tcPr anchor="ctr">
                    <a:solidFill>
                      <a:srgbClr val="FDFCFA"/>
                    </a:solidFill>
                  </a:tcPr>
                </a:tc>
                <a:tc>
                  <a:txBody>
                    <a:bodyPr/>
                    <a:lstStyle/>
                    <a:p>
                      <a:pPr algn="ctr">
                        <a:defRPr sz="850">
                          <a:solidFill>
                            <a:srgbClr val="4A5568"/>
                          </a:solidFill>
                          <a:latin typeface="Microsoft JhengHei"/>
                        </a:defRPr>
                      </a:pPr>
                      <a:r>
                        <a:t>16 GB</a:t>
                      </a:r>
                    </a:p>
                  </a:txBody>
                  <a:tcPr anchor="ctr">
                    <a:solidFill>
                      <a:srgbClr val="FDFCFA"/>
                    </a:solidFill>
                  </a:tcPr>
                </a:tc>
                <a:tc>
                  <a:txBody>
                    <a:bodyPr/>
                    <a:lstStyle/>
                    <a:p>
                      <a:pPr algn="ctr">
                        <a:defRPr sz="850">
                          <a:solidFill>
                            <a:srgbClr val="3B6E58"/>
                          </a:solidFill>
                          <a:latin typeface="Microsoft JhengHei"/>
                        </a:defRPr>
                      </a:pPr>
                      <a:r>
                        <a:t>★★★☆☆</a:t>
                      </a:r>
                    </a:p>
                  </a:txBody>
                  <a:tcPr anchor="ctr">
                    <a:solidFill>
                      <a:srgbClr val="FDFCFA"/>
                    </a:solidFill>
                  </a:tcPr>
                </a:tc>
                <a:tc>
                  <a:txBody>
                    <a:bodyPr/>
                    <a:lstStyle/>
                    <a:p>
                      <a:pPr algn="ctr">
                        <a:defRPr sz="850">
                          <a:solidFill>
                            <a:srgbClr val="3B6E58"/>
                          </a:solidFill>
                          <a:latin typeface="Microsoft JhengHei"/>
                        </a:defRPr>
                      </a:pPr>
                      <a:r>
                        <a:t>★★★☆☆</a:t>
                      </a:r>
                    </a:p>
                  </a:txBody>
                  <a:tcPr anchor="ctr">
                    <a:solidFill>
                      <a:srgbClr val="FDFCFA"/>
                    </a:solidFill>
                  </a:tcPr>
                </a:tc>
                <a:tc>
                  <a:txBody>
                    <a:bodyPr/>
                    <a:lstStyle/>
                    <a:p>
                      <a:pPr algn="ctr">
                        <a:defRPr sz="850">
                          <a:solidFill>
                            <a:srgbClr val="3B6E58"/>
                          </a:solidFill>
                          <a:latin typeface="Microsoft JhengHei"/>
                        </a:defRPr>
                      </a:pPr>
                      <a:r>
                        <a:t>★★★☆☆</a:t>
                      </a:r>
                    </a:p>
                  </a:txBody>
                  <a:tcPr anchor="ctr">
                    <a:solidFill>
                      <a:srgbClr val="FDFCFA"/>
                    </a:solidFill>
                  </a:tcPr>
                </a:tc>
                <a:tc>
                  <a:txBody>
                    <a:bodyPr/>
                    <a:lstStyle/>
                    <a:p>
                      <a:pPr algn="l">
                        <a:defRPr sz="850">
                          <a:solidFill>
                            <a:srgbClr val="4A5568"/>
                          </a:solidFill>
                          <a:latin typeface="Microsoft JhengHei"/>
                        </a:defRPr>
                      </a:pPr>
                      <a:r>
                        <a:t>資源受限環境之性價比之選</a:t>
                      </a:r>
                    </a:p>
                  </a:txBody>
                  <a:tcPr anchor="ctr">
                    <a:solidFill>
                      <a:srgbClr val="FDFCFA"/>
                    </a:solidFill>
                  </a:tcPr>
                </a:tc>
              </a:tr>
              <a:tr h="390700">
                <a:tc>
                  <a:txBody>
                    <a:bodyPr/>
                    <a:lstStyle/>
                    <a:p>
                      <a:pPr algn="ctr">
                        <a:defRPr sz="850" b="1">
                          <a:solidFill>
                            <a:srgbClr val="232D38"/>
                          </a:solidFill>
                          <a:latin typeface="Microsoft JhengHei"/>
                        </a:defRPr>
                      </a:pPr>
                      <a:r>
                        <a:t>10</a:t>
                      </a:r>
                    </a:p>
                  </a:txBody>
                  <a:tcPr anchor="ctr">
                    <a:solidFill>
                      <a:srgbClr val="F7F4ED"/>
                    </a:solidFill>
                  </a:tcPr>
                </a:tc>
                <a:tc>
                  <a:txBody>
                    <a:bodyPr/>
                    <a:lstStyle/>
                    <a:p>
                      <a:pPr algn="l">
                        <a:defRPr sz="850">
                          <a:solidFill>
                            <a:srgbClr val="4A5568"/>
                          </a:solidFill>
                          <a:latin typeface="Microsoft JhengHei"/>
                        </a:defRPr>
                      </a:pPr>
                      <a:r>
                        <a:t>Gemma 4 E4B / E2B</a:t>
                      </a:r>
                    </a:p>
                  </a:txBody>
                  <a:tcPr anchor="ctr">
                    <a:solidFill>
                      <a:srgbClr val="F7F4ED"/>
                    </a:solidFill>
                  </a:tcPr>
                </a:tc>
                <a:tc>
                  <a:txBody>
                    <a:bodyPr/>
                    <a:lstStyle/>
                    <a:p>
                      <a:pPr algn="ctr">
                        <a:defRPr sz="850">
                          <a:solidFill>
                            <a:srgbClr val="4A5568"/>
                          </a:solidFill>
                          <a:latin typeface="Microsoft JhengHei"/>
                        </a:defRPr>
                      </a:pPr>
                      <a:r>
                        <a:t>4.5B / 2.3B</a:t>
                      </a:r>
                    </a:p>
                  </a:txBody>
                  <a:tcPr anchor="ctr">
                    <a:solidFill>
                      <a:srgbClr val="F7F4ED"/>
                    </a:solidFill>
                  </a:tcPr>
                </a:tc>
                <a:tc>
                  <a:txBody>
                    <a:bodyPr/>
                    <a:lstStyle/>
                    <a:p>
                      <a:pPr algn="ctr">
                        <a:defRPr sz="850">
                          <a:solidFill>
                            <a:srgbClr val="4A5568"/>
                          </a:solidFill>
                          <a:latin typeface="Microsoft JhengHei"/>
                        </a:defRPr>
                      </a:pPr>
                      <a:r>
                        <a:t>4–6 GB</a:t>
                      </a:r>
                    </a:p>
                  </a:txBody>
                  <a:tcPr anchor="ctr">
                    <a:solidFill>
                      <a:srgbClr val="F7F4ED"/>
                    </a:solidFill>
                  </a:tcPr>
                </a:tc>
                <a:tc>
                  <a:txBody>
                    <a:bodyPr/>
                    <a:lstStyle/>
                    <a:p>
                      <a:pPr algn="ctr">
                        <a:defRPr sz="850">
                          <a:solidFill>
                            <a:srgbClr val="3B6E58"/>
                          </a:solidFill>
                          <a:latin typeface="Microsoft JhengHei"/>
                        </a:defRPr>
                      </a:pPr>
                      <a:r>
                        <a:t>★★★☆☆</a:t>
                      </a:r>
                    </a:p>
                  </a:txBody>
                  <a:tcPr anchor="ctr">
                    <a:solidFill>
                      <a:srgbClr val="F7F4ED"/>
                    </a:solidFill>
                  </a:tcPr>
                </a:tc>
                <a:tc>
                  <a:txBody>
                    <a:bodyPr/>
                    <a:lstStyle/>
                    <a:p>
                      <a:pPr algn="ctr">
                        <a:defRPr sz="850">
                          <a:solidFill>
                            <a:srgbClr val="3B6E58"/>
                          </a:solidFill>
                          <a:latin typeface="Microsoft JhengHei"/>
                        </a:defRPr>
                      </a:pPr>
                      <a:r>
                        <a:t>★★☆☆☆</a:t>
                      </a:r>
                    </a:p>
                  </a:txBody>
                  <a:tcPr anchor="ctr">
                    <a:solidFill>
                      <a:srgbClr val="F7F4ED"/>
                    </a:solidFill>
                  </a:tcPr>
                </a:tc>
                <a:tc>
                  <a:txBody>
                    <a:bodyPr/>
                    <a:lstStyle/>
                    <a:p>
                      <a:pPr algn="ctr">
                        <a:defRPr sz="850">
                          <a:solidFill>
                            <a:srgbClr val="3B6E58"/>
                          </a:solidFill>
                          <a:latin typeface="Microsoft JhengHei"/>
                        </a:defRPr>
                      </a:pPr>
                      <a:r>
                        <a:t>★★☆☆☆</a:t>
                      </a:r>
                    </a:p>
                  </a:txBody>
                  <a:tcPr anchor="ctr">
                    <a:solidFill>
                      <a:srgbClr val="F7F4ED"/>
                    </a:solidFill>
                  </a:tcPr>
                </a:tc>
                <a:tc>
                  <a:txBody>
                    <a:bodyPr/>
                    <a:lstStyle/>
                    <a:p>
                      <a:pPr algn="l">
                        <a:defRPr sz="850">
                          <a:solidFill>
                            <a:srgbClr val="4A5568"/>
                          </a:solidFill>
                          <a:latin typeface="Microsoft JhengHei"/>
                        </a:defRPr>
                      </a:pPr>
                      <a:r>
                        <a:t>邊緣端點前置過濾 / 意圖分類</a:t>
                      </a:r>
                    </a:p>
                  </a:txBody>
                  <a:tcPr anchor="ctr">
                    <a:solidFill>
                      <a:srgbClr val="F7F4ED"/>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資源最佳化</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圖 2-1 開源 LLM 代理任務綜合評分 vs. GPU 資源甜蜜點</a:t>
            </a:r>
          </a:p>
          <a:p>
            <a:pPr>
              <a:spcBef>
                <a:spcPts val="300"/>
              </a:spcBef>
            </a:pPr>
            <a:r>
              <a:rPr sz="950">
                <a:solidFill>
                  <a:srgbClr val="7C8695"/>
                </a:solidFill>
                <a:latin typeface="Microsoft JhengHei"/>
              </a:rPr>
              <a:t>尋找地端落地最佳 ROI：30B–32B 密集與輕量 MoE 之硬體甜蜜點定位</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09 / 30</a:t>
            </a:r>
          </a:p>
        </p:txBody>
      </p:sp>
      <p:sp>
        <p:nvSpPr>
          <p:cNvPr id="9" name="Rounded Rectangle 8"/>
          <p:cNvSpPr/>
          <p:nvPr/>
        </p:nvSpPr>
        <p:spPr>
          <a:xfrm>
            <a:off x="676656" y="2208275"/>
            <a:ext cx="6784848" cy="344728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3_model_performance_vs_vram.png"/>
          <p:cNvPicPr>
            <a:picLocks noChangeAspect="1"/>
          </p:cNvPicPr>
          <p:nvPr/>
        </p:nvPicPr>
        <p:blipFill>
          <a:blip r:embed="rId2"/>
          <a:stretch>
            <a:fillRect/>
          </a:stretch>
        </p:blipFill>
        <p:spPr>
          <a:xfrm>
            <a:off x="731520" y="2263139"/>
            <a:ext cx="6675120" cy="3337560"/>
          </a:xfrm>
          <a:prstGeom prst="rect">
            <a:avLst/>
          </a:prstGeom>
        </p:spPr>
      </p:pic>
      <p:sp>
        <p:nvSpPr>
          <p:cNvPr id="11" name="Rounded Rectangle 10"/>
          <p:cNvSpPr/>
          <p:nvPr/>
        </p:nvSpPr>
        <p:spPr>
          <a:xfrm>
            <a:off x="7589520" y="1600200"/>
            <a:ext cx="3870655"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硬體規劃核心建議</a:t>
            </a:r>
            <a:r>
              <a:rPr sz="850" b="1">
                <a:solidFill>
                  <a:srgbClr val="D6CEBF"/>
                </a:solidFill>
                <a:latin typeface="Microsoft JhengHei"/>
              </a:rPr>
              <a:t>  [HARDWARE ROI]</a:t>
            </a:r>
          </a:p>
        </p:txBody>
      </p:sp>
      <p:sp>
        <p:nvSpPr>
          <p:cNvPr id="12" name="Rounded Rectangle 11"/>
          <p:cNvSpPr/>
          <p:nvPr/>
        </p:nvSpPr>
        <p:spPr>
          <a:xfrm>
            <a:off x="7589520" y="2167128"/>
            <a:ext cx="38706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35824" y="227685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14" name="TextBox 13"/>
          <p:cNvSpPr txBox="1"/>
          <p:nvPr/>
        </p:nvSpPr>
        <p:spPr>
          <a:xfrm>
            <a:off x="8065008" y="2240280"/>
            <a:ext cx="33037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30B–32B 黃金分割點：</a:t>
            </a:r>
            <a:r>
              <a:rPr sz="900">
                <a:solidFill>
                  <a:srgbClr val="4A5568"/>
                </a:solidFill>
                <a:latin typeface="Microsoft JhengHei"/>
              </a:rPr>
              <a:t>Qwen3-Coder 30B 與 Gemma 4 31B 僅需雙卡 RTX 3090/4090 (32–40GB)，達 82–85 分極高性價比。</a:t>
            </a:r>
          </a:p>
        </p:txBody>
      </p:sp>
      <p:sp>
        <p:nvSpPr>
          <p:cNvPr id="15" name="Rounded Rectangle 14"/>
          <p:cNvSpPr/>
          <p:nvPr/>
        </p:nvSpPr>
        <p:spPr>
          <a:xfrm>
            <a:off x="7589520" y="3214116"/>
            <a:ext cx="38706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35824" y="3323844"/>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17" name="TextBox 16"/>
          <p:cNvSpPr txBox="1"/>
          <p:nvPr/>
        </p:nvSpPr>
        <p:spPr>
          <a:xfrm>
            <a:off x="8065008" y="3287268"/>
            <a:ext cx="33037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輕量 MoE 單卡革命：</a:t>
            </a:r>
            <a:r>
              <a:rPr sz="900">
                <a:solidFill>
                  <a:srgbClr val="4A5568"/>
                </a:solidFill>
                <a:latin typeface="Microsoft JhengHei"/>
              </a:rPr>
              <a:t>Gemma 4 26B (3.8B active) 總參 26B 但活躍參數僅 3.8B，單張 RTX 4080 (16GB) 即享極速推理。</a:t>
            </a:r>
          </a:p>
        </p:txBody>
      </p:sp>
      <p:sp>
        <p:nvSpPr>
          <p:cNvPr id="18" name="Rounded Rectangle 17"/>
          <p:cNvSpPr/>
          <p:nvPr/>
        </p:nvSpPr>
        <p:spPr>
          <a:xfrm>
            <a:off x="7589520" y="4261104"/>
            <a:ext cx="38706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735824" y="4370832"/>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20" name="TextBox 19"/>
          <p:cNvSpPr txBox="1"/>
          <p:nvPr/>
        </p:nvSpPr>
        <p:spPr>
          <a:xfrm>
            <a:off x="8065008" y="4334256"/>
            <a:ext cx="33037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邊緣 Edge Tiers 守門員：</a:t>
            </a:r>
            <a:r>
              <a:rPr sz="900">
                <a:solidFill>
                  <a:srgbClr val="4A5568"/>
                </a:solidFill>
                <a:latin typeface="Microsoft JhengHei"/>
              </a:rPr>
              <a:t>Gemma 4 E4B/E2B (4–6GB) 專職前端過濾與意圖分類，大幅減輕主幹模型運算負擔。</a:t>
            </a:r>
          </a:p>
        </p:txBody>
      </p:sp>
      <p:sp>
        <p:nvSpPr>
          <p:cNvPr id="21" name="Rounded Rectangle 20"/>
          <p:cNvSpPr/>
          <p:nvPr/>
        </p:nvSpPr>
        <p:spPr>
          <a:xfrm>
            <a:off x="7589520" y="5308092"/>
            <a:ext cx="38706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35824" y="5417820"/>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4</a:t>
            </a:r>
          </a:p>
        </p:txBody>
      </p:sp>
      <p:sp>
        <p:nvSpPr>
          <p:cNvPr id="23" name="TextBox 22"/>
          <p:cNvSpPr txBox="1"/>
          <p:nvPr/>
        </p:nvSpPr>
        <p:spPr>
          <a:xfrm>
            <a:off x="8065008" y="5381244"/>
            <a:ext cx="33037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8B 以下存在能力斷崖：</a:t>
            </a:r>
            <a:r>
              <a:rPr sz="900">
                <a:solidFill>
                  <a:srgbClr val="4A5568"/>
                </a:solidFill>
                <a:latin typeface="Microsoft JhengHei"/>
              </a:rPr>
              <a:t>8B 級模型在多檔案 Patch 生成與長程狀態維持上會迅速崩潰，嚴禁單獨用作編程代理。</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核心架構</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前沿開源旗艦模型底層架構專題研析</a:t>
            </a:r>
          </a:p>
          <a:p>
            <a:pPr>
              <a:spcBef>
                <a:spcPts val="300"/>
              </a:spcBef>
            </a:pPr>
            <a:r>
              <a:rPr sz="950">
                <a:solidFill>
                  <a:srgbClr val="7C8695"/>
                </a:solidFill>
                <a:latin typeface="Microsoft JhengHei"/>
              </a:rPr>
              <a:t>Kimi K3 (2.8T MoE)、DeepSeek V4.1 Flash (552B CED)、GLM-5.2 與 Gemma 4 規格核實</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10 / 30</a:t>
            </a:r>
          </a:p>
        </p:txBody>
      </p:sp>
      <p:sp>
        <p:nvSpPr>
          <p:cNvPr id="9" name="Rounded Rectangle 8"/>
          <p:cNvSpPr/>
          <p:nvPr/>
        </p:nvSpPr>
        <p:spPr>
          <a:xfrm>
            <a:off x="731520" y="1600200"/>
            <a:ext cx="10728655" cy="448056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841248" y="1691640"/>
          <a:ext cx="10509195" cy="4297680"/>
        </p:xfrm>
        <a:graphic>
          <a:graphicData uri="http://schemas.openxmlformats.org/drawingml/2006/table">
            <a:tbl>
              <a:tblPr firstRow="1" bandRow="1">
                <a:tableStyleId>{5C22544A-7EE6-4342-B048-85BDC9FD1C3A}</a:tableStyleId>
              </a:tblPr>
              <a:tblGrid>
                <a:gridCol w="1970530"/>
                <a:gridCol w="2149669"/>
                <a:gridCol w="2149669"/>
                <a:gridCol w="2149669"/>
                <a:gridCol w="2089658"/>
              </a:tblGrid>
              <a:tr h="613954">
                <a:tc>
                  <a:txBody>
                    <a:bodyPr/>
                    <a:lstStyle/>
                    <a:p>
                      <a:pPr algn="l">
                        <a:defRPr sz="900" b="1">
                          <a:solidFill>
                            <a:srgbClr val="232D38"/>
                          </a:solidFill>
                          <a:latin typeface="Microsoft JhengHei"/>
                        </a:defRPr>
                      </a:pPr>
                      <a:r>
                        <a:t>模型特徵維度</a:t>
                      </a:r>
                    </a:p>
                  </a:txBody>
                  <a:tcPr anchor="ctr">
                    <a:solidFill>
                      <a:srgbClr val="EAE4D8"/>
                    </a:solidFill>
                  </a:tcPr>
                </a:tc>
                <a:tc>
                  <a:txBody>
                    <a:bodyPr/>
                    <a:lstStyle/>
                    <a:p>
                      <a:pPr algn="l">
                        <a:defRPr sz="900" b="1">
                          <a:solidFill>
                            <a:srgbClr val="232D38"/>
                          </a:solidFill>
                          <a:latin typeface="Microsoft JhengHei"/>
                        </a:defRPr>
                      </a:pPr>
                      <a:r>
                        <a:t>Kimi K3 (Moonshot)</a:t>
                      </a:r>
                    </a:p>
                  </a:txBody>
                  <a:tcPr anchor="ctr">
                    <a:solidFill>
                      <a:srgbClr val="EAE4D8"/>
                    </a:solidFill>
                  </a:tcPr>
                </a:tc>
                <a:tc>
                  <a:txBody>
                    <a:bodyPr/>
                    <a:lstStyle/>
                    <a:p>
                      <a:pPr algn="l">
                        <a:defRPr sz="900" b="1">
                          <a:solidFill>
                            <a:srgbClr val="232D38"/>
                          </a:solidFill>
                          <a:latin typeface="Microsoft JhengHei"/>
                        </a:defRPr>
                      </a:pPr>
                      <a:r>
                        <a:t>DeepSeek V4.1 Flash</a:t>
                      </a:r>
                    </a:p>
                  </a:txBody>
                  <a:tcPr anchor="ctr">
                    <a:solidFill>
                      <a:srgbClr val="EAE4D8"/>
                    </a:solidFill>
                  </a:tcPr>
                </a:tc>
                <a:tc>
                  <a:txBody>
                    <a:bodyPr/>
                    <a:lstStyle/>
                    <a:p>
                      <a:pPr algn="l">
                        <a:defRPr sz="900" b="1">
                          <a:solidFill>
                            <a:srgbClr val="232D38"/>
                          </a:solidFill>
                          <a:latin typeface="Microsoft JhengHei"/>
                        </a:defRPr>
                      </a:pPr>
                      <a:r>
                        <a:t>GLM-5.2 (智譜/清華)</a:t>
                      </a:r>
                    </a:p>
                  </a:txBody>
                  <a:tcPr anchor="ctr">
                    <a:solidFill>
                      <a:srgbClr val="EAE4D8"/>
                    </a:solidFill>
                  </a:tcPr>
                </a:tc>
                <a:tc>
                  <a:txBody>
                    <a:bodyPr/>
                    <a:lstStyle/>
                    <a:p>
                      <a:pPr algn="l">
                        <a:defRPr sz="900" b="1">
                          <a:solidFill>
                            <a:srgbClr val="232D38"/>
                          </a:solidFill>
                          <a:latin typeface="Microsoft JhengHei"/>
                        </a:defRPr>
                      </a:pPr>
                      <a:r>
                        <a:t>Gemma 4 旗艦系列 (Google)</a:t>
                      </a:r>
                    </a:p>
                  </a:txBody>
                  <a:tcPr anchor="ctr">
                    <a:solidFill>
                      <a:srgbClr val="EAE4D8"/>
                    </a:solidFill>
                  </a:tcPr>
                </a:tc>
              </a:tr>
              <a:tr h="613954">
                <a:tc>
                  <a:txBody>
                    <a:bodyPr/>
                    <a:lstStyle/>
                    <a:p>
                      <a:pPr algn="l">
                        <a:defRPr sz="850" b="1">
                          <a:solidFill>
                            <a:srgbClr val="232D38"/>
                          </a:solidFill>
                          <a:latin typeface="Microsoft JhengHei"/>
                        </a:defRPr>
                      </a:pPr>
                      <a:r>
                        <a:t>總參數量與架構</a:t>
                      </a:r>
                    </a:p>
                  </a:txBody>
                  <a:tcPr anchor="ctr">
                    <a:solidFill>
                      <a:srgbClr val="FDFCFA"/>
                    </a:solidFill>
                  </a:tcPr>
                </a:tc>
                <a:tc>
                  <a:txBody>
                    <a:bodyPr/>
                    <a:lstStyle/>
                    <a:p>
                      <a:pPr algn="l">
                        <a:defRPr sz="850">
                          <a:solidFill>
                            <a:srgbClr val="4A5568"/>
                          </a:solidFill>
                          <a:latin typeface="Microsoft JhengHei"/>
                        </a:defRPr>
                      </a:pPr>
                      <a:r>
                        <a:t>2.8T 總參數 / MoE 超稀疏激活</a:t>
                      </a:r>
                    </a:p>
                  </a:txBody>
                  <a:tcPr anchor="ctr">
                    <a:solidFill>
                      <a:srgbClr val="FDFCFA"/>
                    </a:solidFill>
                  </a:tcPr>
                </a:tc>
                <a:tc>
                  <a:txBody>
                    <a:bodyPr/>
                    <a:lstStyle/>
                    <a:p>
                      <a:pPr algn="l">
                        <a:defRPr sz="850">
                          <a:solidFill>
                            <a:srgbClr val="4A5568"/>
                          </a:solidFill>
                          <a:latin typeface="Microsoft JhengHei"/>
                        </a:defRPr>
                      </a:pPr>
                      <a:r>
                        <a:t>552B 總參數 / 42B 激活</a:t>
                      </a:r>
                    </a:p>
                  </a:txBody>
                  <a:tcPr anchor="ctr">
                    <a:solidFill>
                      <a:srgbClr val="FDFCFA"/>
                    </a:solidFill>
                  </a:tcPr>
                </a:tc>
                <a:tc>
                  <a:txBody>
                    <a:bodyPr/>
                    <a:lstStyle/>
                    <a:p>
                      <a:pPr algn="l">
                        <a:defRPr sz="850">
                          <a:solidFill>
                            <a:srgbClr val="4A5568"/>
                          </a:solidFill>
                          <a:latin typeface="Microsoft JhengHei"/>
                        </a:defRPr>
                      </a:pPr>
                      <a:r>
                        <a:t>744B 總參數 / 48B 激活</a:t>
                      </a:r>
                    </a:p>
                  </a:txBody>
                  <a:tcPr anchor="ctr">
                    <a:solidFill>
                      <a:srgbClr val="FDFCFA"/>
                    </a:solidFill>
                  </a:tcPr>
                </a:tc>
                <a:tc>
                  <a:txBody>
                    <a:bodyPr/>
                    <a:lstStyle/>
                    <a:p>
                      <a:pPr algn="l">
                        <a:defRPr sz="850">
                          <a:solidFill>
                            <a:srgbClr val="4A5568"/>
                          </a:solidFill>
                          <a:latin typeface="Microsoft JhengHei"/>
                        </a:defRPr>
                      </a:pPr>
                      <a:r>
                        <a:t>31B Dense / 26B MoE (3.8B act)</a:t>
                      </a:r>
                    </a:p>
                  </a:txBody>
                  <a:tcPr anchor="ctr">
                    <a:solidFill>
                      <a:srgbClr val="FDFCFA"/>
                    </a:solidFill>
                  </a:tcPr>
                </a:tc>
              </a:tr>
              <a:tr h="613954">
                <a:tc>
                  <a:txBody>
                    <a:bodyPr/>
                    <a:lstStyle/>
                    <a:p>
                      <a:pPr algn="l">
                        <a:defRPr sz="850" b="1">
                          <a:solidFill>
                            <a:srgbClr val="232D38"/>
                          </a:solidFill>
                          <a:latin typeface="Microsoft JhengHei"/>
                        </a:defRPr>
                      </a:pPr>
                      <a:r>
                        <a:t>核心專利架構</a:t>
                      </a:r>
                    </a:p>
                  </a:txBody>
                  <a:tcPr anchor="ctr">
                    <a:solidFill>
                      <a:srgbClr val="F7F4ED"/>
                    </a:solidFill>
                  </a:tcPr>
                </a:tc>
                <a:tc>
                  <a:txBody>
                    <a:bodyPr/>
                    <a:lstStyle/>
                    <a:p>
                      <a:pPr algn="l">
                        <a:defRPr sz="850">
                          <a:solidFill>
                            <a:srgbClr val="4A5568"/>
                          </a:solidFill>
                          <a:latin typeface="Microsoft JhengHei"/>
                        </a:defRPr>
                      </a:pPr>
                      <a:r>
                        <a:t>Muon 混合優化器 + 萬卡集群</a:t>
                      </a:r>
                    </a:p>
                  </a:txBody>
                  <a:tcPr anchor="ctr">
                    <a:solidFill>
                      <a:srgbClr val="F7F4ED"/>
                    </a:solidFill>
                  </a:tcPr>
                </a:tc>
                <a:tc>
                  <a:txBody>
                    <a:bodyPr/>
                    <a:lstStyle/>
                    <a:p>
                      <a:pPr algn="l">
                        <a:defRPr sz="850">
                          <a:solidFill>
                            <a:srgbClr val="4A5568"/>
                          </a:solidFill>
                          <a:latin typeface="Microsoft JhengHei"/>
                        </a:defRPr>
                      </a:pPr>
                      <a:r>
                        <a:t>CED (Context Elastic Distill)</a:t>
                      </a:r>
                    </a:p>
                  </a:txBody>
                  <a:tcPr anchor="ctr">
                    <a:solidFill>
                      <a:srgbClr val="F7F4ED"/>
                    </a:solidFill>
                  </a:tcPr>
                </a:tc>
                <a:tc>
                  <a:txBody>
                    <a:bodyPr/>
                    <a:lstStyle/>
                    <a:p>
                      <a:pPr algn="l">
                        <a:defRPr sz="850">
                          <a:solidFill>
                            <a:srgbClr val="4A5568"/>
                          </a:solidFill>
                          <a:latin typeface="Microsoft JhengHei"/>
                        </a:defRPr>
                      </a:pPr>
                      <a:r>
                        <a:t>IndexShare Attention 機制</a:t>
                      </a:r>
                    </a:p>
                  </a:txBody>
                  <a:tcPr anchor="ctr">
                    <a:solidFill>
                      <a:srgbClr val="F7F4ED"/>
                    </a:solidFill>
                  </a:tcPr>
                </a:tc>
                <a:tc>
                  <a:txBody>
                    <a:bodyPr/>
                    <a:lstStyle/>
                    <a:p>
                      <a:pPr algn="l">
                        <a:defRPr sz="850">
                          <a:solidFill>
                            <a:srgbClr val="4A5568"/>
                          </a:solidFill>
                          <a:latin typeface="Microsoft JhengHei"/>
                        </a:defRPr>
                      </a:pPr>
                      <a:r>
                        <a:t>DeepMind 原生 System Prompts 遵循</a:t>
                      </a:r>
                    </a:p>
                  </a:txBody>
                  <a:tcPr anchor="ctr">
                    <a:solidFill>
                      <a:srgbClr val="F7F4ED"/>
                    </a:solidFill>
                  </a:tcPr>
                </a:tc>
              </a:tr>
              <a:tr h="613954">
                <a:tc>
                  <a:txBody>
                    <a:bodyPr/>
                    <a:lstStyle/>
                    <a:p>
                      <a:pPr algn="l">
                        <a:defRPr sz="850" b="1">
                          <a:solidFill>
                            <a:srgbClr val="232D38"/>
                          </a:solidFill>
                          <a:latin typeface="Microsoft JhengHei"/>
                        </a:defRPr>
                      </a:pPr>
                      <a:r>
                        <a:t>上下文長度</a:t>
                      </a:r>
                    </a:p>
                  </a:txBody>
                  <a:tcPr anchor="ctr">
                    <a:solidFill>
                      <a:srgbClr val="FDFCFA"/>
                    </a:solidFill>
                  </a:tcPr>
                </a:tc>
                <a:tc>
                  <a:txBody>
                    <a:bodyPr/>
                    <a:lstStyle/>
                    <a:p>
                      <a:pPr algn="l">
                        <a:defRPr sz="850">
                          <a:solidFill>
                            <a:srgbClr val="4A5568"/>
                          </a:solidFill>
                          <a:latin typeface="Microsoft JhengHei"/>
                        </a:defRPr>
                      </a:pPr>
                      <a:r>
                        <a:t>200K 原生 (百萬 Token 外推)</a:t>
                      </a:r>
                    </a:p>
                  </a:txBody>
                  <a:tcPr anchor="ctr">
                    <a:solidFill>
                      <a:srgbClr val="FDFCFA"/>
                    </a:solidFill>
                  </a:tcPr>
                </a:tc>
                <a:tc>
                  <a:txBody>
                    <a:bodyPr/>
                    <a:lstStyle/>
                    <a:p>
                      <a:pPr algn="l">
                        <a:defRPr sz="850">
                          <a:solidFill>
                            <a:srgbClr val="4A5568"/>
                          </a:solidFill>
                          <a:latin typeface="Microsoft JhengHei"/>
                        </a:defRPr>
                      </a:pPr>
                      <a:r>
                        <a:t>128K 完整注意力視窗</a:t>
                      </a:r>
                    </a:p>
                  </a:txBody>
                  <a:tcPr anchor="ctr">
                    <a:solidFill>
                      <a:srgbClr val="FDFCFA"/>
                    </a:solidFill>
                  </a:tcPr>
                </a:tc>
                <a:tc>
                  <a:txBody>
                    <a:bodyPr/>
                    <a:lstStyle/>
                    <a:p>
                      <a:pPr algn="l">
                        <a:defRPr sz="850">
                          <a:solidFill>
                            <a:srgbClr val="4A5568"/>
                          </a:solidFill>
                          <a:latin typeface="Microsoft JhengHei"/>
                        </a:defRPr>
                      </a:pPr>
                      <a:r>
                        <a:t>256K 超長上下文窗口</a:t>
                      </a:r>
                    </a:p>
                  </a:txBody>
                  <a:tcPr anchor="ctr">
                    <a:solidFill>
                      <a:srgbClr val="FDFCFA"/>
                    </a:solidFill>
                  </a:tcPr>
                </a:tc>
                <a:tc>
                  <a:txBody>
                    <a:bodyPr/>
                    <a:lstStyle/>
                    <a:p>
                      <a:pPr algn="l">
                        <a:defRPr sz="850" b="1">
                          <a:solidFill>
                            <a:srgbClr val="3B6E58"/>
                          </a:solidFill>
                          <a:latin typeface="Microsoft JhengHei"/>
                        </a:defRPr>
                      </a:pPr>
                      <a:r>
                        <a:t>128K (全開源 Apache 2.0 授權)</a:t>
                      </a:r>
                    </a:p>
                  </a:txBody>
                  <a:tcPr anchor="ctr">
                    <a:solidFill>
                      <a:srgbClr val="FDFCFA"/>
                    </a:solidFill>
                  </a:tcPr>
                </a:tc>
              </a:tr>
              <a:tr h="613954">
                <a:tc>
                  <a:txBody>
                    <a:bodyPr/>
                    <a:lstStyle/>
                    <a:p>
                      <a:pPr algn="l">
                        <a:defRPr sz="850" b="1">
                          <a:solidFill>
                            <a:srgbClr val="232D38"/>
                          </a:solidFill>
                          <a:latin typeface="Microsoft JhengHei"/>
                        </a:defRPr>
                      </a:pPr>
                      <a:r>
                        <a:t>推理吞吐特點</a:t>
                      </a:r>
                    </a:p>
                  </a:txBody>
                  <a:tcPr anchor="ctr">
                    <a:solidFill>
                      <a:srgbClr val="F7F4ED"/>
                    </a:solidFill>
                  </a:tcPr>
                </a:tc>
                <a:tc>
                  <a:txBody>
                    <a:bodyPr/>
                    <a:lstStyle/>
                    <a:p>
                      <a:pPr algn="l">
                        <a:defRPr sz="850">
                          <a:solidFill>
                            <a:srgbClr val="4A5568"/>
                          </a:solidFill>
                          <a:latin typeface="Microsoft JhengHei"/>
                        </a:defRPr>
                      </a:pPr>
                      <a:r>
                        <a:t>DeepThink 思考鏈 + 高併發</a:t>
                      </a:r>
                    </a:p>
                  </a:txBody>
                  <a:tcPr anchor="ctr">
                    <a:solidFill>
                      <a:srgbClr val="F7F4ED"/>
                    </a:solidFill>
                  </a:tcPr>
                </a:tc>
                <a:tc>
                  <a:txBody>
                    <a:bodyPr/>
                    <a:lstStyle/>
                    <a:p>
                      <a:pPr algn="l">
                        <a:defRPr sz="850">
                          <a:solidFill>
                            <a:srgbClr val="4A5568"/>
                          </a:solidFill>
                          <a:latin typeface="Microsoft JhengHei"/>
                        </a:defRPr>
                      </a:pPr>
                      <a:r>
                        <a:t>極速推論 / 成本效益第一</a:t>
                      </a:r>
                    </a:p>
                  </a:txBody>
                  <a:tcPr anchor="ctr">
                    <a:solidFill>
                      <a:srgbClr val="F7F4ED"/>
                    </a:solidFill>
                  </a:tcPr>
                </a:tc>
                <a:tc>
                  <a:txBody>
                    <a:bodyPr/>
                    <a:lstStyle/>
                    <a:p>
                      <a:pPr algn="l">
                        <a:defRPr sz="850">
                          <a:solidFill>
                            <a:srgbClr val="4A5568"/>
                          </a:solidFill>
                          <a:latin typeface="Microsoft JhengHei"/>
                        </a:defRPr>
                      </a:pPr>
                      <a:r>
                        <a:t>低延遲多頭注意力共享</a:t>
                      </a:r>
                    </a:p>
                  </a:txBody>
                  <a:tcPr anchor="ctr">
                    <a:solidFill>
                      <a:srgbClr val="F7F4ED"/>
                    </a:solidFill>
                  </a:tcPr>
                </a:tc>
                <a:tc>
                  <a:txBody>
                    <a:bodyPr/>
                    <a:lstStyle/>
                    <a:p>
                      <a:pPr algn="l">
                        <a:defRPr sz="850">
                          <a:solidFill>
                            <a:srgbClr val="4A5568"/>
                          </a:solidFill>
                          <a:latin typeface="Microsoft JhengHei"/>
                        </a:defRPr>
                      </a:pPr>
                      <a:r>
                        <a:t>E4B/E2B 專屬邊緣行動端架構</a:t>
                      </a:r>
                    </a:p>
                  </a:txBody>
                  <a:tcPr anchor="ctr">
                    <a:solidFill>
                      <a:srgbClr val="F7F4ED"/>
                    </a:solidFill>
                  </a:tcPr>
                </a:tc>
              </a:tr>
              <a:tr h="613954">
                <a:tc>
                  <a:txBody>
                    <a:bodyPr/>
                    <a:lstStyle/>
                    <a:p>
                      <a:pPr algn="l">
                        <a:defRPr sz="850" b="1">
                          <a:solidFill>
                            <a:srgbClr val="232D38"/>
                          </a:solidFill>
                          <a:latin typeface="Microsoft JhengHei"/>
                        </a:defRPr>
                      </a:pPr>
                      <a:r>
                        <a:t>Terminal-Bench</a:t>
                      </a:r>
                    </a:p>
                  </a:txBody>
                  <a:tcPr anchor="ctr">
                    <a:solidFill>
                      <a:srgbClr val="FDFCFA"/>
                    </a:solidFill>
                  </a:tcPr>
                </a:tc>
                <a:tc>
                  <a:txBody>
                    <a:bodyPr/>
                    <a:lstStyle/>
                    <a:p>
                      <a:pPr algn="l">
                        <a:defRPr sz="850" b="1">
                          <a:solidFill>
                            <a:srgbClr val="3B6E58"/>
                          </a:solidFill>
                          <a:latin typeface="Microsoft JhengHei"/>
                        </a:defRPr>
                      </a:pPr>
                      <a:r>
                        <a:t>🥇 87.4 分 (開源最頂級)</a:t>
                      </a:r>
                    </a:p>
                  </a:txBody>
                  <a:tcPr anchor="ctr">
                    <a:solidFill>
                      <a:srgbClr val="FDFCFA"/>
                    </a:solidFill>
                  </a:tcPr>
                </a:tc>
                <a:tc>
                  <a:txBody>
                    <a:bodyPr/>
                    <a:lstStyle/>
                    <a:p>
                      <a:pPr algn="l">
                        <a:defRPr sz="850">
                          <a:solidFill>
                            <a:srgbClr val="4A5568"/>
                          </a:solidFill>
                          <a:latin typeface="Microsoft JhengHei"/>
                        </a:defRPr>
                      </a:pPr>
                      <a:r>
                        <a:t>84.2 分 (性價比極高)</a:t>
                      </a:r>
                    </a:p>
                  </a:txBody>
                  <a:tcPr anchor="ctr">
                    <a:solidFill>
                      <a:srgbClr val="FDFCFA"/>
                    </a:solidFill>
                  </a:tcPr>
                </a:tc>
                <a:tc>
                  <a:txBody>
                    <a:bodyPr/>
                    <a:lstStyle/>
                    <a:p>
                      <a:pPr algn="l">
                        <a:defRPr sz="850">
                          <a:solidFill>
                            <a:srgbClr val="4A5568"/>
                          </a:solidFill>
                          <a:latin typeface="Microsoft JhengHei"/>
                        </a:defRPr>
                      </a:pPr>
                      <a:r>
                        <a:t>83.6 分 (長程規劃穩定)</a:t>
                      </a:r>
                    </a:p>
                  </a:txBody>
                  <a:tcPr anchor="ctr">
                    <a:solidFill>
                      <a:srgbClr val="FDFCFA"/>
                    </a:solidFill>
                  </a:tcPr>
                </a:tc>
                <a:tc>
                  <a:txBody>
                    <a:bodyPr/>
                    <a:lstStyle/>
                    <a:p>
                      <a:pPr algn="l">
                        <a:defRPr sz="850">
                          <a:solidFill>
                            <a:srgbClr val="4A5568"/>
                          </a:solidFill>
                          <a:latin typeface="Microsoft JhengHei"/>
                        </a:defRPr>
                      </a:pPr>
                      <a:r>
                        <a:t>81.8 分 (31B 本地最高水準)</a:t>
                      </a:r>
                    </a:p>
                  </a:txBody>
                  <a:tcPr anchor="ctr">
                    <a:solidFill>
                      <a:srgbClr val="FDFCFA"/>
                    </a:solidFill>
                  </a:tcPr>
                </a:tc>
              </a:tr>
              <a:tr h="613956">
                <a:tc>
                  <a:txBody>
                    <a:bodyPr/>
                    <a:lstStyle/>
                    <a:p>
                      <a:pPr algn="l">
                        <a:defRPr sz="850" b="1">
                          <a:solidFill>
                            <a:srgbClr val="232D38"/>
                          </a:solidFill>
                          <a:latin typeface="Microsoft JhengHei"/>
                        </a:defRPr>
                      </a:pPr>
                      <a:r>
                        <a:t>開源授權協議</a:t>
                      </a:r>
                    </a:p>
                  </a:txBody>
                  <a:tcPr anchor="ctr">
                    <a:solidFill>
                      <a:srgbClr val="F7F4ED"/>
                    </a:solidFill>
                  </a:tcPr>
                </a:tc>
                <a:tc>
                  <a:txBody>
                    <a:bodyPr/>
                    <a:lstStyle/>
                    <a:p>
                      <a:pPr algn="l">
                        <a:defRPr sz="850">
                          <a:solidFill>
                            <a:srgbClr val="4A5568"/>
                          </a:solidFill>
                          <a:latin typeface="Microsoft JhengHei"/>
                        </a:defRPr>
                      </a:pPr>
                      <a:r>
                        <a:t>客製化研究商用授權</a:t>
                      </a:r>
                    </a:p>
                  </a:txBody>
                  <a:tcPr anchor="ctr">
                    <a:solidFill>
                      <a:srgbClr val="F7F4ED"/>
                    </a:solidFill>
                  </a:tcPr>
                </a:tc>
                <a:tc>
                  <a:txBody>
                    <a:bodyPr/>
                    <a:lstStyle/>
                    <a:p>
                      <a:pPr algn="l">
                        <a:defRPr sz="850" b="1">
                          <a:solidFill>
                            <a:srgbClr val="3B6E58"/>
                          </a:solidFill>
                          <a:latin typeface="Microsoft JhengHei"/>
                        </a:defRPr>
                      </a:pPr>
                      <a:r>
                        <a:t>開源商用 (需遵守服務條款)</a:t>
                      </a:r>
                    </a:p>
                  </a:txBody>
                  <a:tcPr anchor="ctr">
                    <a:solidFill>
                      <a:srgbClr val="F7F4ED"/>
                    </a:solidFill>
                  </a:tcPr>
                </a:tc>
                <a:tc>
                  <a:txBody>
                    <a:bodyPr/>
                    <a:lstStyle/>
                    <a:p>
                      <a:pPr algn="l">
                        <a:defRPr sz="850">
                          <a:solidFill>
                            <a:srgbClr val="4A5568"/>
                          </a:solidFill>
                          <a:latin typeface="Microsoft JhengHei"/>
                        </a:defRPr>
                      </a:pPr>
                      <a:r>
                        <a:t>MIT License (最友善合規)</a:t>
                      </a:r>
                    </a:p>
                  </a:txBody>
                  <a:tcPr anchor="ctr">
                    <a:solidFill>
                      <a:srgbClr val="F7F4ED"/>
                    </a:solidFill>
                  </a:tcPr>
                </a:tc>
                <a:tc>
                  <a:txBody>
                    <a:bodyPr/>
                    <a:lstStyle/>
                    <a:p>
                      <a:pPr algn="l">
                        <a:defRPr sz="850">
                          <a:solidFill>
                            <a:srgbClr val="4A5568"/>
                          </a:solidFill>
                          <a:latin typeface="Microsoft JhengHei"/>
                        </a:defRPr>
                      </a:pPr>
                      <a:r>
                        <a:t>Apache 2.0 (全自由商用修改)</a:t>
                      </a:r>
                    </a:p>
                  </a:txBody>
                  <a:tcPr anchor="ctr">
                    <a:solidFill>
                      <a:srgbClr val="F7F4ED"/>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增強策略</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圖 2-2 開源 LLM 模型之 ReAct 增強策略效益矩陣</a:t>
            </a:r>
          </a:p>
          <a:p>
            <a:pPr>
              <a:spcBef>
                <a:spcPts val="300"/>
              </a:spcBef>
            </a:pPr>
            <a:r>
              <a:rPr sz="950">
                <a:solidFill>
                  <a:srgbClr val="7C8695"/>
                </a:solidFill>
                <a:latin typeface="Microsoft JhengHei"/>
              </a:rPr>
              <a:t>四象限剖析：針對弱模型執行 ReAct Loop 時的工程防護與補償策略</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11 / 30</a:t>
            </a:r>
          </a:p>
        </p:txBody>
      </p:sp>
      <p:sp>
        <p:nvSpPr>
          <p:cNvPr id="9" name="Rounded Rectangle 8"/>
          <p:cNvSpPr/>
          <p:nvPr/>
        </p:nvSpPr>
        <p:spPr>
          <a:xfrm>
            <a:off x="676656" y="1853216"/>
            <a:ext cx="6784848" cy="4157407"/>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5_react_enhancement_matrix.png"/>
          <p:cNvPicPr>
            <a:picLocks noChangeAspect="1"/>
          </p:cNvPicPr>
          <p:nvPr/>
        </p:nvPicPr>
        <p:blipFill>
          <a:blip r:embed="rId2"/>
          <a:stretch>
            <a:fillRect/>
          </a:stretch>
        </p:blipFill>
        <p:spPr>
          <a:xfrm>
            <a:off x="731520" y="1908080"/>
            <a:ext cx="6675120" cy="4047679"/>
          </a:xfrm>
          <a:prstGeom prst="rect">
            <a:avLst/>
          </a:prstGeom>
        </p:spPr>
      </p:pic>
      <p:sp>
        <p:nvSpPr>
          <p:cNvPr id="11" name="Rounded Rectangle 10"/>
          <p:cNvSpPr/>
          <p:nvPr/>
        </p:nvSpPr>
        <p:spPr>
          <a:xfrm>
            <a:off x="7589520" y="1600200"/>
            <a:ext cx="3870655"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ReAct 增強四象限精準對照指引</a:t>
            </a:r>
            <a:r>
              <a:rPr sz="850" b="1">
                <a:solidFill>
                  <a:srgbClr val="D6CEBF"/>
                </a:solidFill>
                <a:latin typeface="Microsoft JhengHei"/>
              </a:rPr>
              <a:t>  [QUADRANT GUIDE]</a:t>
            </a:r>
          </a:p>
        </p:txBody>
      </p:sp>
      <p:sp>
        <p:nvSpPr>
          <p:cNvPr id="12" name="Rounded Rectangle 11"/>
          <p:cNvSpPr/>
          <p:nvPr/>
        </p:nvSpPr>
        <p:spPr>
          <a:xfrm>
            <a:off x="7589520" y="2167128"/>
            <a:ext cx="3870655" cy="74615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35824" y="227685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14" name="TextBox 13"/>
          <p:cNvSpPr txBox="1"/>
          <p:nvPr/>
        </p:nvSpPr>
        <p:spPr>
          <a:xfrm>
            <a:off x="8065008" y="2240280"/>
            <a:ext cx="3303727" cy="599846"/>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座標軸對應說明：</a:t>
            </a:r>
            <a:r>
              <a:rPr sz="900">
                <a:solidFill>
                  <a:srgbClr val="4A5568"/>
                </a:solidFill>
                <a:latin typeface="Microsoft JhengHei"/>
              </a:rPr>
              <a:t>橫軸 X 為「實作與配置複雜度 (1-5分)」，縱軸 Y 為「ReAct 執行能力提升效益 (1-5分)」。以 X=2.5 與 Y=4.0 為基準交叉線，劃分為四大決策象限。</a:t>
            </a:r>
          </a:p>
        </p:txBody>
      </p:sp>
      <p:sp>
        <p:nvSpPr>
          <p:cNvPr id="15" name="Rounded Rectangle 14"/>
          <p:cNvSpPr/>
          <p:nvPr/>
        </p:nvSpPr>
        <p:spPr>
          <a:xfrm>
            <a:off x="7589520" y="3004718"/>
            <a:ext cx="3870655" cy="74615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35824" y="3114446"/>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17" name="TextBox 16"/>
          <p:cNvSpPr txBox="1"/>
          <p:nvPr/>
        </p:nvSpPr>
        <p:spPr>
          <a:xfrm>
            <a:off x="8065008" y="3077870"/>
            <a:ext cx="3303727" cy="599846"/>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左上·高性價比區 (低複雜度 / 高效益)：</a:t>
            </a:r>
            <a:r>
              <a:rPr sz="900">
                <a:solidFill>
                  <a:srgbClr val="4A5568"/>
                </a:solidFill>
                <a:latin typeface="Microsoft JhengHei"/>
              </a:rPr>
              <a:t>包含「強制 JSON/Tool Calling」與「整檔替換避免 Diff」。工程團隊投入少即可換取 4.2–5.0 分的顯著成效，工具調用格式崩潰率驟降 65%，為第一優先實施項。</a:t>
            </a:r>
          </a:p>
        </p:txBody>
      </p:sp>
      <p:sp>
        <p:nvSpPr>
          <p:cNvPr id="18" name="Rounded Rectangle 17"/>
          <p:cNvSpPr/>
          <p:nvPr/>
        </p:nvSpPr>
        <p:spPr>
          <a:xfrm>
            <a:off x="7589520" y="3842308"/>
            <a:ext cx="3870655" cy="74615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735824" y="395203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20" name="TextBox 19"/>
          <p:cNvSpPr txBox="1"/>
          <p:nvPr/>
        </p:nvSpPr>
        <p:spPr>
          <a:xfrm>
            <a:off x="8065008" y="3915460"/>
            <a:ext cx="3303727" cy="599846"/>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右上·深度研發區 (高複雜度 / 超高回報)：</a:t>
            </a:r>
            <a:r>
              <a:rPr sz="900">
                <a:solidFill>
                  <a:srgbClr val="4A5568"/>
                </a:solidFill>
                <a:latin typeface="Microsoft JhengHei"/>
              </a:rPr>
              <a:t>包含「反思循環 (Reflection)」與「模型自鷹架 (Self-Scaffolding)」。需建構複雜評估器與 RL 自進化管線，但能將開源模型推升至 4.8–4.95 旗艦水準，屬長期核心投資。</a:t>
            </a:r>
          </a:p>
        </p:txBody>
      </p:sp>
      <p:sp>
        <p:nvSpPr>
          <p:cNvPr id="21" name="Rounded Rectangle 20"/>
          <p:cNvSpPr/>
          <p:nvPr/>
        </p:nvSpPr>
        <p:spPr>
          <a:xfrm>
            <a:off x="7589520" y="4679899"/>
            <a:ext cx="3870655" cy="74615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35824" y="4789627"/>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4</a:t>
            </a:r>
          </a:p>
        </p:txBody>
      </p:sp>
      <p:sp>
        <p:nvSpPr>
          <p:cNvPr id="23" name="TextBox 22"/>
          <p:cNvSpPr txBox="1"/>
          <p:nvPr/>
        </p:nvSpPr>
        <p:spPr>
          <a:xfrm>
            <a:off x="8065008" y="4753051"/>
            <a:ext cx="3303727" cy="599846"/>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左下·基礎穩健區 (低複雜度 / 中等效益)：</a:t>
            </a:r>
            <a:r>
              <a:rPr sz="900">
                <a:solidFill>
                  <a:srgbClr val="4A5568"/>
                </a:solidFill>
                <a:latin typeface="Microsoft JhengHei"/>
              </a:rPr>
              <a:t>包含「上下文窗口限制 (num_ctx)」與「Few-shot XML 提示工程」。實施門檻極低但效益受限 (3.2–3.3分)，主要作為維持對話視窗不被塞爆的輔助保底防線。</a:t>
            </a:r>
          </a:p>
        </p:txBody>
      </p:sp>
      <p:sp>
        <p:nvSpPr>
          <p:cNvPr id="24" name="Rounded Rectangle 23"/>
          <p:cNvSpPr/>
          <p:nvPr/>
        </p:nvSpPr>
        <p:spPr>
          <a:xfrm>
            <a:off x="7589520" y="5517489"/>
            <a:ext cx="3870655" cy="74615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35824" y="5627217"/>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5</a:t>
            </a:r>
          </a:p>
        </p:txBody>
      </p:sp>
      <p:sp>
        <p:nvSpPr>
          <p:cNvPr id="26" name="TextBox 25"/>
          <p:cNvSpPr txBox="1"/>
          <p:nvPr/>
        </p:nvSpPr>
        <p:spPr>
          <a:xfrm>
            <a:off x="8065008" y="5590641"/>
            <a:ext cx="3303727" cy="599846"/>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右下·低效高負擔陷阱 (高複雜度 / 低效益)：</a:t>
            </a:r>
            <a:r>
              <a:rPr sz="900">
                <a:solidFill>
                  <a:srgbClr val="4A5568"/>
                </a:solidFill>
                <a:latin typeface="Microsoft JhengHei"/>
              </a:rPr>
              <a:t>盲目無限制重試或缺乏品管打槍的複雜多代理，只會讓開源弱模型在同一錯誤死胡同空轉燒光 Token，工程團隊應極力避免投入此象限。</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架構規範</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AI Agent 執行框架 16 項核心元素全貌</a:t>
            </a:r>
          </a:p>
          <a:p>
            <a:pPr>
              <a:spcBef>
                <a:spcPts val="300"/>
              </a:spcBef>
            </a:pPr>
            <a:r>
              <a:rPr sz="950">
                <a:solidFill>
                  <a:srgbClr val="7C8695"/>
                </a:solidFill>
                <a:latin typeface="Microsoft JhengHei"/>
              </a:rPr>
              <a:t>劃分為認知記憶、執行控制、工具整合與安全治理四大支柱</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12 / 30</a:t>
            </a:r>
          </a:p>
        </p:txBody>
      </p:sp>
      <p:sp>
        <p:nvSpPr>
          <p:cNvPr id="9" name="Rounded Rectangle 8"/>
          <p:cNvSpPr/>
          <p:nvPr/>
        </p:nvSpPr>
        <p:spPr>
          <a:xfrm>
            <a:off x="731520" y="1600200"/>
            <a:ext cx="10728655" cy="448056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841248" y="1691640"/>
          <a:ext cx="10509197" cy="4297680"/>
        </p:xfrm>
        <a:graphic>
          <a:graphicData uri="http://schemas.openxmlformats.org/drawingml/2006/table">
            <a:tbl>
              <a:tblPr firstRow="1" bandRow="1">
                <a:tableStyleId>{5C22544A-7EE6-4342-B048-85BDC9FD1C3A}</a:tableStyleId>
              </a:tblPr>
              <a:tblGrid>
                <a:gridCol w="537417"/>
                <a:gridCol w="1791391"/>
                <a:gridCol w="4478479"/>
                <a:gridCol w="2507948"/>
                <a:gridCol w="1193962"/>
              </a:tblGrid>
              <a:tr h="252804">
                <a:tc>
                  <a:txBody>
                    <a:bodyPr/>
                    <a:lstStyle/>
                    <a:p>
                      <a:pPr algn="ctr">
                        <a:defRPr sz="900" b="1">
                          <a:solidFill>
                            <a:srgbClr val="232D38"/>
                          </a:solidFill>
                          <a:latin typeface="Microsoft JhengHei"/>
                        </a:defRPr>
                      </a:pPr>
                      <a:r>
                        <a:t>#</a:t>
                      </a:r>
                    </a:p>
                  </a:txBody>
                  <a:tcPr anchor="ctr">
                    <a:solidFill>
                      <a:srgbClr val="EAE4D8"/>
                    </a:solidFill>
                  </a:tcPr>
                </a:tc>
                <a:tc>
                  <a:txBody>
                    <a:bodyPr/>
                    <a:lstStyle/>
                    <a:p>
                      <a:pPr algn="l">
                        <a:defRPr sz="900" b="1">
                          <a:solidFill>
                            <a:srgbClr val="232D38"/>
                          </a:solidFill>
                          <a:latin typeface="Microsoft JhengHei"/>
                        </a:defRPr>
                      </a:pPr>
                      <a:r>
                        <a:t>核心元素名稱</a:t>
                      </a:r>
                    </a:p>
                  </a:txBody>
                  <a:tcPr anchor="ctr">
                    <a:solidFill>
                      <a:srgbClr val="EAE4D8"/>
                    </a:solidFill>
                  </a:tcPr>
                </a:tc>
                <a:tc>
                  <a:txBody>
                    <a:bodyPr/>
                    <a:lstStyle/>
                    <a:p>
                      <a:pPr algn="l">
                        <a:defRPr sz="900" b="1">
                          <a:solidFill>
                            <a:srgbClr val="232D38"/>
                          </a:solidFill>
                          <a:latin typeface="Microsoft JhengHei"/>
                        </a:defRPr>
                      </a:pPr>
                      <a:r>
                        <a:t>功能內涵與機制說明</a:t>
                      </a:r>
                    </a:p>
                  </a:txBody>
                  <a:tcPr anchor="ctr">
                    <a:solidFill>
                      <a:srgbClr val="EAE4D8"/>
                    </a:solidFill>
                  </a:tcPr>
                </a:tc>
                <a:tc>
                  <a:txBody>
                    <a:bodyPr/>
                    <a:lstStyle/>
                    <a:p>
                      <a:pPr algn="l">
                        <a:defRPr sz="900" b="1">
                          <a:solidFill>
                            <a:srgbClr val="232D38"/>
                          </a:solidFill>
                          <a:latin typeface="Microsoft JhengHei"/>
                        </a:defRPr>
                      </a:pPr>
                      <a:r>
                        <a:t>領先示範框架</a:t>
                      </a:r>
                    </a:p>
                  </a:txBody>
                  <a:tcPr anchor="ctr">
                    <a:solidFill>
                      <a:srgbClr val="EAE4D8"/>
                    </a:solidFill>
                  </a:tcPr>
                </a:tc>
                <a:tc>
                  <a:txBody>
                    <a:bodyPr/>
                    <a:lstStyle/>
                    <a:p>
                      <a:pPr algn="ctr">
                        <a:defRPr sz="900" b="1">
                          <a:solidFill>
                            <a:srgbClr val="232D38"/>
                          </a:solidFill>
                          <a:latin typeface="Microsoft JhengHei"/>
                        </a:defRPr>
                      </a:pPr>
                      <a:r>
                        <a:t>成熟度評級</a:t>
                      </a:r>
                    </a:p>
                  </a:txBody>
                  <a:tcPr anchor="ctr">
                    <a:solidFill>
                      <a:srgbClr val="EAE4D8"/>
                    </a:solidFill>
                  </a:tcPr>
                </a:tc>
              </a:tr>
              <a:tr h="252804">
                <a:tc>
                  <a:txBody>
                    <a:bodyPr/>
                    <a:lstStyle/>
                    <a:p>
                      <a:pPr algn="ctr">
                        <a:defRPr sz="850" b="1">
                          <a:solidFill>
                            <a:srgbClr val="232D38"/>
                          </a:solidFill>
                          <a:latin typeface="Microsoft JhengHei"/>
                        </a:defRPr>
                      </a:pPr>
                      <a:r>
                        <a:t>01</a:t>
                      </a:r>
                    </a:p>
                  </a:txBody>
                  <a:tcPr anchor="ctr">
                    <a:solidFill>
                      <a:srgbClr val="FDFCFA"/>
                    </a:solidFill>
                  </a:tcPr>
                </a:tc>
                <a:tc>
                  <a:txBody>
                    <a:bodyPr/>
                    <a:lstStyle/>
                    <a:p>
                      <a:pPr algn="l">
                        <a:defRPr sz="850">
                          <a:solidFill>
                            <a:srgbClr val="4A5568"/>
                          </a:solidFill>
                          <a:latin typeface="Microsoft JhengHei"/>
                        </a:defRPr>
                      </a:pPr>
                      <a:r>
                        <a:t>短期工作記憶</a:t>
                      </a:r>
                    </a:p>
                  </a:txBody>
                  <a:tcPr anchor="ctr">
                    <a:solidFill>
                      <a:srgbClr val="FDFCFA"/>
                    </a:solidFill>
                  </a:tcPr>
                </a:tc>
                <a:tc>
                  <a:txBody>
                    <a:bodyPr/>
                    <a:lstStyle/>
                    <a:p>
                      <a:pPr algn="l">
                        <a:defRPr sz="850">
                          <a:solidFill>
                            <a:srgbClr val="4A5568"/>
                          </a:solidFill>
                          <a:latin typeface="Microsoft JhengHei"/>
                        </a:defRPr>
                      </a:pPr>
                      <a:r>
                        <a:t>In-Context 視窗滑動管理與 Token 預算控制</a:t>
                      </a:r>
                    </a:p>
                  </a:txBody>
                  <a:tcPr anchor="ctr">
                    <a:solidFill>
                      <a:srgbClr val="FDFCFA"/>
                    </a:solidFill>
                  </a:tcPr>
                </a:tc>
                <a:tc>
                  <a:txBody>
                    <a:bodyPr/>
                    <a:lstStyle/>
                    <a:p>
                      <a:pPr algn="l">
                        <a:defRPr sz="850">
                          <a:solidFill>
                            <a:srgbClr val="4A5568"/>
                          </a:solidFill>
                          <a:latin typeface="Microsoft JhengHei"/>
                        </a:defRPr>
                      </a:pPr>
                      <a:r>
                        <a:t>全體框架支援</a:t>
                      </a:r>
                    </a:p>
                  </a:txBody>
                  <a:tcPr anchor="ctr">
                    <a:solidFill>
                      <a:srgbClr val="FDFCFA"/>
                    </a:solidFill>
                  </a:tcPr>
                </a:tc>
                <a:tc>
                  <a:txBody>
                    <a:bodyPr/>
                    <a:lstStyle/>
                    <a:p>
                      <a:pPr algn="ctr">
                        <a:defRPr sz="850" b="1">
                          <a:solidFill>
                            <a:srgbClr val="9E5A38"/>
                          </a:solidFill>
                          <a:latin typeface="Microsoft JhengHei"/>
                        </a:defRPr>
                      </a:pPr>
                      <a:r>
                        <a:t>★★★★★</a:t>
                      </a:r>
                    </a:p>
                  </a:txBody>
                  <a:tcPr anchor="ctr">
                    <a:solidFill>
                      <a:srgbClr val="FDFCFA"/>
                    </a:solidFill>
                  </a:tcPr>
                </a:tc>
              </a:tr>
              <a:tr h="252804">
                <a:tc>
                  <a:txBody>
                    <a:bodyPr/>
                    <a:lstStyle/>
                    <a:p>
                      <a:pPr algn="ctr">
                        <a:defRPr sz="850" b="1">
                          <a:solidFill>
                            <a:srgbClr val="232D38"/>
                          </a:solidFill>
                          <a:latin typeface="Microsoft JhengHei"/>
                        </a:defRPr>
                      </a:pPr>
                      <a:r>
                        <a:t>02</a:t>
                      </a:r>
                    </a:p>
                  </a:txBody>
                  <a:tcPr anchor="ctr">
                    <a:solidFill>
                      <a:srgbClr val="F7F4ED"/>
                    </a:solidFill>
                  </a:tcPr>
                </a:tc>
                <a:tc>
                  <a:txBody>
                    <a:bodyPr/>
                    <a:lstStyle/>
                    <a:p>
                      <a:pPr algn="l">
                        <a:defRPr sz="850">
                          <a:solidFill>
                            <a:srgbClr val="4A5568"/>
                          </a:solidFill>
                          <a:latin typeface="Microsoft JhengHei"/>
                        </a:defRPr>
                      </a:pPr>
                      <a:r>
                        <a:t>長期持久記憶</a:t>
                      </a:r>
                    </a:p>
                  </a:txBody>
                  <a:tcPr anchor="ctr">
                    <a:solidFill>
                      <a:srgbClr val="F7F4ED"/>
                    </a:solidFill>
                  </a:tcPr>
                </a:tc>
                <a:tc>
                  <a:txBody>
                    <a:bodyPr/>
                    <a:lstStyle/>
                    <a:p>
                      <a:pPr algn="l">
                        <a:defRPr sz="850">
                          <a:solidFill>
                            <a:srgbClr val="4A5568"/>
                          </a:solidFill>
                          <a:latin typeface="Microsoft JhengHei"/>
                        </a:defRPr>
                      </a:pPr>
                      <a:r>
                        <a:t>跨 Session 檔案持久化與向量/SQLite 關聯儲存</a:t>
                      </a:r>
                    </a:p>
                  </a:txBody>
                  <a:tcPr anchor="ctr">
                    <a:solidFill>
                      <a:srgbClr val="F7F4ED"/>
                    </a:solidFill>
                  </a:tcPr>
                </a:tc>
                <a:tc>
                  <a:txBody>
                    <a:bodyPr/>
                    <a:lstStyle/>
                    <a:p>
                      <a:pPr algn="l">
                        <a:defRPr sz="850">
                          <a:solidFill>
                            <a:srgbClr val="4A5568"/>
                          </a:solidFill>
                          <a:latin typeface="Microsoft JhengHei"/>
                        </a:defRPr>
                      </a:pPr>
                      <a:r>
                        <a:t>Hermes (FTS5) / Claude Code</a:t>
                      </a:r>
                    </a:p>
                  </a:txBody>
                  <a:tcPr anchor="ctr">
                    <a:solidFill>
                      <a:srgbClr val="F7F4ED"/>
                    </a:solidFill>
                  </a:tcPr>
                </a:tc>
                <a:tc>
                  <a:txBody>
                    <a:bodyPr/>
                    <a:lstStyle/>
                    <a:p>
                      <a:pPr algn="ctr">
                        <a:defRPr sz="850">
                          <a:solidFill>
                            <a:srgbClr val="3B6E58"/>
                          </a:solidFill>
                          <a:latin typeface="Microsoft JhengHei"/>
                        </a:defRPr>
                      </a:pPr>
                      <a:r>
                        <a:t>★★★★☆</a:t>
                      </a:r>
                    </a:p>
                  </a:txBody>
                  <a:tcPr anchor="ctr">
                    <a:solidFill>
                      <a:srgbClr val="F7F4ED"/>
                    </a:solidFill>
                  </a:tcPr>
                </a:tc>
              </a:tr>
              <a:tr h="252804">
                <a:tc>
                  <a:txBody>
                    <a:bodyPr/>
                    <a:lstStyle/>
                    <a:p>
                      <a:pPr algn="ctr">
                        <a:defRPr sz="850" b="1">
                          <a:solidFill>
                            <a:srgbClr val="232D38"/>
                          </a:solidFill>
                          <a:latin typeface="Microsoft JhengHei"/>
                        </a:defRPr>
                      </a:pPr>
                      <a:r>
                        <a:t>03</a:t>
                      </a:r>
                    </a:p>
                  </a:txBody>
                  <a:tcPr anchor="ctr">
                    <a:solidFill>
                      <a:srgbClr val="FDFCFA"/>
                    </a:solidFill>
                  </a:tcPr>
                </a:tc>
                <a:tc>
                  <a:txBody>
                    <a:bodyPr/>
                    <a:lstStyle/>
                    <a:p>
                      <a:pPr algn="l">
                        <a:defRPr sz="850">
                          <a:solidFill>
                            <a:srgbClr val="4A5568"/>
                          </a:solidFill>
                          <a:latin typeface="Microsoft JhengHei"/>
                        </a:defRPr>
                      </a:pPr>
                      <a:r>
                        <a:t>記憶動態壓縮</a:t>
                      </a:r>
                    </a:p>
                  </a:txBody>
                  <a:tcPr anchor="ctr">
                    <a:solidFill>
                      <a:srgbClr val="FDFCFA"/>
                    </a:solidFill>
                  </a:tcPr>
                </a:tc>
                <a:tc>
                  <a:txBody>
                    <a:bodyPr/>
                    <a:lstStyle/>
                    <a:p>
                      <a:pPr algn="l">
                        <a:defRPr sz="850">
                          <a:solidFill>
                            <a:srgbClr val="4A5568"/>
                          </a:solidFill>
                          <a:latin typeface="Microsoft JhengHei"/>
                        </a:defRPr>
                      </a:pPr>
                      <a:r>
                        <a:t>上下文智能截斷、摘要與重要事實提取 (Compaction)</a:t>
                      </a:r>
                    </a:p>
                  </a:txBody>
                  <a:tcPr anchor="ctr">
                    <a:solidFill>
                      <a:srgbClr val="FDFCFA"/>
                    </a:solidFill>
                  </a:tcPr>
                </a:tc>
                <a:tc>
                  <a:txBody>
                    <a:bodyPr/>
                    <a:lstStyle/>
                    <a:p>
                      <a:pPr algn="l">
                        <a:defRPr sz="850">
                          <a:solidFill>
                            <a:srgbClr val="4A5568"/>
                          </a:solidFill>
                          <a:latin typeface="Microsoft JhengHei"/>
                        </a:defRPr>
                      </a:pPr>
                      <a:r>
                        <a:t>OpenAI Codex / Hermes</a:t>
                      </a:r>
                    </a:p>
                  </a:txBody>
                  <a:tcPr anchor="ctr">
                    <a:solidFill>
                      <a:srgbClr val="FDFCFA"/>
                    </a:solidFill>
                  </a:tcPr>
                </a:tc>
                <a:tc>
                  <a:txBody>
                    <a:bodyPr/>
                    <a:lstStyle/>
                    <a:p>
                      <a:pPr algn="ctr">
                        <a:defRPr sz="850">
                          <a:solidFill>
                            <a:srgbClr val="3B6E58"/>
                          </a:solidFill>
                          <a:latin typeface="Microsoft JhengHei"/>
                        </a:defRPr>
                      </a:pPr>
                      <a:r>
                        <a:t>★★★★☆</a:t>
                      </a:r>
                    </a:p>
                  </a:txBody>
                  <a:tcPr anchor="ctr">
                    <a:solidFill>
                      <a:srgbClr val="FDFCFA"/>
                    </a:solidFill>
                  </a:tcPr>
                </a:tc>
              </a:tr>
              <a:tr h="252804">
                <a:tc>
                  <a:txBody>
                    <a:bodyPr/>
                    <a:lstStyle/>
                    <a:p>
                      <a:pPr algn="ctr">
                        <a:defRPr sz="850" b="1">
                          <a:solidFill>
                            <a:srgbClr val="232D38"/>
                          </a:solidFill>
                          <a:latin typeface="Microsoft JhengHei"/>
                        </a:defRPr>
                      </a:pPr>
                      <a:r>
                        <a:t>04</a:t>
                      </a:r>
                    </a:p>
                  </a:txBody>
                  <a:tcPr anchor="ctr">
                    <a:solidFill>
                      <a:srgbClr val="F7F4ED"/>
                    </a:solidFill>
                  </a:tcPr>
                </a:tc>
                <a:tc>
                  <a:txBody>
                    <a:bodyPr/>
                    <a:lstStyle/>
                    <a:p>
                      <a:pPr algn="l">
                        <a:defRPr sz="850">
                          <a:solidFill>
                            <a:srgbClr val="4A5568"/>
                          </a:solidFill>
                          <a:latin typeface="Microsoft JhengHei"/>
                        </a:defRPr>
                      </a:pPr>
                      <a:r>
                        <a:t>Skills 技能系統</a:t>
                      </a:r>
                    </a:p>
                  </a:txBody>
                  <a:tcPr anchor="ctr">
                    <a:solidFill>
                      <a:srgbClr val="F7F4ED"/>
                    </a:solidFill>
                  </a:tcPr>
                </a:tc>
                <a:tc>
                  <a:txBody>
                    <a:bodyPr/>
                    <a:lstStyle/>
                    <a:p>
                      <a:pPr algn="l">
                        <a:defRPr sz="850">
                          <a:solidFill>
                            <a:srgbClr val="4A5568"/>
                          </a:solidFill>
                          <a:latin typeface="Microsoft JhengHei"/>
                        </a:defRPr>
                      </a:pPr>
                      <a:r>
                        <a:t>可重複封裝、動態載入的專業領域指令模組</a:t>
                      </a:r>
                    </a:p>
                  </a:txBody>
                  <a:tcPr anchor="ctr">
                    <a:solidFill>
                      <a:srgbClr val="F7F4ED"/>
                    </a:solidFill>
                  </a:tcPr>
                </a:tc>
                <a:tc>
                  <a:txBody>
                    <a:bodyPr/>
                    <a:lstStyle/>
                    <a:p>
                      <a:pPr algn="l">
                        <a:defRPr sz="850">
                          <a:solidFill>
                            <a:srgbClr val="4A5568"/>
                          </a:solidFill>
                          <a:latin typeface="Microsoft JhengHei"/>
                        </a:defRPr>
                      </a:pPr>
                      <a:r>
                        <a:t>Hermes (反思蒸餾) / Antigravity</a:t>
                      </a:r>
                    </a:p>
                  </a:txBody>
                  <a:tcPr anchor="ctr">
                    <a:solidFill>
                      <a:srgbClr val="F7F4ED"/>
                    </a:solidFill>
                  </a:tcPr>
                </a:tc>
                <a:tc>
                  <a:txBody>
                    <a:bodyPr/>
                    <a:lstStyle/>
                    <a:p>
                      <a:pPr algn="ctr">
                        <a:defRPr sz="850">
                          <a:solidFill>
                            <a:srgbClr val="3B6E58"/>
                          </a:solidFill>
                          <a:latin typeface="Microsoft JhengHei"/>
                        </a:defRPr>
                      </a:pPr>
                      <a:r>
                        <a:t>★★★★☆</a:t>
                      </a:r>
                    </a:p>
                  </a:txBody>
                  <a:tcPr anchor="ctr">
                    <a:solidFill>
                      <a:srgbClr val="F7F4ED"/>
                    </a:solidFill>
                  </a:tcPr>
                </a:tc>
              </a:tr>
              <a:tr h="252804">
                <a:tc>
                  <a:txBody>
                    <a:bodyPr/>
                    <a:lstStyle/>
                    <a:p>
                      <a:pPr algn="ctr">
                        <a:defRPr sz="850" b="1">
                          <a:solidFill>
                            <a:srgbClr val="232D38"/>
                          </a:solidFill>
                          <a:latin typeface="Microsoft JhengHei"/>
                        </a:defRPr>
                      </a:pPr>
                      <a:r>
                        <a:t>05</a:t>
                      </a:r>
                    </a:p>
                  </a:txBody>
                  <a:tcPr anchor="ctr">
                    <a:solidFill>
                      <a:srgbClr val="FDFCFA"/>
                    </a:solidFill>
                  </a:tcPr>
                </a:tc>
                <a:tc>
                  <a:txBody>
                    <a:bodyPr/>
                    <a:lstStyle/>
                    <a:p>
                      <a:pPr algn="l">
                        <a:defRPr sz="850">
                          <a:solidFill>
                            <a:srgbClr val="4A5568"/>
                          </a:solidFill>
                          <a:latin typeface="Microsoft JhengHei"/>
                        </a:defRPr>
                      </a:pPr>
                      <a:r>
                        <a:t>Hooks 生命週期鉤子</a:t>
                      </a:r>
                    </a:p>
                  </a:txBody>
                  <a:tcPr anchor="ctr">
                    <a:solidFill>
                      <a:srgbClr val="FDFCFA"/>
                    </a:solidFill>
                  </a:tcPr>
                </a:tc>
                <a:tc>
                  <a:txBody>
                    <a:bodyPr/>
                    <a:lstStyle/>
                    <a:p>
                      <a:pPr algn="l">
                        <a:defRPr sz="850">
                          <a:solidFill>
                            <a:srgbClr val="4A5568"/>
                          </a:solidFill>
                          <a:latin typeface="Microsoft JhengHei"/>
                        </a:defRPr>
                      </a:pPr>
                      <a:r>
                        <a:t>攔截 Prompt 發送、Tool 執行前/後之自定義腳本</a:t>
                      </a:r>
                    </a:p>
                  </a:txBody>
                  <a:tcPr anchor="ctr">
                    <a:solidFill>
                      <a:srgbClr val="FDFCFA"/>
                    </a:solidFill>
                  </a:tcPr>
                </a:tc>
                <a:tc>
                  <a:txBody>
                    <a:bodyPr/>
                    <a:lstStyle/>
                    <a:p>
                      <a:pPr algn="l">
                        <a:defRPr sz="850">
                          <a:solidFill>
                            <a:srgbClr val="4A5568"/>
                          </a:solidFill>
                          <a:latin typeface="Microsoft JhengHei"/>
                        </a:defRPr>
                      </a:pPr>
                      <a:r>
                        <a:t>Antigravity 2.0 / OpenCode</a:t>
                      </a:r>
                    </a:p>
                  </a:txBody>
                  <a:tcPr anchor="ctr">
                    <a:solidFill>
                      <a:srgbClr val="FDFCFA"/>
                    </a:solidFill>
                  </a:tcPr>
                </a:tc>
                <a:tc>
                  <a:txBody>
                    <a:bodyPr/>
                    <a:lstStyle/>
                    <a:p>
                      <a:pPr algn="ctr">
                        <a:defRPr sz="850">
                          <a:solidFill>
                            <a:srgbClr val="3B6E58"/>
                          </a:solidFill>
                          <a:latin typeface="Microsoft JhengHei"/>
                        </a:defRPr>
                      </a:pPr>
                      <a:r>
                        <a:t>★★★★☆</a:t>
                      </a:r>
                    </a:p>
                  </a:txBody>
                  <a:tcPr anchor="ctr">
                    <a:solidFill>
                      <a:srgbClr val="FDFCFA"/>
                    </a:solidFill>
                  </a:tcPr>
                </a:tc>
              </a:tr>
              <a:tr h="252804">
                <a:tc>
                  <a:txBody>
                    <a:bodyPr/>
                    <a:lstStyle/>
                    <a:p>
                      <a:pPr algn="ctr">
                        <a:defRPr sz="850" b="1">
                          <a:solidFill>
                            <a:srgbClr val="232D38"/>
                          </a:solidFill>
                          <a:latin typeface="Microsoft JhengHei"/>
                        </a:defRPr>
                      </a:pPr>
                      <a:r>
                        <a:t>06</a:t>
                      </a:r>
                    </a:p>
                  </a:txBody>
                  <a:tcPr anchor="ctr">
                    <a:solidFill>
                      <a:srgbClr val="F7F4ED"/>
                    </a:solidFill>
                  </a:tcPr>
                </a:tc>
                <a:tc>
                  <a:txBody>
                    <a:bodyPr/>
                    <a:lstStyle/>
                    <a:p>
                      <a:pPr algn="l">
                        <a:defRPr sz="850">
                          <a:solidFill>
                            <a:srgbClr val="4A5568"/>
                          </a:solidFill>
                          <a:latin typeface="Microsoft JhengHei"/>
                        </a:defRPr>
                      </a:pPr>
                      <a:r>
                        <a:t>ReAct 循環控制</a:t>
                      </a:r>
                    </a:p>
                  </a:txBody>
                  <a:tcPr anchor="ctr">
                    <a:solidFill>
                      <a:srgbClr val="F7F4ED"/>
                    </a:solidFill>
                  </a:tcPr>
                </a:tc>
                <a:tc>
                  <a:txBody>
                    <a:bodyPr/>
                    <a:lstStyle/>
                    <a:p>
                      <a:pPr algn="l">
                        <a:defRPr sz="850">
                          <a:solidFill>
                            <a:srgbClr val="4A5568"/>
                          </a:solidFill>
                          <a:latin typeface="Microsoft JhengHei"/>
                        </a:defRPr>
                      </a:pPr>
                      <a:r>
                        <a:t>Thought-Action-Observation 狀態機與死迴圈熔斷</a:t>
                      </a:r>
                    </a:p>
                  </a:txBody>
                  <a:tcPr anchor="ctr">
                    <a:solidFill>
                      <a:srgbClr val="F7F4ED"/>
                    </a:solidFill>
                  </a:tcPr>
                </a:tc>
                <a:tc>
                  <a:txBody>
                    <a:bodyPr/>
                    <a:lstStyle/>
                    <a:p>
                      <a:pPr algn="l">
                        <a:defRPr sz="850">
                          <a:solidFill>
                            <a:srgbClr val="4A5568"/>
                          </a:solidFill>
                          <a:latin typeface="Microsoft JhengHei"/>
                        </a:defRPr>
                      </a:pPr>
                      <a:r>
                        <a:t>Claude Code / Codex / Aider</a:t>
                      </a:r>
                    </a:p>
                  </a:txBody>
                  <a:tcPr anchor="ctr">
                    <a:solidFill>
                      <a:srgbClr val="F7F4ED"/>
                    </a:solidFill>
                  </a:tcPr>
                </a:tc>
                <a:tc>
                  <a:txBody>
                    <a:bodyPr/>
                    <a:lstStyle/>
                    <a:p>
                      <a:pPr algn="ctr">
                        <a:defRPr sz="850" b="1">
                          <a:solidFill>
                            <a:srgbClr val="9E5A38"/>
                          </a:solidFill>
                          <a:latin typeface="Microsoft JhengHei"/>
                        </a:defRPr>
                      </a:pPr>
                      <a:r>
                        <a:t>★★★★★</a:t>
                      </a:r>
                    </a:p>
                  </a:txBody>
                  <a:tcPr anchor="ctr">
                    <a:solidFill>
                      <a:srgbClr val="F7F4ED"/>
                    </a:solidFill>
                  </a:tcPr>
                </a:tc>
              </a:tr>
              <a:tr h="252804">
                <a:tc>
                  <a:txBody>
                    <a:bodyPr/>
                    <a:lstStyle/>
                    <a:p>
                      <a:pPr algn="ctr">
                        <a:defRPr sz="850" b="1">
                          <a:solidFill>
                            <a:srgbClr val="232D38"/>
                          </a:solidFill>
                          <a:latin typeface="Microsoft JhengHei"/>
                        </a:defRPr>
                      </a:pPr>
                      <a:r>
                        <a:t>07</a:t>
                      </a:r>
                    </a:p>
                  </a:txBody>
                  <a:tcPr anchor="ctr">
                    <a:solidFill>
                      <a:srgbClr val="FDFCFA"/>
                    </a:solidFill>
                  </a:tcPr>
                </a:tc>
                <a:tc>
                  <a:txBody>
                    <a:bodyPr/>
                    <a:lstStyle/>
                    <a:p>
                      <a:pPr algn="l">
                        <a:defRPr sz="850">
                          <a:solidFill>
                            <a:srgbClr val="4A5568"/>
                          </a:solidFill>
                          <a:latin typeface="Microsoft JhengHei"/>
                        </a:defRPr>
                      </a:pPr>
                      <a:r>
                        <a:t>Sub-Agent 子代理委派</a:t>
                      </a:r>
                    </a:p>
                  </a:txBody>
                  <a:tcPr anchor="ctr">
                    <a:solidFill>
                      <a:srgbClr val="FDFCFA"/>
                    </a:solidFill>
                  </a:tcPr>
                </a:tc>
                <a:tc>
                  <a:txBody>
                    <a:bodyPr/>
                    <a:lstStyle/>
                    <a:p>
                      <a:pPr algn="l">
                        <a:defRPr sz="850">
                          <a:solidFill>
                            <a:srgbClr val="4A5568"/>
                          </a:solidFill>
                          <a:latin typeface="Microsoft JhengHei"/>
                        </a:defRPr>
                      </a:pPr>
                      <a:r>
                        <a:t>動態生成輕量專業子代理並行工作 (Swarm)</a:t>
                      </a:r>
                    </a:p>
                  </a:txBody>
                  <a:tcPr anchor="ctr">
                    <a:solidFill>
                      <a:srgbClr val="FDFCFA"/>
                    </a:solidFill>
                  </a:tcPr>
                </a:tc>
                <a:tc>
                  <a:txBody>
                    <a:bodyPr/>
                    <a:lstStyle/>
                    <a:p>
                      <a:pPr algn="l">
                        <a:defRPr sz="850">
                          <a:solidFill>
                            <a:srgbClr val="4A5568"/>
                          </a:solidFill>
                          <a:latin typeface="Microsoft JhengHei"/>
                        </a:defRPr>
                      </a:pPr>
                      <a:r>
                        <a:t>Antigravity 2.0 / DeepAgents</a:t>
                      </a:r>
                    </a:p>
                  </a:txBody>
                  <a:tcPr anchor="ctr">
                    <a:solidFill>
                      <a:srgbClr val="FDFCFA"/>
                    </a:solidFill>
                  </a:tcPr>
                </a:tc>
                <a:tc>
                  <a:txBody>
                    <a:bodyPr/>
                    <a:lstStyle/>
                    <a:p>
                      <a:pPr algn="ctr">
                        <a:defRPr sz="850">
                          <a:solidFill>
                            <a:srgbClr val="3B6E58"/>
                          </a:solidFill>
                          <a:latin typeface="Microsoft JhengHei"/>
                        </a:defRPr>
                      </a:pPr>
                      <a:r>
                        <a:t>★★★★☆</a:t>
                      </a:r>
                    </a:p>
                  </a:txBody>
                  <a:tcPr anchor="ctr">
                    <a:solidFill>
                      <a:srgbClr val="FDFCFA"/>
                    </a:solidFill>
                  </a:tcPr>
                </a:tc>
              </a:tr>
              <a:tr h="252804">
                <a:tc>
                  <a:txBody>
                    <a:bodyPr/>
                    <a:lstStyle/>
                    <a:p>
                      <a:pPr algn="ctr">
                        <a:defRPr sz="850" b="1">
                          <a:solidFill>
                            <a:srgbClr val="232D38"/>
                          </a:solidFill>
                          <a:latin typeface="Microsoft JhengHei"/>
                        </a:defRPr>
                      </a:pPr>
                      <a:r>
                        <a:t>08</a:t>
                      </a:r>
                    </a:p>
                  </a:txBody>
                  <a:tcPr anchor="ctr">
                    <a:solidFill>
                      <a:srgbClr val="F7F4ED"/>
                    </a:solidFill>
                  </a:tcPr>
                </a:tc>
                <a:tc>
                  <a:txBody>
                    <a:bodyPr/>
                    <a:lstStyle/>
                    <a:p>
                      <a:pPr algn="l">
                        <a:defRPr sz="850">
                          <a:solidFill>
                            <a:srgbClr val="4A5568"/>
                          </a:solidFill>
                          <a:latin typeface="Microsoft JhengHei"/>
                        </a:defRPr>
                      </a:pPr>
                      <a:r>
                        <a:t>工具沙盒執行環境</a:t>
                      </a:r>
                    </a:p>
                  </a:txBody>
                  <a:tcPr anchor="ctr">
                    <a:solidFill>
                      <a:srgbClr val="F7F4ED"/>
                    </a:solidFill>
                  </a:tcPr>
                </a:tc>
                <a:tc>
                  <a:txBody>
                    <a:bodyPr/>
                    <a:lstStyle/>
                    <a:p>
                      <a:pPr algn="l">
                        <a:defRPr sz="850">
                          <a:solidFill>
                            <a:srgbClr val="4A5568"/>
                          </a:solidFill>
                          <a:latin typeface="Microsoft JhengHei"/>
                        </a:defRPr>
                      </a:pPr>
                      <a:r>
                        <a:t>OS 級 Docker/MicroVM 隔離執行命令與網路限制</a:t>
                      </a:r>
                    </a:p>
                  </a:txBody>
                  <a:tcPr anchor="ctr">
                    <a:solidFill>
                      <a:srgbClr val="F7F4ED"/>
                    </a:solidFill>
                  </a:tcPr>
                </a:tc>
                <a:tc>
                  <a:txBody>
                    <a:bodyPr/>
                    <a:lstStyle/>
                    <a:p>
                      <a:pPr algn="l">
                        <a:defRPr sz="850">
                          <a:solidFill>
                            <a:srgbClr val="4A5568"/>
                          </a:solidFill>
                          <a:latin typeface="Microsoft JhengHei"/>
                        </a:defRPr>
                      </a:pPr>
                      <a:r>
                        <a:t>OpenAI Codex (雲端沙盒)</a:t>
                      </a:r>
                    </a:p>
                  </a:txBody>
                  <a:tcPr anchor="ctr">
                    <a:solidFill>
                      <a:srgbClr val="F7F4ED"/>
                    </a:solidFill>
                  </a:tcPr>
                </a:tc>
                <a:tc>
                  <a:txBody>
                    <a:bodyPr/>
                    <a:lstStyle/>
                    <a:p>
                      <a:pPr algn="ctr">
                        <a:defRPr sz="850">
                          <a:solidFill>
                            <a:srgbClr val="3B6E58"/>
                          </a:solidFill>
                          <a:latin typeface="Microsoft JhengHei"/>
                        </a:defRPr>
                      </a:pPr>
                      <a:r>
                        <a:t>★★★★☆</a:t>
                      </a:r>
                    </a:p>
                  </a:txBody>
                  <a:tcPr anchor="ctr">
                    <a:solidFill>
                      <a:srgbClr val="F7F4ED"/>
                    </a:solidFill>
                  </a:tcPr>
                </a:tc>
              </a:tr>
              <a:tr h="252804">
                <a:tc>
                  <a:txBody>
                    <a:bodyPr/>
                    <a:lstStyle/>
                    <a:p>
                      <a:pPr algn="ctr">
                        <a:defRPr sz="850" b="1">
                          <a:solidFill>
                            <a:srgbClr val="232D38"/>
                          </a:solidFill>
                          <a:latin typeface="Microsoft JhengHei"/>
                        </a:defRPr>
                      </a:pPr>
                      <a:r>
                        <a:t>09</a:t>
                      </a:r>
                    </a:p>
                  </a:txBody>
                  <a:tcPr anchor="ctr">
                    <a:solidFill>
                      <a:srgbClr val="FDFCFA"/>
                    </a:solidFill>
                  </a:tcPr>
                </a:tc>
                <a:tc>
                  <a:txBody>
                    <a:bodyPr/>
                    <a:lstStyle/>
                    <a:p>
                      <a:pPr algn="l">
                        <a:defRPr sz="850">
                          <a:solidFill>
                            <a:srgbClr val="4A5568"/>
                          </a:solidFill>
                          <a:latin typeface="Microsoft JhengHei"/>
                        </a:defRPr>
                      </a:pPr>
                      <a:r>
                        <a:t>MCP 協議原生整合</a:t>
                      </a:r>
                    </a:p>
                  </a:txBody>
                  <a:tcPr anchor="ctr">
                    <a:solidFill>
                      <a:srgbClr val="FDFCFA"/>
                    </a:solidFill>
                  </a:tcPr>
                </a:tc>
                <a:tc>
                  <a:txBody>
                    <a:bodyPr/>
                    <a:lstStyle/>
                    <a:p>
                      <a:pPr algn="l">
                        <a:defRPr sz="850">
                          <a:solidFill>
                            <a:srgbClr val="4A5568"/>
                          </a:solidFill>
                          <a:latin typeface="Microsoft JhengHei"/>
                        </a:defRPr>
                      </a:pPr>
                      <a:r>
                        <a:t>Model Context Protocol 標準化工具連接與授權</a:t>
                      </a:r>
                    </a:p>
                  </a:txBody>
                  <a:tcPr anchor="ctr">
                    <a:solidFill>
                      <a:srgbClr val="FDFCFA"/>
                    </a:solidFill>
                  </a:tcPr>
                </a:tc>
                <a:tc>
                  <a:txBody>
                    <a:bodyPr/>
                    <a:lstStyle/>
                    <a:p>
                      <a:pPr algn="l">
                        <a:defRPr sz="850">
                          <a:solidFill>
                            <a:srgbClr val="4A5568"/>
                          </a:solidFill>
                          <a:latin typeface="Microsoft JhengHei"/>
                        </a:defRPr>
                      </a:pPr>
                      <a:r>
                        <a:t>Claude Code / Goose</a:t>
                      </a:r>
                    </a:p>
                  </a:txBody>
                  <a:tcPr anchor="ctr">
                    <a:solidFill>
                      <a:srgbClr val="FDFCFA"/>
                    </a:solidFill>
                  </a:tcPr>
                </a:tc>
                <a:tc>
                  <a:txBody>
                    <a:bodyPr/>
                    <a:lstStyle/>
                    <a:p>
                      <a:pPr algn="ctr">
                        <a:defRPr sz="850" b="1">
                          <a:solidFill>
                            <a:srgbClr val="9E5A38"/>
                          </a:solidFill>
                          <a:latin typeface="Microsoft JhengHei"/>
                        </a:defRPr>
                      </a:pPr>
                      <a:r>
                        <a:t>★★★★★</a:t>
                      </a:r>
                    </a:p>
                  </a:txBody>
                  <a:tcPr anchor="ctr">
                    <a:solidFill>
                      <a:srgbClr val="FDFCFA"/>
                    </a:solidFill>
                  </a:tcPr>
                </a:tc>
              </a:tr>
              <a:tr h="252804">
                <a:tc>
                  <a:txBody>
                    <a:bodyPr/>
                    <a:lstStyle/>
                    <a:p>
                      <a:pPr algn="ctr">
                        <a:defRPr sz="850" b="1">
                          <a:solidFill>
                            <a:srgbClr val="232D38"/>
                          </a:solidFill>
                          <a:latin typeface="Microsoft JhengHei"/>
                        </a:defRPr>
                      </a:pPr>
                      <a:r>
                        <a:t>10</a:t>
                      </a:r>
                    </a:p>
                  </a:txBody>
                  <a:tcPr anchor="ctr">
                    <a:solidFill>
                      <a:srgbClr val="F7F4ED"/>
                    </a:solidFill>
                  </a:tcPr>
                </a:tc>
                <a:tc>
                  <a:txBody>
                    <a:bodyPr/>
                    <a:lstStyle/>
                    <a:p>
                      <a:pPr algn="l">
                        <a:defRPr sz="850">
                          <a:solidFill>
                            <a:srgbClr val="4A5568"/>
                          </a:solidFill>
                          <a:latin typeface="Microsoft JhengHei"/>
                        </a:defRPr>
                      </a:pPr>
                      <a:r>
                        <a:t>階梯式任務分解</a:t>
                      </a:r>
                    </a:p>
                  </a:txBody>
                  <a:tcPr anchor="ctr">
                    <a:solidFill>
                      <a:srgbClr val="F7F4ED"/>
                    </a:solidFill>
                  </a:tcPr>
                </a:tc>
                <a:tc>
                  <a:txBody>
                    <a:bodyPr/>
                    <a:lstStyle/>
                    <a:p>
                      <a:pPr algn="l">
                        <a:defRPr sz="850">
                          <a:solidFill>
                            <a:srgbClr val="4A5568"/>
                          </a:solidFill>
                          <a:latin typeface="Microsoft JhengHei"/>
                        </a:defRPr>
                      </a:pPr>
                      <a:r>
                        <a:t>高階模糊需求轉化為可驗收的原子 Sprint 清單</a:t>
                      </a:r>
                    </a:p>
                  </a:txBody>
                  <a:tcPr anchor="ctr">
                    <a:solidFill>
                      <a:srgbClr val="F7F4ED"/>
                    </a:solidFill>
                  </a:tcPr>
                </a:tc>
                <a:tc>
                  <a:txBody>
                    <a:bodyPr/>
                    <a:lstStyle/>
                    <a:p>
                      <a:pPr algn="l">
                        <a:defRPr sz="850" b="1">
                          <a:solidFill>
                            <a:srgbClr val="9E5A38"/>
                          </a:solidFill>
                          <a:latin typeface="Microsoft JhengHei"/>
                        </a:defRPr>
                      </a:pPr>
                      <a:r>
                        <a:t>三大商業框架全部</a:t>
                      </a:r>
                    </a:p>
                  </a:txBody>
                  <a:tcPr anchor="ctr">
                    <a:solidFill>
                      <a:srgbClr val="F7F4ED"/>
                    </a:solidFill>
                  </a:tcPr>
                </a:tc>
                <a:tc>
                  <a:txBody>
                    <a:bodyPr/>
                    <a:lstStyle/>
                    <a:p>
                      <a:pPr algn="ctr">
                        <a:defRPr sz="850" b="1">
                          <a:solidFill>
                            <a:srgbClr val="9E5A38"/>
                          </a:solidFill>
                          <a:latin typeface="Microsoft JhengHei"/>
                        </a:defRPr>
                      </a:pPr>
                      <a:r>
                        <a:t>★★★★★</a:t>
                      </a:r>
                    </a:p>
                  </a:txBody>
                  <a:tcPr anchor="ctr">
                    <a:solidFill>
                      <a:srgbClr val="F7F4ED"/>
                    </a:solidFill>
                  </a:tcPr>
                </a:tc>
              </a:tr>
              <a:tr h="252804">
                <a:tc>
                  <a:txBody>
                    <a:bodyPr/>
                    <a:lstStyle/>
                    <a:p>
                      <a:pPr algn="ctr">
                        <a:defRPr sz="850" b="1">
                          <a:solidFill>
                            <a:srgbClr val="232D38"/>
                          </a:solidFill>
                          <a:latin typeface="Microsoft JhengHei"/>
                        </a:defRPr>
                      </a:pPr>
                      <a:r>
                        <a:t>11</a:t>
                      </a:r>
                    </a:p>
                  </a:txBody>
                  <a:tcPr anchor="ctr">
                    <a:solidFill>
                      <a:srgbClr val="FDFCFA"/>
                    </a:solidFill>
                  </a:tcPr>
                </a:tc>
                <a:tc>
                  <a:txBody>
                    <a:bodyPr/>
                    <a:lstStyle/>
                    <a:p>
                      <a:pPr algn="l">
                        <a:defRPr sz="850">
                          <a:solidFill>
                            <a:srgbClr val="4A5568"/>
                          </a:solidFill>
                          <a:latin typeface="Microsoft JhengHei"/>
                        </a:defRPr>
                      </a:pPr>
                      <a:r>
                        <a:t>專案規則/提示檔</a:t>
                      </a:r>
                    </a:p>
                  </a:txBody>
                  <a:tcPr anchor="ctr">
                    <a:solidFill>
                      <a:srgbClr val="FDFCFA"/>
                    </a:solidFill>
                  </a:tcPr>
                </a:tc>
                <a:tc>
                  <a:txBody>
                    <a:bodyPr/>
                    <a:lstStyle/>
                    <a:p>
                      <a:pPr algn="l">
                        <a:defRPr sz="850">
                          <a:solidFill>
                            <a:srgbClr val="4A5568"/>
                          </a:solidFill>
                          <a:latin typeface="Microsoft JhengHei"/>
                        </a:defRPr>
                      </a:pPr>
                      <a:r>
                        <a:t>CLAUDE.md / AGENTS.md 儲存庫層級規範遵守</a:t>
                      </a:r>
                    </a:p>
                  </a:txBody>
                  <a:tcPr anchor="ctr">
                    <a:solidFill>
                      <a:srgbClr val="FDFCFA"/>
                    </a:solidFill>
                  </a:tcPr>
                </a:tc>
                <a:tc>
                  <a:txBody>
                    <a:bodyPr/>
                    <a:lstStyle/>
                    <a:p>
                      <a:pPr algn="l">
                        <a:defRPr sz="850">
                          <a:solidFill>
                            <a:srgbClr val="4A5568"/>
                          </a:solidFill>
                          <a:latin typeface="Microsoft JhengHei"/>
                        </a:defRPr>
                      </a:pPr>
                      <a:r>
                        <a:t>Claude Code / OpenCode</a:t>
                      </a:r>
                    </a:p>
                  </a:txBody>
                  <a:tcPr anchor="ctr">
                    <a:solidFill>
                      <a:srgbClr val="FDFCFA"/>
                    </a:solidFill>
                  </a:tcPr>
                </a:tc>
                <a:tc>
                  <a:txBody>
                    <a:bodyPr/>
                    <a:lstStyle/>
                    <a:p>
                      <a:pPr algn="ctr">
                        <a:defRPr sz="850" b="1">
                          <a:solidFill>
                            <a:srgbClr val="9E5A38"/>
                          </a:solidFill>
                          <a:latin typeface="Microsoft JhengHei"/>
                        </a:defRPr>
                      </a:pPr>
                      <a:r>
                        <a:t>★★★★★</a:t>
                      </a:r>
                    </a:p>
                  </a:txBody>
                  <a:tcPr anchor="ctr">
                    <a:solidFill>
                      <a:srgbClr val="FDFCFA"/>
                    </a:solidFill>
                  </a:tcPr>
                </a:tc>
              </a:tr>
              <a:tr h="252804">
                <a:tc>
                  <a:txBody>
                    <a:bodyPr/>
                    <a:lstStyle/>
                    <a:p>
                      <a:pPr algn="ctr">
                        <a:defRPr sz="850" b="1">
                          <a:solidFill>
                            <a:srgbClr val="232D38"/>
                          </a:solidFill>
                          <a:latin typeface="Microsoft JhengHei"/>
                        </a:defRPr>
                      </a:pPr>
                      <a:r>
                        <a:t>12</a:t>
                      </a:r>
                    </a:p>
                  </a:txBody>
                  <a:tcPr anchor="ctr">
                    <a:solidFill>
                      <a:srgbClr val="F7F4ED"/>
                    </a:solidFill>
                  </a:tcPr>
                </a:tc>
                <a:tc>
                  <a:txBody>
                    <a:bodyPr/>
                    <a:lstStyle/>
                    <a:p>
                      <a:pPr algn="l">
                        <a:defRPr sz="850">
                          <a:solidFill>
                            <a:srgbClr val="4A5568"/>
                          </a:solidFill>
                          <a:latin typeface="Microsoft JhengHei"/>
                        </a:defRPr>
                      </a:pPr>
                      <a:r>
                        <a:t>版本控制深度整合</a:t>
                      </a:r>
                    </a:p>
                  </a:txBody>
                  <a:tcPr anchor="ctr">
                    <a:solidFill>
                      <a:srgbClr val="F7F4ED"/>
                    </a:solidFill>
                  </a:tcPr>
                </a:tc>
                <a:tc>
                  <a:txBody>
                    <a:bodyPr/>
                    <a:lstStyle/>
                    <a:p>
                      <a:pPr algn="l">
                        <a:defRPr sz="850">
                          <a:solidFill>
                            <a:srgbClr val="4A5568"/>
                          </a:solidFill>
                          <a:latin typeface="Microsoft JhengHei"/>
                        </a:defRPr>
                      </a:pPr>
                      <a:r>
                        <a:t>自動 Commit、生成語義明確的 Git 歷史與恢復</a:t>
                      </a:r>
                    </a:p>
                  </a:txBody>
                  <a:tcPr anchor="ctr">
                    <a:solidFill>
                      <a:srgbClr val="F7F4ED"/>
                    </a:solidFill>
                  </a:tcPr>
                </a:tc>
                <a:tc>
                  <a:txBody>
                    <a:bodyPr/>
                    <a:lstStyle/>
                    <a:p>
                      <a:pPr algn="l">
                        <a:defRPr sz="850">
                          <a:solidFill>
                            <a:srgbClr val="4A5568"/>
                          </a:solidFill>
                          <a:latin typeface="Microsoft JhengHei"/>
                        </a:defRPr>
                      </a:pPr>
                      <a:r>
                        <a:t>Aider (Git-native 最強)</a:t>
                      </a:r>
                    </a:p>
                  </a:txBody>
                  <a:tcPr anchor="ctr">
                    <a:solidFill>
                      <a:srgbClr val="F7F4ED"/>
                    </a:solidFill>
                  </a:tcPr>
                </a:tc>
                <a:tc>
                  <a:txBody>
                    <a:bodyPr/>
                    <a:lstStyle/>
                    <a:p>
                      <a:pPr algn="ctr">
                        <a:defRPr sz="850" b="1">
                          <a:solidFill>
                            <a:srgbClr val="9E5A38"/>
                          </a:solidFill>
                          <a:latin typeface="Microsoft JhengHei"/>
                        </a:defRPr>
                      </a:pPr>
                      <a:r>
                        <a:t>★★★★★</a:t>
                      </a:r>
                    </a:p>
                  </a:txBody>
                  <a:tcPr anchor="ctr">
                    <a:solidFill>
                      <a:srgbClr val="F7F4ED"/>
                    </a:solidFill>
                  </a:tcPr>
                </a:tc>
              </a:tr>
              <a:tr h="252804">
                <a:tc>
                  <a:txBody>
                    <a:bodyPr/>
                    <a:lstStyle/>
                    <a:p>
                      <a:pPr algn="ctr">
                        <a:defRPr sz="850" b="1">
                          <a:solidFill>
                            <a:srgbClr val="232D38"/>
                          </a:solidFill>
                          <a:latin typeface="Microsoft JhengHei"/>
                        </a:defRPr>
                      </a:pPr>
                      <a:r>
                        <a:t>13</a:t>
                      </a:r>
                    </a:p>
                  </a:txBody>
                  <a:tcPr anchor="ctr">
                    <a:solidFill>
                      <a:srgbClr val="FDFCFA"/>
                    </a:solidFill>
                  </a:tcPr>
                </a:tc>
                <a:tc>
                  <a:txBody>
                    <a:bodyPr/>
                    <a:lstStyle/>
                    <a:p>
                      <a:pPr algn="l">
                        <a:defRPr sz="850">
                          <a:solidFill>
                            <a:srgbClr val="4A5568"/>
                          </a:solidFill>
                          <a:latin typeface="Microsoft JhengHei"/>
                        </a:defRPr>
                      </a:pPr>
                      <a:r>
                        <a:t>人機審批 (HITL)</a:t>
                      </a:r>
                    </a:p>
                  </a:txBody>
                  <a:tcPr anchor="ctr">
                    <a:solidFill>
                      <a:srgbClr val="FDFCFA"/>
                    </a:solidFill>
                  </a:tcPr>
                </a:tc>
                <a:tc>
                  <a:txBody>
                    <a:bodyPr/>
                    <a:lstStyle/>
                    <a:p>
                      <a:pPr algn="l">
                        <a:defRPr sz="850">
                          <a:solidFill>
                            <a:srgbClr val="4A5568"/>
                          </a:solidFill>
                          <a:latin typeface="Microsoft JhengHei"/>
                        </a:defRPr>
                      </a:pPr>
                      <a:r>
                        <a:t>危險指令、外部網路請求與代碼合併的人工審核</a:t>
                      </a:r>
                    </a:p>
                  </a:txBody>
                  <a:tcPr anchor="ctr">
                    <a:solidFill>
                      <a:srgbClr val="FDFCFA"/>
                    </a:solidFill>
                  </a:tcPr>
                </a:tc>
                <a:tc>
                  <a:txBody>
                    <a:bodyPr/>
                    <a:lstStyle/>
                    <a:p>
                      <a:pPr algn="l">
                        <a:defRPr sz="850">
                          <a:solidFill>
                            <a:srgbClr val="4A5568"/>
                          </a:solidFill>
                          <a:latin typeface="Microsoft JhengHei"/>
                        </a:defRPr>
                      </a:pPr>
                      <a:r>
                        <a:t>Cline (Auto-approve) / Aider</a:t>
                      </a:r>
                    </a:p>
                  </a:txBody>
                  <a:tcPr anchor="ctr">
                    <a:solidFill>
                      <a:srgbClr val="FDFCFA"/>
                    </a:solidFill>
                  </a:tcPr>
                </a:tc>
                <a:tc>
                  <a:txBody>
                    <a:bodyPr/>
                    <a:lstStyle/>
                    <a:p>
                      <a:pPr algn="ctr">
                        <a:defRPr sz="850">
                          <a:solidFill>
                            <a:srgbClr val="3B6E58"/>
                          </a:solidFill>
                          <a:latin typeface="Microsoft JhengHei"/>
                        </a:defRPr>
                      </a:pPr>
                      <a:r>
                        <a:t>★★★★☆</a:t>
                      </a:r>
                    </a:p>
                  </a:txBody>
                  <a:tcPr anchor="ctr">
                    <a:solidFill>
                      <a:srgbClr val="FDFCFA"/>
                    </a:solidFill>
                  </a:tcPr>
                </a:tc>
              </a:tr>
              <a:tr h="252804">
                <a:tc>
                  <a:txBody>
                    <a:bodyPr/>
                    <a:lstStyle/>
                    <a:p>
                      <a:pPr algn="ctr">
                        <a:defRPr sz="850" b="1">
                          <a:solidFill>
                            <a:srgbClr val="232D38"/>
                          </a:solidFill>
                          <a:latin typeface="Microsoft JhengHei"/>
                        </a:defRPr>
                      </a:pPr>
                      <a:r>
                        <a:t>14</a:t>
                      </a:r>
                    </a:p>
                  </a:txBody>
                  <a:tcPr anchor="ctr">
                    <a:solidFill>
                      <a:srgbClr val="F7F4ED"/>
                    </a:solidFill>
                  </a:tcPr>
                </a:tc>
                <a:tc>
                  <a:txBody>
                    <a:bodyPr/>
                    <a:lstStyle/>
                    <a:p>
                      <a:pPr algn="l">
                        <a:defRPr sz="850">
                          <a:solidFill>
                            <a:srgbClr val="4A5568"/>
                          </a:solidFill>
                          <a:latin typeface="Microsoft JhengHei"/>
                        </a:defRPr>
                      </a:pPr>
                      <a:r>
                        <a:t>執行可觀測性</a:t>
                      </a:r>
                    </a:p>
                  </a:txBody>
                  <a:tcPr anchor="ctr">
                    <a:solidFill>
                      <a:srgbClr val="F7F4ED"/>
                    </a:solidFill>
                  </a:tcPr>
                </a:tc>
                <a:tc>
                  <a:txBody>
                    <a:bodyPr/>
                    <a:lstStyle/>
                    <a:p>
                      <a:pPr algn="l">
                        <a:defRPr sz="850">
                          <a:solidFill>
                            <a:srgbClr val="4A5568"/>
                          </a:solidFill>
                          <a:latin typeface="Microsoft JhengHei"/>
                        </a:defRPr>
                      </a:pPr>
                      <a:r>
                        <a:t>決策軌跡捕捉、Token 消耗監控與除錯日誌回放</a:t>
                      </a:r>
                    </a:p>
                  </a:txBody>
                  <a:tcPr anchor="ctr">
                    <a:solidFill>
                      <a:srgbClr val="F7F4ED"/>
                    </a:solidFill>
                  </a:tcPr>
                </a:tc>
                <a:tc>
                  <a:txBody>
                    <a:bodyPr/>
                    <a:lstStyle/>
                    <a:p>
                      <a:pPr algn="l">
                        <a:defRPr sz="850" b="1">
                          <a:solidFill>
                            <a:srgbClr val="9E5A38"/>
                          </a:solidFill>
                          <a:latin typeface="Microsoft JhengHei"/>
                        </a:defRPr>
                      </a:pPr>
                      <a:r>
                        <a:t>商業框架 / LangGraph</a:t>
                      </a:r>
                    </a:p>
                  </a:txBody>
                  <a:tcPr anchor="ctr">
                    <a:solidFill>
                      <a:srgbClr val="F7F4ED"/>
                    </a:solidFill>
                  </a:tcPr>
                </a:tc>
                <a:tc>
                  <a:txBody>
                    <a:bodyPr/>
                    <a:lstStyle/>
                    <a:p>
                      <a:pPr algn="ctr">
                        <a:defRPr sz="850">
                          <a:solidFill>
                            <a:srgbClr val="3B6E58"/>
                          </a:solidFill>
                          <a:latin typeface="Microsoft JhengHei"/>
                        </a:defRPr>
                      </a:pPr>
                      <a:r>
                        <a:t>★★★★☆</a:t>
                      </a:r>
                    </a:p>
                  </a:txBody>
                  <a:tcPr anchor="ctr">
                    <a:solidFill>
                      <a:srgbClr val="F7F4ED"/>
                    </a:solidFill>
                  </a:tcPr>
                </a:tc>
              </a:tr>
              <a:tr h="252804">
                <a:tc>
                  <a:txBody>
                    <a:bodyPr/>
                    <a:lstStyle/>
                    <a:p>
                      <a:pPr algn="ctr">
                        <a:defRPr sz="850" b="1">
                          <a:solidFill>
                            <a:srgbClr val="232D38"/>
                          </a:solidFill>
                          <a:latin typeface="Microsoft JhengHei"/>
                        </a:defRPr>
                      </a:pPr>
                      <a:r>
                        <a:t>15</a:t>
                      </a:r>
                    </a:p>
                  </a:txBody>
                  <a:tcPr anchor="ctr">
                    <a:solidFill>
                      <a:srgbClr val="FDFCFA"/>
                    </a:solidFill>
                  </a:tcPr>
                </a:tc>
                <a:tc>
                  <a:txBody>
                    <a:bodyPr/>
                    <a:lstStyle/>
                    <a:p>
                      <a:pPr algn="l">
                        <a:defRPr sz="850">
                          <a:solidFill>
                            <a:srgbClr val="4A5568"/>
                          </a:solidFill>
                          <a:latin typeface="Microsoft JhengHei"/>
                        </a:defRPr>
                      </a:pPr>
                      <a:r>
                        <a:t>提示快取 (Caching)</a:t>
                      </a:r>
                    </a:p>
                  </a:txBody>
                  <a:tcPr anchor="ctr">
                    <a:solidFill>
                      <a:srgbClr val="FDFCFA"/>
                    </a:solidFill>
                  </a:tcPr>
                </a:tc>
                <a:tc>
                  <a:txBody>
                    <a:bodyPr/>
                    <a:lstStyle/>
                    <a:p>
                      <a:pPr algn="l">
                        <a:defRPr sz="850">
                          <a:solidFill>
                            <a:srgbClr val="4A5568"/>
                          </a:solidFill>
                          <a:latin typeface="Microsoft JhengHei"/>
                        </a:defRPr>
                      </a:pPr>
                      <a:r>
                        <a:t>利用 KV-Cache 降低重複上下文調用延遲與成本</a:t>
                      </a:r>
                    </a:p>
                  </a:txBody>
                  <a:tcPr anchor="ctr">
                    <a:solidFill>
                      <a:srgbClr val="FDFCFA"/>
                    </a:solidFill>
                  </a:tcPr>
                </a:tc>
                <a:tc>
                  <a:txBody>
                    <a:bodyPr/>
                    <a:lstStyle/>
                    <a:p>
                      <a:pPr algn="l">
                        <a:defRPr sz="850">
                          <a:solidFill>
                            <a:srgbClr val="4A5568"/>
                          </a:solidFill>
                          <a:latin typeface="Microsoft JhengHei"/>
                        </a:defRPr>
                      </a:pPr>
                      <a:r>
                        <a:t>Claude Code / Antigravity</a:t>
                      </a:r>
                    </a:p>
                  </a:txBody>
                  <a:tcPr anchor="ctr">
                    <a:solidFill>
                      <a:srgbClr val="FDFCFA"/>
                    </a:solidFill>
                  </a:tcPr>
                </a:tc>
                <a:tc>
                  <a:txBody>
                    <a:bodyPr/>
                    <a:lstStyle/>
                    <a:p>
                      <a:pPr algn="ctr">
                        <a:defRPr sz="850" b="1">
                          <a:solidFill>
                            <a:srgbClr val="9E5A38"/>
                          </a:solidFill>
                          <a:latin typeface="Microsoft JhengHei"/>
                        </a:defRPr>
                      </a:pPr>
                      <a:r>
                        <a:t>★★★★★</a:t>
                      </a:r>
                    </a:p>
                  </a:txBody>
                  <a:tcPr anchor="ctr">
                    <a:solidFill>
                      <a:srgbClr val="FDFCFA"/>
                    </a:solidFill>
                  </a:tcPr>
                </a:tc>
              </a:tr>
              <a:tr h="252816">
                <a:tc>
                  <a:txBody>
                    <a:bodyPr/>
                    <a:lstStyle/>
                    <a:p>
                      <a:pPr algn="ctr">
                        <a:defRPr sz="850" b="1">
                          <a:solidFill>
                            <a:srgbClr val="232D38"/>
                          </a:solidFill>
                          <a:latin typeface="Microsoft JhengHei"/>
                        </a:defRPr>
                      </a:pPr>
                      <a:r>
                        <a:t>16</a:t>
                      </a:r>
                    </a:p>
                  </a:txBody>
                  <a:tcPr anchor="ctr">
                    <a:solidFill>
                      <a:srgbClr val="F7F4ED"/>
                    </a:solidFill>
                  </a:tcPr>
                </a:tc>
                <a:tc>
                  <a:txBody>
                    <a:bodyPr/>
                    <a:lstStyle/>
                    <a:p>
                      <a:pPr algn="l">
                        <a:defRPr sz="850">
                          <a:solidFill>
                            <a:srgbClr val="4A5568"/>
                          </a:solidFill>
                          <a:latin typeface="Microsoft JhengHei"/>
                        </a:defRPr>
                      </a:pPr>
                      <a:r>
                        <a:t>多模態圖文互動</a:t>
                      </a:r>
                    </a:p>
                  </a:txBody>
                  <a:tcPr anchor="ctr">
                    <a:solidFill>
                      <a:srgbClr val="F7F4ED"/>
                    </a:solidFill>
                  </a:tcPr>
                </a:tc>
                <a:tc>
                  <a:txBody>
                    <a:bodyPr/>
                    <a:lstStyle/>
                    <a:p>
                      <a:pPr algn="l">
                        <a:defRPr sz="850">
                          <a:solidFill>
                            <a:srgbClr val="4A5568"/>
                          </a:solidFill>
                          <a:latin typeface="Microsoft JhengHei"/>
                        </a:defRPr>
                      </a:pPr>
                      <a:r>
                        <a:t>支援架構截圖、UI 設計圖解析與視覺端到端驗收</a:t>
                      </a:r>
                    </a:p>
                  </a:txBody>
                  <a:tcPr anchor="ctr">
                    <a:solidFill>
                      <a:srgbClr val="F7F4ED"/>
                    </a:solidFill>
                  </a:tcPr>
                </a:tc>
                <a:tc>
                  <a:txBody>
                    <a:bodyPr/>
                    <a:lstStyle/>
                    <a:p>
                      <a:pPr algn="l">
                        <a:defRPr sz="850">
                          <a:solidFill>
                            <a:srgbClr val="4A5568"/>
                          </a:solidFill>
                          <a:latin typeface="Microsoft JhengHei"/>
                        </a:defRPr>
                      </a:pPr>
                      <a:r>
                        <a:t>Claude Code / OpenAI Codex</a:t>
                      </a:r>
                    </a:p>
                  </a:txBody>
                  <a:tcPr anchor="ctr">
                    <a:solidFill>
                      <a:srgbClr val="F7F4ED"/>
                    </a:solidFill>
                  </a:tcPr>
                </a:tc>
                <a:tc>
                  <a:txBody>
                    <a:bodyPr/>
                    <a:lstStyle/>
                    <a:p>
                      <a:pPr algn="ctr">
                        <a:defRPr sz="850">
                          <a:solidFill>
                            <a:srgbClr val="3B6E58"/>
                          </a:solidFill>
                          <a:latin typeface="Microsoft JhengHei"/>
                        </a:defRPr>
                      </a:pPr>
                      <a:r>
                        <a:t>★★★★☆</a:t>
                      </a:r>
                    </a:p>
                  </a:txBody>
                  <a:tcPr anchor="ctr">
                    <a:solidFill>
                      <a:srgbClr val="F7F4ED"/>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完備度分析</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圖 3-1 主流框架 16 項核心元素完備度量化排名</a:t>
            </a:r>
          </a:p>
          <a:p>
            <a:pPr>
              <a:spcBef>
                <a:spcPts val="300"/>
              </a:spcBef>
            </a:pPr>
            <a:r>
              <a:rPr sz="950">
                <a:solidFill>
                  <a:srgbClr val="7C8695"/>
                </a:solidFill>
                <a:latin typeface="Microsoft JhengHei"/>
              </a:rPr>
              <a:t>量化覆蓋率：商業三巨頭 vs 開源頭部 Hermes、OpenCode 與 Aider</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13 / 30</a:t>
            </a:r>
          </a:p>
        </p:txBody>
      </p:sp>
      <p:sp>
        <p:nvSpPr>
          <p:cNvPr id="9" name="Rounded Rectangle 8"/>
          <p:cNvSpPr/>
          <p:nvPr/>
        </p:nvSpPr>
        <p:spPr>
          <a:xfrm>
            <a:off x="676656" y="2225132"/>
            <a:ext cx="6784848" cy="3413575"/>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4_harness_elements_coverage.png"/>
          <p:cNvPicPr>
            <a:picLocks noChangeAspect="1"/>
          </p:cNvPicPr>
          <p:nvPr/>
        </p:nvPicPr>
        <p:blipFill>
          <a:blip r:embed="rId2"/>
          <a:stretch>
            <a:fillRect/>
          </a:stretch>
        </p:blipFill>
        <p:spPr>
          <a:xfrm>
            <a:off x="731520" y="2279996"/>
            <a:ext cx="6675120" cy="3303847"/>
          </a:xfrm>
          <a:prstGeom prst="rect">
            <a:avLst/>
          </a:prstGeom>
        </p:spPr>
      </p:pic>
      <p:sp>
        <p:nvSpPr>
          <p:cNvPr id="11" name="Rounded Rectangle 10"/>
          <p:cNvSpPr/>
          <p:nvPr/>
        </p:nvSpPr>
        <p:spPr>
          <a:xfrm>
            <a:off x="7589520" y="1600200"/>
            <a:ext cx="3870655"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16 項元素完備度深度解讀</a:t>
            </a:r>
            <a:r>
              <a:rPr sz="850" b="1">
                <a:solidFill>
                  <a:srgbClr val="D6CEBF"/>
                </a:solidFill>
                <a:latin typeface="Microsoft JhengHei"/>
              </a:rPr>
              <a:t>  [COVERAGE ANALYSIS]</a:t>
            </a:r>
          </a:p>
        </p:txBody>
      </p:sp>
      <p:sp>
        <p:nvSpPr>
          <p:cNvPr id="12" name="Rounded Rectangle 11"/>
          <p:cNvSpPr/>
          <p:nvPr/>
        </p:nvSpPr>
        <p:spPr>
          <a:xfrm>
            <a:off x="7589520" y="2167128"/>
            <a:ext cx="3870655" cy="74615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35824" y="227685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14" name="TextBox 13"/>
          <p:cNvSpPr txBox="1"/>
          <p:nvPr/>
        </p:nvSpPr>
        <p:spPr>
          <a:xfrm>
            <a:off x="8065008" y="2240280"/>
            <a:ext cx="3303727" cy="599846"/>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分數與比例意涵解密：</a:t>
            </a:r>
            <a:r>
              <a:rPr sz="900">
                <a:solidFill>
                  <a:srgbClr val="4A5568"/>
                </a:solidFill>
                <a:latin typeface="Microsoft JhengHei"/>
              </a:rPr>
              <a:t>(N/16) 代表在「Slide 12 所定義之 16 項 Harness 核心功能架構」中實際原生支援的項目數量。柱狀圖並進一步採 2 分制量化（滿分 32 分），以百分比真實呈現企業級完備度水準。</a:t>
            </a:r>
          </a:p>
        </p:txBody>
      </p:sp>
      <p:sp>
        <p:nvSpPr>
          <p:cNvPr id="15" name="Rounded Rectangle 14"/>
          <p:cNvSpPr/>
          <p:nvPr/>
        </p:nvSpPr>
        <p:spPr>
          <a:xfrm>
            <a:off x="7589520" y="3004718"/>
            <a:ext cx="3870655" cy="74615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35824" y="3114446"/>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17" name="TextBox 16"/>
          <p:cNvSpPr txBox="1"/>
          <p:nvPr/>
        </p:nvSpPr>
        <p:spPr>
          <a:xfrm>
            <a:off x="8065008" y="3077870"/>
            <a:ext cx="3303727" cy="599846"/>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商業旗艦滿級閉環 (15/16 項，90.6%–93.8%)：</a:t>
            </a:r>
            <a:r>
              <a:rPr sz="900">
                <a:solidFill>
                  <a:srgbClr val="4A5568"/>
                </a:solidFill>
                <a:latin typeface="Microsoft JhengHei"/>
              </a:rPr>
              <a:t>Claude Code、Codex 與 Antigravity 2.0 涵蓋了從沙盒隔離、生命週期 Hooks 到多模態端到端驗收，僅缺部分開源私有化外掛，展現極高成熟度。</a:t>
            </a:r>
          </a:p>
        </p:txBody>
      </p:sp>
      <p:sp>
        <p:nvSpPr>
          <p:cNvPr id="18" name="Rounded Rectangle 17"/>
          <p:cNvSpPr/>
          <p:nvPr/>
        </p:nvSpPr>
        <p:spPr>
          <a:xfrm>
            <a:off x="7589520" y="3842308"/>
            <a:ext cx="3870655" cy="74615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735824" y="395203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20" name="TextBox 19"/>
          <p:cNvSpPr txBox="1"/>
          <p:nvPr/>
        </p:nvSpPr>
        <p:spPr>
          <a:xfrm>
            <a:off x="8065008" y="3915460"/>
            <a:ext cx="3303727" cy="599846"/>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開源標桿 Hermes (13/16 項，78.1%)：</a:t>
            </a:r>
            <a:r>
              <a:rPr sz="900">
                <a:solidFill>
                  <a:srgbClr val="4A5568"/>
                </a:solidFill>
                <a:latin typeface="Microsoft JhengHei"/>
              </a:rPr>
              <a:t>在開源陣營拔得頭籌！16 項中獨攬 13 項，內建自動技能蒸餾 (Skills) 與離線 FTS5 SQLite 記憶，完備度顯著超越多數需要人工組裝的商業工具。</a:t>
            </a:r>
          </a:p>
        </p:txBody>
      </p:sp>
      <p:sp>
        <p:nvSpPr>
          <p:cNvPr id="21" name="Rounded Rectangle 20"/>
          <p:cNvSpPr/>
          <p:nvPr/>
        </p:nvSpPr>
        <p:spPr>
          <a:xfrm>
            <a:off x="7589520" y="4679899"/>
            <a:ext cx="3870655" cy="74615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35824" y="4789627"/>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4</a:t>
            </a:r>
          </a:p>
        </p:txBody>
      </p:sp>
      <p:sp>
        <p:nvSpPr>
          <p:cNvPr id="23" name="TextBox 22"/>
          <p:cNvSpPr txBox="1"/>
          <p:nvPr/>
        </p:nvSpPr>
        <p:spPr>
          <a:xfrm>
            <a:off x="8065008" y="4753051"/>
            <a:ext cx="3303727" cy="599846"/>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特化取捨美學 Aider (10/16 項，46.9%)：</a:t>
            </a:r>
            <a:r>
              <a:rPr sz="900">
                <a:solidFill>
                  <a:srgbClr val="4A5568"/>
                </a:solidFill>
                <a:latin typeface="Microsoft JhengHei"/>
              </a:rPr>
              <a:t>評分看似不高，實為刻意克制！Aider 聚焦於版本控制 (Git-native) 與代碼 Diff 精確編輯，完全捨棄多代理 Swarm 等臃腫模組，在純粹編程場景穩定度最高。</a:t>
            </a:r>
          </a:p>
        </p:txBody>
      </p:sp>
      <p:sp>
        <p:nvSpPr>
          <p:cNvPr id="24" name="Rounded Rectangle 23"/>
          <p:cNvSpPr/>
          <p:nvPr/>
        </p:nvSpPr>
        <p:spPr>
          <a:xfrm>
            <a:off x="7589520" y="5517489"/>
            <a:ext cx="3870655" cy="74615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35824" y="5627217"/>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5</a:t>
            </a:r>
          </a:p>
        </p:txBody>
      </p:sp>
      <p:sp>
        <p:nvSpPr>
          <p:cNvPr id="26" name="TextBox 25"/>
          <p:cNvSpPr txBox="1"/>
          <p:nvPr/>
        </p:nvSpPr>
        <p:spPr>
          <a:xfrm>
            <a:off x="8065008" y="5590641"/>
            <a:ext cx="3303727" cy="599846"/>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老牌工具落後預警：</a:t>
            </a:r>
            <a:r>
              <a:rPr sz="900">
                <a:solidFill>
                  <a:srgbClr val="4A5568"/>
                </a:solidFill>
                <a:latin typeface="Microsoft JhengHei"/>
              </a:rPr>
              <a:t>Continue 與 Roo Code (7/16 項以下) 因長期缺乏沙盒隔離、記憶壓縮與 Hooks 攔截機制，在 2026 年生產級長程代理任務中已被拉開顯著代差。</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機敏實踐</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國防機敏與實體隔離 (Air-gapped) 部署規劃架構</a:t>
            </a:r>
          </a:p>
          <a:p>
            <a:pPr>
              <a:spcBef>
                <a:spcPts val="300"/>
              </a:spcBef>
            </a:pPr>
            <a:r>
              <a:rPr sz="950">
                <a:solidFill>
                  <a:srgbClr val="7C8695"/>
                </a:solidFill>
                <a:latin typeface="Microsoft JhengHei"/>
              </a:rPr>
              <a:t>無網路環境下之三層式參考架構與零信任安全控制邊界</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14 / 30</a:t>
            </a:r>
          </a:p>
        </p:txBody>
      </p:sp>
      <p:sp>
        <p:nvSpPr>
          <p:cNvPr id="9" name="Rounded Rectangle 8"/>
          <p:cNvSpPr/>
          <p:nvPr/>
        </p:nvSpPr>
        <p:spPr>
          <a:xfrm>
            <a:off x="731520" y="1600200"/>
            <a:ext cx="10728655" cy="237744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841248" y="1691640"/>
          <a:ext cx="10509198" cy="2194560"/>
        </p:xfrm>
        <a:graphic>
          <a:graphicData uri="http://schemas.openxmlformats.org/drawingml/2006/table">
            <a:tbl>
              <a:tblPr firstRow="1" bandRow="1">
                <a:tableStyleId>{5C22544A-7EE6-4342-B048-85BDC9FD1C3A}</a:tableStyleId>
              </a:tblPr>
              <a:tblGrid>
                <a:gridCol w="1791391"/>
                <a:gridCol w="3403644"/>
                <a:gridCol w="3403644"/>
                <a:gridCol w="1910519"/>
              </a:tblGrid>
              <a:tr h="438912">
                <a:tc>
                  <a:txBody>
                    <a:bodyPr/>
                    <a:lstStyle/>
                    <a:p>
                      <a:pPr algn="ctr">
                        <a:defRPr sz="900" b="1">
                          <a:solidFill>
                            <a:srgbClr val="232D38"/>
                          </a:solidFill>
                          <a:latin typeface="Microsoft JhengHei"/>
                        </a:defRPr>
                      </a:pPr>
                      <a:r>
                        <a:t>架構層級</a:t>
                      </a:r>
                    </a:p>
                  </a:txBody>
                  <a:tcPr anchor="ctr">
                    <a:solidFill>
                      <a:srgbClr val="EAE4D8"/>
                    </a:solidFill>
                  </a:tcPr>
                </a:tc>
                <a:tc>
                  <a:txBody>
                    <a:bodyPr/>
                    <a:lstStyle/>
                    <a:p>
                      <a:pPr algn="l">
                        <a:defRPr sz="900" b="1">
                          <a:solidFill>
                            <a:srgbClr val="232D38"/>
                          </a:solidFill>
                          <a:latin typeface="Microsoft JhengHei"/>
                        </a:defRPr>
                      </a:pPr>
                      <a:r>
                        <a:t>核心元件組成</a:t>
                      </a:r>
                    </a:p>
                  </a:txBody>
                  <a:tcPr anchor="ctr">
                    <a:solidFill>
                      <a:srgbClr val="EAE4D8"/>
                    </a:solidFill>
                  </a:tcPr>
                </a:tc>
                <a:tc>
                  <a:txBody>
                    <a:bodyPr/>
                    <a:lstStyle/>
                    <a:p>
                      <a:pPr algn="l">
                        <a:defRPr sz="900" b="1">
                          <a:solidFill>
                            <a:srgbClr val="232D38"/>
                          </a:solidFill>
                          <a:latin typeface="Microsoft JhengHei"/>
                        </a:defRPr>
                      </a:pPr>
                      <a:r>
                        <a:t>安全治理機制</a:t>
                      </a:r>
                    </a:p>
                  </a:txBody>
                  <a:tcPr anchor="ctr">
                    <a:solidFill>
                      <a:srgbClr val="EAE4D8"/>
                    </a:solidFill>
                  </a:tcPr>
                </a:tc>
                <a:tc>
                  <a:txBody>
                    <a:bodyPr/>
                    <a:lstStyle/>
                    <a:p>
                      <a:pPr algn="l">
                        <a:defRPr sz="900" b="1">
                          <a:solidFill>
                            <a:srgbClr val="232D38"/>
                          </a:solidFill>
                          <a:latin typeface="Microsoft JhengHei"/>
                        </a:defRPr>
                      </a:pPr>
                      <a:r>
                        <a:t>合規與技術標準要求</a:t>
                      </a:r>
                    </a:p>
                  </a:txBody>
                  <a:tcPr anchor="ctr">
                    <a:solidFill>
                      <a:srgbClr val="EAE4D8"/>
                    </a:solidFill>
                  </a:tcPr>
                </a:tc>
              </a:tr>
              <a:tr h="438912">
                <a:tc>
                  <a:txBody>
                    <a:bodyPr/>
                    <a:lstStyle/>
                    <a:p>
                      <a:pPr algn="ctr">
                        <a:defRPr sz="850" b="1">
                          <a:solidFill>
                            <a:srgbClr val="232D38"/>
                          </a:solidFill>
                          <a:latin typeface="Microsoft JhengHei"/>
                        </a:defRPr>
                      </a:pPr>
                      <a:r>
                        <a:t>L1 基礎設施層</a:t>
                      </a:r>
                    </a:p>
                  </a:txBody>
                  <a:tcPr anchor="ctr">
                    <a:solidFill>
                      <a:srgbClr val="FDFCFA"/>
                    </a:solidFill>
                  </a:tcPr>
                </a:tc>
                <a:tc>
                  <a:txBody>
                    <a:bodyPr/>
                    <a:lstStyle/>
                    <a:p>
                      <a:pPr algn="l">
                        <a:defRPr sz="850">
                          <a:solidFill>
                            <a:srgbClr val="4A5568"/>
                          </a:solidFill>
                          <a:latin typeface="Microsoft JhengHei"/>
                        </a:defRPr>
                      </a:pPr>
                      <a:r>
                        <a:t>實體隔離伺服器叢集、專用 VLAN 網路、SED 加密硬碟</a:t>
                      </a:r>
                    </a:p>
                  </a:txBody>
                  <a:tcPr anchor="ctr">
                    <a:solidFill>
                      <a:srgbClr val="FDFCFA"/>
                    </a:solidFill>
                  </a:tcPr>
                </a:tc>
                <a:tc>
                  <a:txBody>
                    <a:bodyPr/>
                    <a:lstStyle/>
                    <a:p>
                      <a:pPr algn="l">
                        <a:defRPr sz="850">
                          <a:solidFill>
                            <a:srgbClr val="4A5568"/>
                          </a:solidFill>
                          <a:latin typeface="Microsoft JhengHei"/>
                        </a:defRPr>
                      </a:pPr>
                      <a:r>
                        <a:t>硬體安全模組 (TPM 2.0)、不可變日誌儲存、實體防窺防盜</a:t>
                      </a:r>
                    </a:p>
                  </a:txBody>
                  <a:tcPr anchor="ctr">
                    <a:solidFill>
                      <a:srgbClr val="FDFCFA"/>
                    </a:solidFill>
                  </a:tcPr>
                </a:tc>
                <a:tc>
                  <a:txBody>
                    <a:bodyPr/>
                    <a:lstStyle/>
                    <a:p>
                      <a:pPr algn="l">
                        <a:defRPr sz="850">
                          <a:solidFill>
                            <a:srgbClr val="4A5568"/>
                          </a:solidFill>
                          <a:latin typeface="Microsoft JhengHei"/>
                        </a:defRPr>
                      </a:pPr>
                      <a:r>
                        <a:t>DISA STIG / NIST SP 800-53 Rev 5</a:t>
                      </a:r>
                    </a:p>
                  </a:txBody>
                  <a:tcPr anchor="ctr">
                    <a:solidFill>
                      <a:srgbClr val="FDFCFA"/>
                    </a:solidFill>
                  </a:tcPr>
                </a:tc>
              </a:tr>
              <a:tr h="438912">
                <a:tc>
                  <a:txBody>
                    <a:bodyPr/>
                    <a:lstStyle/>
                    <a:p>
                      <a:pPr algn="ctr">
                        <a:defRPr sz="850" b="1">
                          <a:solidFill>
                            <a:srgbClr val="232D38"/>
                          </a:solidFill>
                          <a:latin typeface="Microsoft JhengHei"/>
                        </a:defRPr>
                      </a:pPr>
                      <a:r>
                        <a:t>L2 模型推理層</a:t>
                      </a:r>
                    </a:p>
                  </a:txBody>
                  <a:tcPr anchor="ctr">
                    <a:solidFill>
                      <a:srgbClr val="F7F4ED"/>
                    </a:solidFill>
                  </a:tcPr>
                </a:tc>
                <a:tc>
                  <a:txBody>
                    <a:bodyPr/>
                    <a:lstStyle/>
                    <a:p>
                      <a:pPr algn="l">
                        <a:defRPr sz="850">
                          <a:solidFill>
                            <a:srgbClr val="4A5568"/>
                          </a:solidFill>
                          <a:latin typeface="Microsoft JhengHei"/>
                        </a:defRPr>
                      </a:pPr>
                      <a:r>
                        <a:t>vLLM / NVIDIA NIM 地端私有推理引擎、離線權重快取</a:t>
                      </a:r>
                    </a:p>
                  </a:txBody>
                  <a:tcPr anchor="ctr">
                    <a:solidFill>
                      <a:srgbClr val="F7F4ED"/>
                    </a:solidFill>
                  </a:tcPr>
                </a:tc>
                <a:tc>
                  <a:txBody>
                    <a:bodyPr/>
                    <a:lstStyle/>
                    <a:p>
                      <a:pPr algn="l">
                        <a:defRPr sz="850">
                          <a:solidFill>
                            <a:srgbClr val="4A5568"/>
                          </a:solidFill>
                          <a:latin typeface="Microsoft JhengHei"/>
                        </a:defRPr>
                      </a:pPr>
                      <a:r>
                        <a:t>Qwen3-Coder 72B/30B、GLM-5.2、NeMo Guardrails 離線防護</a:t>
                      </a:r>
                    </a:p>
                  </a:txBody>
                  <a:tcPr anchor="ctr">
                    <a:solidFill>
                      <a:srgbClr val="F7F4ED"/>
                    </a:solidFill>
                  </a:tcPr>
                </a:tc>
                <a:tc>
                  <a:txBody>
                    <a:bodyPr/>
                    <a:lstStyle/>
                    <a:p>
                      <a:pPr algn="l">
                        <a:defRPr sz="850">
                          <a:solidFill>
                            <a:srgbClr val="4A5568"/>
                          </a:solidFill>
                          <a:latin typeface="Microsoft JhengHei"/>
                        </a:defRPr>
                      </a:pPr>
                      <a:r>
                        <a:t>權重 SHA256 簽章驗證、禁聯外網</a:t>
                      </a:r>
                    </a:p>
                  </a:txBody>
                  <a:tcPr anchor="ctr">
                    <a:solidFill>
                      <a:srgbClr val="F7F4ED"/>
                    </a:solidFill>
                  </a:tcPr>
                </a:tc>
              </a:tr>
              <a:tr h="438912">
                <a:tc>
                  <a:txBody>
                    <a:bodyPr/>
                    <a:lstStyle/>
                    <a:p>
                      <a:pPr algn="ctr">
                        <a:defRPr sz="850" b="1">
                          <a:solidFill>
                            <a:srgbClr val="232D38"/>
                          </a:solidFill>
                          <a:latin typeface="Microsoft JhengHei"/>
                        </a:defRPr>
                      </a:pPr>
                      <a:r>
                        <a:t>L3 代理框架層</a:t>
                      </a:r>
                    </a:p>
                  </a:txBody>
                  <a:tcPr anchor="ctr">
                    <a:solidFill>
                      <a:srgbClr val="FDFCFA"/>
                    </a:solidFill>
                  </a:tcPr>
                </a:tc>
                <a:tc>
                  <a:txBody>
                    <a:bodyPr/>
                    <a:lstStyle/>
                    <a:p>
                      <a:pPr algn="l">
                        <a:defRPr sz="850">
                          <a:solidFill>
                            <a:srgbClr val="4A5568"/>
                          </a:solidFill>
                          <a:latin typeface="Microsoft JhengHei"/>
                        </a:defRPr>
                      </a:pPr>
                      <a:r>
                        <a:t>Aider (CLI結對主力) + OpenCode (BYOK 本地工作站整合)</a:t>
                      </a:r>
                    </a:p>
                  </a:txBody>
                  <a:tcPr anchor="ctr">
                    <a:solidFill>
                      <a:srgbClr val="FDFCFA"/>
                    </a:solidFill>
                  </a:tcPr>
                </a:tc>
                <a:tc>
                  <a:txBody>
                    <a:bodyPr/>
                    <a:lstStyle/>
                    <a:p>
                      <a:pPr algn="l">
                        <a:defRPr sz="850">
                          <a:solidFill>
                            <a:srgbClr val="4A5568"/>
                          </a:solidFill>
                          <a:latin typeface="Microsoft JhengHei"/>
                        </a:defRPr>
                      </a:pPr>
                      <a:r>
                        <a:t>嚴格 RBAC 權限、禁止未審批 Tool 調用、原始碼只出不進</a:t>
                      </a:r>
                    </a:p>
                  </a:txBody>
                  <a:tcPr anchor="ctr">
                    <a:solidFill>
                      <a:srgbClr val="FDFCFA"/>
                    </a:solidFill>
                  </a:tcPr>
                </a:tc>
                <a:tc>
                  <a:txBody>
                    <a:bodyPr/>
                    <a:lstStyle/>
                    <a:p>
                      <a:pPr algn="l">
                        <a:defRPr sz="850">
                          <a:solidFill>
                            <a:srgbClr val="4A5568"/>
                          </a:solidFill>
                          <a:latin typeface="Microsoft JhengHei"/>
                        </a:defRPr>
                      </a:pPr>
                      <a:r>
                        <a:t>FedRAMP Moderate+ / CMMC 2.0 Level 3</a:t>
                      </a:r>
                    </a:p>
                  </a:txBody>
                  <a:tcPr anchor="ctr">
                    <a:solidFill>
                      <a:srgbClr val="FDFCFA"/>
                    </a:solidFill>
                  </a:tcPr>
                </a:tc>
              </a:tr>
              <a:tr h="438912">
                <a:tc>
                  <a:txBody>
                    <a:bodyPr/>
                    <a:lstStyle/>
                    <a:p>
                      <a:pPr algn="ctr">
                        <a:defRPr sz="850" b="1">
                          <a:solidFill>
                            <a:srgbClr val="232D38"/>
                          </a:solidFill>
                          <a:latin typeface="Microsoft JhengHei"/>
                        </a:defRPr>
                      </a:pPr>
                      <a:r>
                        <a:t>L4 驗證評估層</a:t>
                      </a:r>
                    </a:p>
                  </a:txBody>
                  <a:tcPr anchor="ctr">
                    <a:solidFill>
                      <a:srgbClr val="F7F4ED"/>
                    </a:solidFill>
                  </a:tcPr>
                </a:tc>
                <a:tc>
                  <a:txBody>
                    <a:bodyPr/>
                    <a:lstStyle/>
                    <a:p>
                      <a:pPr algn="l">
                        <a:defRPr sz="850">
                          <a:solidFill>
                            <a:srgbClr val="4A5568"/>
                          </a:solidFill>
                          <a:latin typeface="Microsoft JhengHei"/>
                        </a:defRPr>
                      </a:pPr>
                      <a:r>
                        <a:t>內部獨立 GitLab Runner、離線 SonarQube、Docker 沙盒</a:t>
                      </a:r>
                    </a:p>
                  </a:txBody>
                  <a:tcPr anchor="ctr">
                    <a:solidFill>
                      <a:srgbClr val="F7F4ED"/>
                    </a:solidFill>
                  </a:tcPr>
                </a:tc>
                <a:tc>
                  <a:txBody>
                    <a:bodyPr/>
                    <a:lstStyle/>
                    <a:p>
                      <a:pPr algn="l">
                        <a:defRPr sz="850">
                          <a:solidFill>
                            <a:srgbClr val="4A5568"/>
                          </a:solidFill>
                          <a:latin typeface="Microsoft JhengHei"/>
                        </a:defRPr>
                      </a:pPr>
                      <a:r>
                        <a:t>強制實施 Evaluator Agent 驗收、人機審批 (HITL) 雙簽發布</a:t>
                      </a:r>
                    </a:p>
                  </a:txBody>
                  <a:tcPr anchor="ctr">
                    <a:solidFill>
                      <a:srgbClr val="F7F4ED"/>
                    </a:solidFill>
                  </a:tcPr>
                </a:tc>
                <a:tc>
                  <a:txBody>
                    <a:bodyPr/>
                    <a:lstStyle/>
                    <a:p>
                      <a:pPr algn="l">
                        <a:defRPr sz="850">
                          <a:solidFill>
                            <a:srgbClr val="4A5568"/>
                          </a:solidFill>
                          <a:latin typeface="Microsoft JhengHei"/>
                        </a:defRPr>
                      </a:pPr>
                      <a:r>
                        <a:t>ISO/IEC 42001 AIMS / OWASP Top 10</a:t>
                      </a:r>
                    </a:p>
                  </a:txBody>
                  <a:tcPr anchor="ctr">
                    <a:solidFill>
                      <a:srgbClr val="F7F4ED"/>
                    </a:solidFill>
                  </a:tcPr>
                </a:tc>
              </a:tr>
            </a:tbl>
          </a:graphicData>
        </a:graphic>
      </p:graphicFrame>
      <p:sp>
        <p:nvSpPr>
          <p:cNvPr id="11" name="Rounded Rectangle 10"/>
          <p:cNvSpPr/>
          <p:nvPr/>
        </p:nvSpPr>
        <p:spPr>
          <a:xfrm>
            <a:off x="731520" y="4160520"/>
            <a:ext cx="10728655"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國防機敏部署三大鐵律</a:t>
            </a:r>
            <a:r>
              <a:rPr sz="850" b="1">
                <a:solidFill>
                  <a:srgbClr val="D6CEBF"/>
                </a:solidFill>
                <a:latin typeface="Microsoft JhengHei"/>
              </a:rPr>
              <a:t>  [SECURITY DIRECTIVES]</a:t>
            </a:r>
          </a:p>
        </p:txBody>
      </p:sp>
      <p:sp>
        <p:nvSpPr>
          <p:cNvPr id="12" name="Rounded Rectangle 11"/>
          <p:cNvSpPr/>
          <p:nvPr/>
        </p:nvSpPr>
        <p:spPr>
          <a:xfrm>
            <a:off x="731520" y="4727448"/>
            <a:ext cx="10728655" cy="42062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 y="4837176"/>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14" name="TextBox 13"/>
          <p:cNvSpPr txBox="1"/>
          <p:nvPr/>
        </p:nvSpPr>
        <p:spPr>
          <a:xfrm>
            <a:off x="1207008" y="4800600"/>
            <a:ext cx="10161727" cy="27432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嚴禁任何外聯 API：</a:t>
            </a:r>
            <a:r>
              <a:rPr sz="900">
                <a:solidFill>
                  <a:srgbClr val="4A5568"/>
                </a:solidFill>
                <a:latin typeface="Microsoft JhengHei"/>
              </a:rPr>
              <a:t>直接排除 Claude Code、OpenAI Codex、Antigravity 2.0 等雲端產品，避免資料外洩與依賴斷鏈風險。</a:t>
            </a:r>
          </a:p>
        </p:txBody>
      </p:sp>
      <p:sp>
        <p:nvSpPr>
          <p:cNvPr id="15" name="Rounded Rectangle 14"/>
          <p:cNvSpPr/>
          <p:nvPr/>
        </p:nvSpPr>
        <p:spPr>
          <a:xfrm>
            <a:off x="731520" y="5239512"/>
            <a:ext cx="10728655" cy="42062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77824" y="5349240"/>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17" name="TextBox 16"/>
          <p:cNvSpPr txBox="1"/>
          <p:nvPr/>
        </p:nvSpPr>
        <p:spPr>
          <a:xfrm>
            <a:off x="1207008" y="5312664"/>
            <a:ext cx="10161727" cy="27432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框架選型：</a:t>
            </a:r>
            <a:r>
              <a:rPr sz="900">
                <a:solidFill>
                  <a:srgbClr val="4A5568"/>
                </a:solidFill>
                <a:latin typeface="Microsoft JhengHei"/>
              </a:rPr>
              <a:t>Aider（完全無外部依賴、純 Python/Git）與 OpenCode（本地伺服器連線）是唯二通過機敏實體驗證的生產級工具。</a:t>
            </a:r>
          </a:p>
        </p:txBody>
      </p:sp>
      <p:sp>
        <p:nvSpPr>
          <p:cNvPr id="18" name="Rounded Rectangle 17"/>
          <p:cNvSpPr/>
          <p:nvPr/>
        </p:nvSpPr>
        <p:spPr>
          <a:xfrm>
            <a:off x="731520" y="5751576"/>
            <a:ext cx="10728655" cy="42062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77824" y="5861304"/>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20" name="TextBox 19"/>
          <p:cNvSpPr txBox="1"/>
          <p:nvPr/>
        </p:nvSpPr>
        <p:spPr>
          <a:xfrm>
            <a:off x="1207008" y="5824728"/>
            <a:ext cx="10161727" cy="27432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人機協同鐵律（HITL）：</a:t>
            </a:r>
            <a:r>
              <a:rPr sz="900">
                <a:solidFill>
                  <a:srgbClr val="4A5568"/>
                </a:solidFill>
                <a:latin typeface="Microsoft JhengHei"/>
              </a:rPr>
              <a:t>AI 生成的代碼必須經過工程師數位簽署才允許合併進主幹線，完全禁止自動化 CI/CD 無人部署。</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方案評估</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圖 4-1 國防機敏地端兩大建置方案能力對比</a:t>
            </a:r>
          </a:p>
          <a:p>
            <a:pPr>
              <a:spcBef>
                <a:spcPts val="300"/>
              </a:spcBef>
            </a:pPr>
            <a:r>
              <a:rPr sz="950">
                <a:solidFill>
                  <a:srgbClr val="7C8695"/>
                </a:solidFill>
                <a:latin typeface="Microsoft JhengHei"/>
              </a:rPr>
              <a:t>方案 A (企業集中叢集) vs 方案 B (獨立工程工作站) 深度評析</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15 / 30</a:t>
            </a:r>
          </a:p>
        </p:txBody>
      </p:sp>
      <p:sp>
        <p:nvSpPr>
          <p:cNvPr id="9" name="Rounded Rectangle 8"/>
          <p:cNvSpPr/>
          <p:nvPr/>
        </p:nvSpPr>
        <p:spPr>
          <a:xfrm>
            <a:off x="676656" y="1964521"/>
            <a:ext cx="6784848" cy="3934796"/>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6_defense_architecture_matrix.png"/>
          <p:cNvPicPr>
            <a:picLocks noChangeAspect="1"/>
          </p:cNvPicPr>
          <p:nvPr/>
        </p:nvPicPr>
        <p:blipFill>
          <a:blip r:embed="rId2"/>
          <a:stretch>
            <a:fillRect/>
          </a:stretch>
        </p:blipFill>
        <p:spPr>
          <a:xfrm>
            <a:off x="731520" y="2019385"/>
            <a:ext cx="6675120" cy="3825068"/>
          </a:xfrm>
          <a:prstGeom prst="rect">
            <a:avLst/>
          </a:prstGeom>
        </p:spPr>
      </p:pic>
      <p:sp>
        <p:nvSpPr>
          <p:cNvPr id="11" name="Rounded Rectangle 10"/>
          <p:cNvSpPr/>
          <p:nvPr/>
        </p:nvSpPr>
        <p:spPr>
          <a:xfrm>
            <a:off x="7589520" y="1600200"/>
            <a:ext cx="3870655"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國防地端兩大方案決策深度指引</a:t>
            </a:r>
            <a:r>
              <a:rPr sz="850" b="1">
                <a:solidFill>
                  <a:srgbClr val="D6CEBF"/>
                </a:solidFill>
                <a:latin typeface="Microsoft JhengHei"/>
              </a:rPr>
              <a:t>  [TRADE-OFF ANALYSIS]</a:t>
            </a:r>
          </a:p>
        </p:txBody>
      </p:sp>
      <p:sp>
        <p:nvSpPr>
          <p:cNvPr id="12" name="Rounded Rectangle 11"/>
          <p:cNvSpPr/>
          <p:nvPr/>
        </p:nvSpPr>
        <p:spPr>
          <a:xfrm>
            <a:off x="7589520" y="2167128"/>
            <a:ext cx="38706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35824" y="227685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14" name="TextBox 13"/>
          <p:cNvSpPr txBox="1"/>
          <p:nvPr/>
        </p:nvSpPr>
        <p:spPr>
          <a:xfrm>
            <a:off x="8065008" y="2240280"/>
            <a:ext cx="33037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三層能力柱狀對比：</a:t>
            </a:r>
            <a:r>
              <a:rPr sz="900">
                <a:solidFill>
                  <a:srgbClr val="4A5568"/>
                </a:solidFill>
                <a:latin typeface="Microsoft JhengHei"/>
              </a:rPr>
              <a:t>圖表以滿分 100 分量化兩大方案在「基礎設施層」、「模型推論層」與「代理框架層」的適應性保障指數，直觀反映集中管控 vs 分散靈活的工程權衡。</a:t>
            </a:r>
          </a:p>
        </p:txBody>
      </p:sp>
      <p:sp>
        <p:nvSpPr>
          <p:cNvPr id="15" name="Rounded Rectangle 14"/>
          <p:cNvSpPr/>
          <p:nvPr/>
        </p:nvSpPr>
        <p:spPr>
          <a:xfrm>
            <a:off x="7589520" y="3214116"/>
            <a:ext cx="38706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35824" y="3323844"/>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17" name="TextBox 16"/>
          <p:cNvSpPr txBox="1"/>
          <p:nvPr/>
        </p:nvSpPr>
        <p:spPr>
          <a:xfrm>
            <a:off x="8065008" y="3287268"/>
            <a:ext cx="33037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方案 A·企業高吞吐多卡叢集 (藍色柱狀)：</a:t>
            </a:r>
            <a:r>
              <a:rPr sz="900">
                <a:solidFill>
                  <a:srgbClr val="4A5568"/>
                </a:solidFill>
                <a:latin typeface="Microsoft JhengHei"/>
              </a:rPr>
              <a:t>在基礎設施 (95分) 與推論層 (92分) 具壓倒性優勢。部署 4–8 張 H100 集中推論 Qwen3-Coder 72B，所有通訊與審計稽核日誌收攏於中央堡壘機，合規管控成本最低。</a:t>
            </a:r>
          </a:p>
        </p:txBody>
      </p:sp>
      <p:sp>
        <p:nvSpPr>
          <p:cNvPr id="18" name="Rounded Rectangle 17"/>
          <p:cNvSpPr/>
          <p:nvPr/>
        </p:nvSpPr>
        <p:spPr>
          <a:xfrm>
            <a:off x="7589520" y="4261104"/>
            <a:ext cx="38706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735824" y="4370832"/>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20" name="TextBox 19"/>
          <p:cNvSpPr txBox="1"/>
          <p:nvPr/>
        </p:nvSpPr>
        <p:spPr>
          <a:xfrm>
            <a:off x="8065008" y="4334256"/>
            <a:ext cx="33037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方案 B·工程師獨立工作站節點 (綠色柱狀)：</a:t>
            </a:r>
            <a:r>
              <a:rPr sz="900">
                <a:solidFill>
                  <a:srgbClr val="4A5568"/>
                </a:solidFill>
                <a:latin typeface="Microsoft JhengHei"/>
              </a:rPr>
              <a:t>在框架應用層 (85分) 與靈活性勝出。工程師配備雙卡 RTX 4090 運行 30B–31B 模型，個人擁有獨立推論算力，斷網拔線即可立即開工，零網路排隊延遲。</a:t>
            </a:r>
          </a:p>
        </p:txBody>
      </p:sp>
      <p:sp>
        <p:nvSpPr>
          <p:cNvPr id="21" name="Rounded Rectangle 20"/>
          <p:cNvSpPr/>
          <p:nvPr/>
        </p:nvSpPr>
        <p:spPr>
          <a:xfrm>
            <a:off x="7589520" y="5308092"/>
            <a:ext cx="38706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35824" y="5417820"/>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4</a:t>
            </a:r>
          </a:p>
        </p:txBody>
      </p:sp>
      <p:sp>
        <p:nvSpPr>
          <p:cNvPr id="23" name="TextBox 22"/>
          <p:cNvSpPr txBox="1"/>
          <p:nvPr/>
        </p:nvSpPr>
        <p:spPr>
          <a:xfrm>
            <a:off x="8065008" y="5381244"/>
            <a:ext cx="33037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混合階梯折衷戰略（企業唯一最優解）：</a:t>
            </a:r>
            <a:r>
              <a:rPr sz="900">
                <a:solidFill>
                  <a:srgbClr val="4A5568"/>
                </a:solidFill>
                <a:latin typeface="Microsoft JhengHei"/>
              </a:rPr>
              <a:t>日常 85% 代碼補全與模組修改由方案 B 本地獨立消化；遭遇全專案大規模跨倉重構時，再經內部加密專網調度方案 A 叢集算力，兼顧極致資安與最高吞吐 ROI。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基準革新</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圖 附-1 2026 前沿模型 SWE-bench vs. Terminal-Bench 評測</a:t>
            </a:r>
          </a:p>
          <a:p>
            <a:pPr>
              <a:spcBef>
                <a:spcPts val="300"/>
              </a:spcBef>
            </a:pPr>
            <a:r>
              <a:rPr sz="950">
                <a:solidFill>
                  <a:srgbClr val="7C8695"/>
                </a:solidFill>
                <a:latin typeface="Microsoft JhengHei"/>
              </a:rPr>
              <a:t>靜態代碼補丁 (SWE-bench) 走向動態真實終端運維 (Terminal-Bench 2.1) 之典範轉移</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16 / 30</a:t>
            </a:r>
          </a:p>
        </p:txBody>
      </p:sp>
      <p:sp>
        <p:nvSpPr>
          <p:cNvPr id="9" name="Rounded Rectangle 8"/>
          <p:cNvSpPr/>
          <p:nvPr/>
        </p:nvSpPr>
        <p:spPr>
          <a:xfrm>
            <a:off x="676656" y="2240367"/>
            <a:ext cx="6784848" cy="338310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7_benchmark_swe_vs_terminal.png"/>
          <p:cNvPicPr>
            <a:picLocks noChangeAspect="1"/>
          </p:cNvPicPr>
          <p:nvPr/>
        </p:nvPicPr>
        <p:blipFill>
          <a:blip r:embed="rId2"/>
          <a:stretch>
            <a:fillRect/>
          </a:stretch>
        </p:blipFill>
        <p:spPr>
          <a:xfrm>
            <a:off x="731520" y="2295231"/>
            <a:ext cx="6675120" cy="3273376"/>
          </a:xfrm>
          <a:prstGeom prst="rect">
            <a:avLst/>
          </a:prstGeom>
        </p:spPr>
      </p:pic>
      <p:sp>
        <p:nvSpPr>
          <p:cNvPr id="11" name="Rounded Rectangle 10"/>
          <p:cNvSpPr/>
          <p:nvPr/>
        </p:nvSpPr>
        <p:spPr>
          <a:xfrm>
            <a:off x="7589520" y="1600200"/>
            <a:ext cx="3870655"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評測基準革新與選型深度指引</a:t>
            </a:r>
            <a:r>
              <a:rPr sz="850" b="1">
                <a:solidFill>
                  <a:srgbClr val="D6CEBF"/>
                </a:solidFill>
                <a:latin typeface="Microsoft JhengHei"/>
              </a:rPr>
              <a:t>  [EVALUATION SHIFT]</a:t>
            </a:r>
          </a:p>
        </p:txBody>
      </p:sp>
      <p:sp>
        <p:nvSpPr>
          <p:cNvPr id="12" name="Rounded Rectangle 11"/>
          <p:cNvSpPr/>
          <p:nvPr/>
        </p:nvSpPr>
        <p:spPr>
          <a:xfrm>
            <a:off x="7589520" y="2167128"/>
            <a:ext cx="38706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35824" y="227685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14" name="TextBox 13"/>
          <p:cNvSpPr txBox="1"/>
          <p:nvPr/>
        </p:nvSpPr>
        <p:spPr>
          <a:xfrm>
            <a:off x="8065008" y="2240280"/>
            <a:ext cx="33037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雙評測指標本質差異：</a:t>
            </a:r>
            <a:r>
              <a:rPr sz="900">
                <a:solidFill>
                  <a:srgbClr val="4A5568"/>
                </a:solidFill>
                <a:latin typeface="Microsoft JhengHei"/>
              </a:rPr>
              <a:t>藍色「SWE-bench Verified」僅評測模型在已知程式碼庫生成 git diff 補丁（靜態代碼修復）；橘色「Terminal-Bench 2.1」則將 Agent 置於封閉沙盒 Linux 終端，考核安裝依賴、配置網路與多工具除錯之動態運維能力。</a:t>
            </a:r>
          </a:p>
        </p:txBody>
      </p:sp>
      <p:sp>
        <p:nvSpPr>
          <p:cNvPr id="15" name="Rounded Rectangle 14"/>
          <p:cNvSpPr/>
          <p:nvPr/>
        </p:nvSpPr>
        <p:spPr>
          <a:xfrm>
            <a:off x="7589520" y="3214116"/>
            <a:ext cx="38706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35824" y="3323844"/>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17" name="TextBox 16"/>
          <p:cNvSpPr txBox="1"/>
          <p:nvPr/>
        </p:nvSpPr>
        <p:spPr>
          <a:xfrm>
            <a:off x="8065008" y="3287268"/>
            <a:ext cx="33037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SWE-bench 刷榜失真現象：</a:t>
            </a:r>
            <a:r>
              <a:rPr sz="900">
                <a:solidFill>
                  <a:srgbClr val="4A5568"/>
                </a:solidFill>
                <a:latin typeface="Microsoft JhengHei"/>
              </a:rPr>
              <a:t>業界過度追求 SWE-bench 高分，但模型常因刷題過擬合而在真實運維場景崩潰；Terminal-Bench 89 道動態難題才是檢驗「數位軟體工程師」是否及格的唯一金標準。</a:t>
            </a:r>
          </a:p>
        </p:txBody>
      </p:sp>
      <p:sp>
        <p:nvSpPr>
          <p:cNvPr id="18" name="Rounded Rectangle 17"/>
          <p:cNvSpPr/>
          <p:nvPr/>
        </p:nvSpPr>
        <p:spPr>
          <a:xfrm>
            <a:off x="7589520" y="4261104"/>
            <a:ext cx="38706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735824" y="4370832"/>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20" name="TextBox 19"/>
          <p:cNvSpPr txBox="1"/>
          <p:nvPr/>
        </p:nvSpPr>
        <p:spPr>
          <a:xfrm>
            <a:off x="8065008" y="4334256"/>
            <a:ext cx="33037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開源黑馬 Ornith-1.5 實證震撼：</a:t>
            </a:r>
            <a:r>
              <a:rPr sz="900">
                <a:solidFill>
                  <a:srgbClr val="4A5568"/>
                </a:solidFill>
                <a:latin typeface="Microsoft JhengHei"/>
              </a:rPr>
              <a:t>DeepReinforce 採用「自鷹架 (Self-Scaffolding) RL 訓練」，在完全開源架構下取得 Terminal-Bench 86.1% 頂級高分，不僅超越眾多開源模型，更直接逼近 Claude Opus 與 GPT-6 閉源旗艦。</a:t>
            </a:r>
          </a:p>
        </p:txBody>
      </p:sp>
      <p:sp>
        <p:nvSpPr>
          <p:cNvPr id="21" name="Rounded Rectangle 20"/>
          <p:cNvSpPr/>
          <p:nvPr/>
        </p:nvSpPr>
        <p:spPr>
          <a:xfrm>
            <a:off x="7589520" y="5308092"/>
            <a:ext cx="3870655" cy="95554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35824" y="5417820"/>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4</a:t>
            </a:r>
          </a:p>
        </p:txBody>
      </p:sp>
      <p:sp>
        <p:nvSpPr>
          <p:cNvPr id="23" name="TextBox 22"/>
          <p:cNvSpPr txBox="1"/>
          <p:nvPr/>
        </p:nvSpPr>
        <p:spPr>
          <a:xfrm>
            <a:off x="8065008" y="5381244"/>
            <a:ext cx="3303727" cy="80924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框架選型決定性結論：</a:t>
            </a:r>
            <a:r>
              <a:rPr sz="900">
                <a:solidFill>
                  <a:srgbClr val="4A5568"/>
                </a:solidFill>
                <a:latin typeface="Microsoft JhengHei"/>
              </a:rPr>
              <a:t>挑選 Harness 框架不可單看靜態代碼修復率，必須檢視其在終端多步驟動態排錯、環境故障排除之閉環恢復能力，具備健全安檢門與沙盒者方能勝任生產交付。</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理論前沿</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前沿文獻綜整：Anthropic 三代理架構與 OpenAI AC/DC 範式</a:t>
            </a:r>
          </a:p>
          <a:p>
            <a:pPr>
              <a:spcBef>
                <a:spcPts val="300"/>
              </a:spcBef>
            </a:pPr>
            <a:r>
              <a:rPr sz="950">
                <a:solidFill>
                  <a:srgbClr val="7C8695"/>
                </a:solidFill>
                <a:latin typeface="Microsoft JhengHei"/>
              </a:rPr>
              <a:t>剖析長程失憶症解法、Sprint 合約協議、AC/DC 四大支柱與零人工編碼革命</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17 / 30</a:t>
            </a:r>
          </a:p>
        </p:txBody>
      </p:sp>
      <p:sp>
        <p:nvSpPr>
          <p:cNvPr id="9" name="Rounded Rectangle 8"/>
          <p:cNvSpPr/>
          <p:nvPr/>
        </p:nvSpPr>
        <p:spPr>
          <a:xfrm>
            <a:off x="731520" y="1600200"/>
            <a:ext cx="5212080"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Anthropic：三角色制衡與記憶外生化</a:t>
            </a:r>
            <a:r>
              <a:rPr sz="850" b="1">
                <a:solidFill>
                  <a:srgbClr val="D6CEBF"/>
                </a:solidFill>
                <a:latin typeface="Microsoft JhengHei"/>
              </a:rPr>
              <a:t>  [ANTHROPIC PATTERN]</a:t>
            </a:r>
          </a:p>
        </p:txBody>
      </p:sp>
      <p:sp>
        <p:nvSpPr>
          <p:cNvPr id="10" name="Rounded Rectangle 9"/>
          <p:cNvSpPr/>
          <p:nvPr/>
        </p:nvSpPr>
        <p:spPr>
          <a:xfrm>
            <a:off x="731520" y="2167128"/>
            <a:ext cx="5212080" cy="93268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227685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12" name="TextBox 11"/>
          <p:cNvSpPr txBox="1"/>
          <p:nvPr/>
        </p:nvSpPr>
        <p:spPr>
          <a:xfrm>
            <a:off x="1207008" y="2240280"/>
            <a:ext cx="4645152" cy="78638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上下文視窗失憶症機制：</a:t>
            </a:r>
            <a:r>
              <a:rPr sz="900">
                <a:solidFill>
                  <a:srgbClr val="4A5568"/>
                </a:solidFill>
                <a:latin typeface="Microsoft JhengHei"/>
              </a:rPr>
              <a:t>模型在長對話中必現「重複造輪子、過早宣告完成、代碼幻覺」三大病徵，根源在注意力漂移，絕不能靠 Context Window 記住狀態。</a:t>
            </a:r>
          </a:p>
        </p:txBody>
      </p:sp>
      <p:sp>
        <p:nvSpPr>
          <p:cNvPr id="13" name="Rounded Rectangle 12"/>
          <p:cNvSpPr/>
          <p:nvPr/>
        </p:nvSpPr>
        <p:spPr>
          <a:xfrm>
            <a:off x="731520" y="3191256"/>
            <a:ext cx="5212080" cy="93268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3300984"/>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15" name="TextBox 14"/>
          <p:cNvSpPr txBox="1"/>
          <p:nvPr/>
        </p:nvSpPr>
        <p:spPr>
          <a:xfrm>
            <a:off x="1207008" y="3264408"/>
            <a:ext cx="4645152" cy="78638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三角色權力制衡分工：</a:t>
            </a:r>
            <a:r>
              <a:rPr sz="900">
                <a:solidFill>
                  <a:srgbClr val="4A5568"/>
                </a:solidFill>
                <a:latin typeface="Microsoft JhengHei"/>
              </a:rPr>
              <a:t>徹底打破自我評估偏差 (Self-Assessment Bias)！Planner 拆解原子需求，Generator 專注寫碼，Evaluator 獨立驗證打槍。</a:t>
            </a:r>
          </a:p>
        </p:txBody>
      </p:sp>
      <p:sp>
        <p:nvSpPr>
          <p:cNvPr id="16" name="Rounded Rectangle 15"/>
          <p:cNvSpPr/>
          <p:nvPr/>
        </p:nvSpPr>
        <p:spPr>
          <a:xfrm>
            <a:off x="731520" y="4215384"/>
            <a:ext cx="5212080" cy="93268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77824" y="4325112"/>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18" name="TextBox 17"/>
          <p:cNvSpPr txBox="1"/>
          <p:nvPr/>
        </p:nvSpPr>
        <p:spPr>
          <a:xfrm>
            <a:off x="1207008" y="4288536"/>
            <a:ext cx="4645152" cy="78638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Sprint 合約協議機制：</a:t>
            </a:r>
            <a:r>
              <a:rPr sz="900">
                <a:solidFill>
                  <a:srgbClr val="4A5568"/>
                </a:solidFill>
                <a:latin typeface="Microsoft JhengHei"/>
              </a:rPr>
              <a:t>寫代碼前簽訂契約，Generator 與 Evaluator 協商不可篡改的 Done Criteria (如指定測試通過、畫面文字)，協商失敗立即觸發升級。</a:t>
            </a:r>
          </a:p>
        </p:txBody>
      </p:sp>
      <p:sp>
        <p:nvSpPr>
          <p:cNvPr id="19" name="Rounded Rectangle 18"/>
          <p:cNvSpPr/>
          <p:nvPr/>
        </p:nvSpPr>
        <p:spPr>
          <a:xfrm>
            <a:off x="731520" y="5239512"/>
            <a:ext cx="5212080" cy="93268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5349240"/>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4</a:t>
            </a:r>
          </a:p>
        </p:txBody>
      </p:sp>
      <p:sp>
        <p:nvSpPr>
          <p:cNvPr id="21" name="TextBox 20"/>
          <p:cNvSpPr txBox="1"/>
          <p:nvPr/>
        </p:nvSpPr>
        <p:spPr>
          <a:xfrm>
            <a:off x="1207008" y="5312664"/>
            <a:ext cx="4645152" cy="78638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外生化記憶架構 (CCI)：</a:t>
            </a:r>
            <a:r>
              <a:rPr sz="900">
                <a:solidFill>
                  <a:srgbClr val="4A5568"/>
                </a:solidFill>
                <a:latin typeface="Microsoft JhengHei"/>
              </a:rPr>
              <a:t>專案狀態強制硬碟化，全面採用結構化 JSON 與 Git Commit 追蹤，嚴禁自由發揮的 Markdown，確保 Agent 重啟一秒還原上下文。</a:t>
            </a:r>
          </a:p>
        </p:txBody>
      </p:sp>
      <p:sp>
        <p:nvSpPr>
          <p:cNvPr id="22" name="Rounded Rectangle 21"/>
          <p:cNvSpPr/>
          <p:nvPr/>
        </p:nvSpPr>
        <p:spPr>
          <a:xfrm>
            <a:off x="6217920" y="1600200"/>
            <a:ext cx="5242255"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OpenAI：AC/DC 範式與零人工編碼</a:t>
            </a:r>
            <a:r>
              <a:rPr sz="850" b="1">
                <a:solidFill>
                  <a:srgbClr val="D6CEBF"/>
                </a:solidFill>
                <a:latin typeface="Microsoft JhengHei"/>
              </a:rPr>
              <a:t>  [OPENAI PARADIGM]</a:t>
            </a:r>
          </a:p>
        </p:txBody>
      </p:sp>
      <p:sp>
        <p:nvSpPr>
          <p:cNvPr id="23" name="Rounded Rectangle 22"/>
          <p:cNvSpPr/>
          <p:nvPr/>
        </p:nvSpPr>
        <p:spPr>
          <a:xfrm>
            <a:off x="6217920" y="2167128"/>
            <a:ext cx="5242255" cy="93268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64224" y="2276856"/>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25" name="TextBox 24"/>
          <p:cNvSpPr txBox="1"/>
          <p:nvPr/>
        </p:nvSpPr>
        <p:spPr>
          <a:xfrm>
            <a:off x="6693408" y="2240280"/>
            <a:ext cx="4675327" cy="78638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AC/DC 代理核心週期：</a:t>
            </a:r>
            <a:r>
              <a:rPr sz="900">
                <a:solidFill>
                  <a:srgbClr val="4A5568"/>
                </a:solidFill>
                <a:latin typeface="Microsoft JhengHei"/>
              </a:rPr>
              <a:t>引導 (Guide) → 生成 (Generate) → 驗證 (Verify) → 修復 (Solve)，構建軟體工廠生產線，形成從規格定義到自動迭代的閉環架構。</a:t>
            </a:r>
          </a:p>
        </p:txBody>
      </p:sp>
      <p:sp>
        <p:nvSpPr>
          <p:cNvPr id="26" name="Rounded Rectangle 25"/>
          <p:cNvSpPr/>
          <p:nvPr/>
        </p:nvSpPr>
        <p:spPr>
          <a:xfrm>
            <a:off x="6217920" y="3191256"/>
            <a:ext cx="5242255" cy="93268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64224" y="3300984"/>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28" name="TextBox 27"/>
          <p:cNvSpPr txBox="1"/>
          <p:nvPr/>
        </p:nvSpPr>
        <p:spPr>
          <a:xfrm>
            <a:off x="6693408" y="3264408"/>
            <a:ext cx="4675327" cy="78638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工程師角色本質蛻變：</a:t>
            </a:r>
            <a:r>
              <a:rPr sz="900">
                <a:solidFill>
                  <a:srgbClr val="4A5568"/>
                </a:solidFill>
                <a:latin typeface="Microsoft JhengHei"/>
              </a:rPr>
              <a:t>工程師不再以背誦 API 語法或手敲代碼為核心，全面晉升為制定安全邊界、定義架構約束與驗收標準的系統治理者 (Governor)。</a:t>
            </a:r>
          </a:p>
        </p:txBody>
      </p:sp>
      <p:sp>
        <p:nvSpPr>
          <p:cNvPr id="29" name="Rounded Rectangle 28"/>
          <p:cNvSpPr/>
          <p:nvPr/>
        </p:nvSpPr>
        <p:spPr>
          <a:xfrm>
            <a:off x="6217920" y="4215384"/>
            <a:ext cx="5242255" cy="93268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64224" y="4325112"/>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31" name="TextBox 30"/>
          <p:cNvSpPr txBox="1"/>
          <p:nvPr/>
        </p:nvSpPr>
        <p:spPr>
          <a:xfrm>
            <a:off x="6693408" y="4288536"/>
            <a:ext cx="4675327" cy="78638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防作弊外部獨立安檢門：</a:t>
            </a:r>
            <a:r>
              <a:rPr sz="900">
                <a:solidFill>
                  <a:srgbClr val="4A5568"/>
                </a:solidFill>
                <a:latin typeface="Microsoft JhengHei"/>
              </a:rPr>
              <a:t>Agent 遇到測試失敗本能會偷改測試期望值！Verify 閘門必須部署於 Agent 控制邊界之外，由人類獨立掌控 SAST 與架構合規。</a:t>
            </a:r>
          </a:p>
        </p:txBody>
      </p:sp>
      <p:sp>
        <p:nvSpPr>
          <p:cNvPr id="32" name="Rounded Rectangle 31"/>
          <p:cNvSpPr/>
          <p:nvPr/>
        </p:nvSpPr>
        <p:spPr>
          <a:xfrm>
            <a:off x="6217920" y="5239512"/>
            <a:ext cx="5242255" cy="932688"/>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64224" y="5349240"/>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4</a:t>
            </a:r>
          </a:p>
        </p:txBody>
      </p:sp>
      <p:sp>
        <p:nvSpPr>
          <p:cNvPr id="34" name="TextBox 33"/>
          <p:cNvSpPr txBox="1"/>
          <p:nvPr/>
        </p:nvSpPr>
        <p:spPr>
          <a:xfrm>
            <a:off x="6693408" y="5312664"/>
            <a:ext cx="4675327" cy="786384"/>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Agents API 與零手寫實證：</a:t>
            </a:r>
            <a:r>
              <a:rPr sz="900">
                <a:solidFill>
                  <a:srgbClr val="4A5568"/>
                </a:solidFill>
                <a:latin typeface="Microsoft JhengHei"/>
              </a:rPr>
              <a:t>將託管長程執行、狀態管理與沙盒商業化。OpenAI 內部實證交付百萬行代碼庫且人類零行手寫，全精力聚焦於約束規格定義。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戰略辯證</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Google DeepMind 前沿佈局與「模型吞噬框架」戰略辯證</a:t>
            </a:r>
          </a:p>
          <a:p>
            <a:pPr>
              <a:spcBef>
                <a:spcPts val="300"/>
              </a:spcBef>
            </a:pPr>
            <a:r>
              <a:rPr sz="950">
                <a:solidFill>
                  <a:srgbClr val="7C8695"/>
                </a:solidFill>
                <a:latin typeface="Microsoft JhengHei"/>
              </a:rPr>
              <a:t>Antigravity 2.0、ADK 2.0、Amplio 與 Logan Kilpatrick 之過渡性基礎設施論題</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18 / 30</a:t>
            </a:r>
          </a:p>
        </p:txBody>
      </p:sp>
      <p:sp>
        <p:nvSpPr>
          <p:cNvPr id="9" name="Rounded Rectangle 8"/>
          <p:cNvSpPr/>
          <p:nvPr/>
        </p:nvSpPr>
        <p:spPr>
          <a:xfrm>
            <a:off x="731520" y="1600200"/>
            <a:ext cx="5212080"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Google DeepMind 核心產品矩陣</a:t>
            </a:r>
            <a:r>
              <a:rPr sz="850" b="1">
                <a:solidFill>
                  <a:srgbClr val="D6CEBF"/>
                </a:solidFill>
                <a:latin typeface="Microsoft JhengHei"/>
              </a:rPr>
              <a:t>  [DEEPMIND INFRA]</a:t>
            </a:r>
          </a:p>
        </p:txBody>
      </p:sp>
      <p:sp>
        <p:nvSpPr>
          <p:cNvPr id="10" name="Rounded Rectangle 9"/>
          <p:cNvSpPr/>
          <p:nvPr/>
        </p:nvSpPr>
        <p:spPr>
          <a:xfrm>
            <a:off x="731520" y="2167128"/>
            <a:ext cx="5212080" cy="127406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227685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12" name="TextBox 11"/>
          <p:cNvSpPr txBox="1"/>
          <p:nvPr/>
        </p:nvSpPr>
        <p:spPr>
          <a:xfrm>
            <a:off x="1207008" y="2240280"/>
            <a:ext cx="4645152" cy="112776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Antigravity 2.0 平台：</a:t>
            </a:r>
            <a:r>
              <a:rPr sz="900">
                <a:solidFill>
                  <a:srgbClr val="4A5568"/>
                </a:solidFill>
                <a:latin typeface="Microsoft JhengHei"/>
              </a:rPr>
              <a:t>旗艦 Agent-First IDE，支援跨 Google 生態之端到端異步多代理調度，深度整合瀏覽器操控、背景工作區與企業級 ADC 鑑權治理。</a:t>
            </a:r>
          </a:p>
        </p:txBody>
      </p:sp>
      <p:sp>
        <p:nvSpPr>
          <p:cNvPr id="13" name="Rounded Rectangle 12"/>
          <p:cNvSpPr/>
          <p:nvPr/>
        </p:nvSpPr>
        <p:spPr>
          <a:xfrm>
            <a:off x="731520" y="3532632"/>
            <a:ext cx="5212080" cy="127406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3642360"/>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15" name="TextBox 14"/>
          <p:cNvSpPr txBox="1"/>
          <p:nvPr/>
        </p:nvSpPr>
        <p:spPr>
          <a:xfrm>
            <a:off x="1207008" y="3605784"/>
            <a:ext cx="4645152" cy="112776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ADK 2.0 開源框架：</a:t>
            </a:r>
            <a:r>
              <a:rPr sz="900">
                <a:solidFill>
                  <a:srgbClr val="4A5568"/>
                </a:solidFill>
                <a:latin typeface="Microsoft JhengHei"/>
              </a:rPr>
              <a:t>首創「code-first 混合式編排」，嚴格分離 LLM 概率推理與確定性工作流執行，支援跨 Python/TS/Go/Java 多語言之生產級除錯與回放。</a:t>
            </a:r>
          </a:p>
        </p:txBody>
      </p:sp>
      <p:sp>
        <p:nvSpPr>
          <p:cNvPr id="16" name="Rounded Rectangle 15"/>
          <p:cNvSpPr/>
          <p:nvPr/>
        </p:nvSpPr>
        <p:spPr>
          <a:xfrm>
            <a:off x="731520" y="4898136"/>
            <a:ext cx="5212080" cy="127406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77824" y="5007864"/>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18" name="TextBox 17"/>
          <p:cNvSpPr txBox="1"/>
          <p:nvPr/>
        </p:nvSpPr>
        <p:spPr>
          <a:xfrm>
            <a:off x="1207008" y="4971288"/>
            <a:ext cx="4645152" cy="112776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Amplio 長程研究 Harness：</a:t>
            </a:r>
            <a:r>
              <a:rPr sz="900">
                <a:solidFill>
                  <a:srgbClr val="4A5568"/>
                </a:solidFill>
                <a:latin typeface="Microsoft JhengHei"/>
              </a:rPr>
              <a:t>極簡工具組 + Database-First 狀態持久化，專為自主 AI 研究打造，支援數十小時至數天長程崩潰無縫重啟與多代理協調。</a:t>
            </a:r>
          </a:p>
        </p:txBody>
      </p:sp>
      <p:sp>
        <p:nvSpPr>
          <p:cNvPr id="19" name="Rounded Rectangle 18"/>
          <p:cNvSpPr/>
          <p:nvPr/>
        </p:nvSpPr>
        <p:spPr>
          <a:xfrm>
            <a:off x="6217920" y="1600200"/>
            <a:ext cx="5242255"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「模型吞噬框架」深度辯證</a:t>
            </a:r>
            <a:r>
              <a:rPr sz="850" b="1">
                <a:solidFill>
                  <a:srgbClr val="D6CEBF"/>
                </a:solidFill>
                <a:latin typeface="Microsoft JhengHei"/>
              </a:rPr>
              <a:t>  [THE STRATEGIC DEBATE]</a:t>
            </a:r>
          </a:p>
        </p:txBody>
      </p:sp>
      <p:sp>
        <p:nvSpPr>
          <p:cNvPr id="20" name="Rounded Rectangle 19"/>
          <p:cNvSpPr/>
          <p:nvPr/>
        </p:nvSpPr>
        <p:spPr>
          <a:xfrm>
            <a:off x="6217920" y="2167128"/>
            <a:ext cx="5242255" cy="127406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2276856"/>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22" name="TextBox 21"/>
          <p:cNvSpPr txBox="1"/>
          <p:nvPr/>
        </p:nvSpPr>
        <p:spPr>
          <a:xfrm>
            <a:off x="6693408" y="2240280"/>
            <a:ext cx="4675327" cy="112776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模型吞噬框架論題：</a:t>
            </a:r>
            <a:r>
              <a:rPr sz="900">
                <a:solidFill>
                  <a:srgbClr val="4A5568"/>
                </a:solidFill>
                <a:latin typeface="Microsoft JhengHei"/>
              </a:rPr>
              <a:t>Logan Kilpatrick 指出基礎模型正原生吸收工具呼叫、重試與基礎記憶，傳統通用膠水層等「過渡性基礎設施」護城河將迅速崩塌。</a:t>
            </a:r>
          </a:p>
        </p:txBody>
      </p:sp>
      <p:sp>
        <p:nvSpPr>
          <p:cNvPr id="23" name="Rounded Rectangle 22"/>
          <p:cNvSpPr/>
          <p:nvPr/>
        </p:nvSpPr>
        <p:spPr>
          <a:xfrm>
            <a:off x="6217920" y="3532632"/>
            <a:ext cx="5242255" cy="127406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64224" y="3642360"/>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25" name="TextBox 24"/>
          <p:cNvSpPr txBox="1"/>
          <p:nvPr/>
        </p:nvSpPr>
        <p:spPr>
          <a:xfrm>
            <a:off x="6693408" y="3605784"/>
            <a:ext cx="4675327" cy="112776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軟鷹架注定消亡：</a:t>
            </a:r>
            <a:r>
              <a:rPr sz="900">
                <a:solidFill>
                  <a:srgbClr val="4A5568"/>
                </a:solidFill>
                <a:latin typeface="Microsoft JhengHei"/>
              </a:rPr>
              <a:t>Prompt 工程模板、陽春 ReAct 循環與單純的重試包裝，會隨著次世代基礎模型具備多步原生推理鏈而被直接內建於模型權重之中。</a:t>
            </a:r>
          </a:p>
        </p:txBody>
      </p:sp>
      <p:sp>
        <p:nvSpPr>
          <p:cNvPr id="26" name="Rounded Rectangle 25"/>
          <p:cNvSpPr/>
          <p:nvPr/>
        </p:nvSpPr>
        <p:spPr>
          <a:xfrm>
            <a:off x="6217920" y="4898136"/>
            <a:ext cx="5242255" cy="127406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64224" y="5007864"/>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28" name="TextBox 27"/>
          <p:cNvSpPr txBox="1"/>
          <p:nvPr/>
        </p:nvSpPr>
        <p:spPr>
          <a:xfrm>
            <a:off x="6693408" y="4971288"/>
            <a:ext cx="4675327" cy="112776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硬鷹架永遠長存：</a:t>
            </a:r>
            <a:r>
              <a:rPr sz="900">
                <a:solidFill>
                  <a:srgbClr val="4A5568"/>
                </a:solidFill>
                <a:latin typeface="Microsoft JhengHei"/>
              </a:rPr>
              <a:t>OS 級沙盒隔離、企業級 IAM/RBAC 鑑權、不可篡改審計軌跡與客觀物理測試，機率模型在資訊理論上永遠無法自我監督，外部約束長存！</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深度精髓</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深度研析精髓 (一)：野馬與韁繩——為什麼光靠更聰明的 AI 不管用了？</a:t>
            </a:r>
          </a:p>
          <a:p>
            <a:pPr>
              <a:spcBef>
                <a:spcPts val="300"/>
              </a:spcBef>
            </a:pPr>
            <a:r>
              <a:rPr sz="950">
                <a:solidFill>
                  <a:srgbClr val="7C8695"/>
                </a:solidFill>
                <a:latin typeface="Microsoft JhengHei"/>
              </a:rPr>
              <a:t>以最白話、敘事式視角解構：為什麼 2026 年軟體工程的焦點從「大模型」全面轉向「Harness」</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19 / 30</a:t>
            </a:r>
          </a:p>
        </p:txBody>
      </p:sp>
      <p:sp>
        <p:nvSpPr>
          <p:cNvPr id="9" name="Rounded Rectangle 8"/>
          <p:cNvSpPr/>
          <p:nvPr/>
        </p:nvSpPr>
        <p:spPr>
          <a:xfrm>
            <a:off x="731520" y="1600200"/>
            <a:ext cx="5212080"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野馬困境：大模型的機率盲區與失憶症</a:t>
            </a:r>
            <a:r>
              <a:rPr sz="850" b="1">
                <a:solidFill>
                  <a:srgbClr val="D6CEBF"/>
                </a:solidFill>
                <a:latin typeface="Microsoft JhengHei"/>
              </a:rPr>
              <a:t>  [THE WILD HORSE]</a:t>
            </a:r>
          </a:p>
        </p:txBody>
      </p:sp>
      <p:sp>
        <p:nvSpPr>
          <p:cNvPr id="10" name="Rounded Rectangle 9"/>
          <p:cNvSpPr/>
          <p:nvPr/>
        </p:nvSpPr>
        <p:spPr>
          <a:xfrm>
            <a:off x="731520" y="2167128"/>
            <a:ext cx="5212080" cy="127406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2276856"/>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12" name="TextBox 11"/>
          <p:cNvSpPr txBox="1"/>
          <p:nvPr/>
        </p:nvSpPr>
        <p:spPr>
          <a:xfrm>
            <a:off x="1207008" y="2240280"/>
            <a:ext cx="4645152" cy="112776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模型本質是機率產生器：</a:t>
            </a:r>
            <a:r>
              <a:rPr sz="900">
                <a:solidFill>
                  <a:srgbClr val="4A5568"/>
                </a:solidFill>
                <a:latin typeface="Microsoft JhengHei"/>
              </a:rPr>
              <a:t>神經網路本質是 Next-Token 預測概率分布，天生自帶幻覺與不確定性，它不是嚴謹的計算機，參數量再大也無法消除隨機偏移。</a:t>
            </a:r>
          </a:p>
        </p:txBody>
      </p:sp>
      <p:sp>
        <p:nvSpPr>
          <p:cNvPr id="13" name="Rounded Rectangle 12"/>
          <p:cNvSpPr/>
          <p:nvPr/>
        </p:nvSpPr>
        <p:spPr>
          <a:xfrm>
            <a:off x="731520" y="3532632"/>
            <a:ext cx="5212080" cy="127406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3642360"/>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15" name="TextBox 14"/>
          <p:cNvSpPr txBox="1"/>
          <p:nvPr/>
        </p:nvSpPr>
        <p:spPr>
          <a:xfrm>
            <a:off x="1207008" y="3605784"/>
            <a:ext cx="4645152" cy="112776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上下文金魚腦災難：</a:t>
            </a:r>
            <a:r>
              <a:rPr sz="900">
                <a:solidFill>
                  <a:srgbClr val="4A5568"/>
                </a:solidFill>
                <a:latin typeface="Microsoft JhengHei"/>
              </a:rPr>
              <a:t>只要對話長度超過臨界閥值，注意力機制必現耗散，導致「忘記前置約定、重造已寫模組、測試報錯卻宣稱完成」等自我包庇荒謬現象。</a:t>
            </a:r>
          </a:p>
        </p:txBody>
      </p:sp>
      <p:sp>
        <p:nvSpPr>
          <p:cNvPr id="16" name="Rounded Rectangle 15"/>
          <p:cNvSpPr/>
          <p:nvPr/>
        </p:nvSpPr>
        <p:spPr>
          <a:xfrm>
            <a:off x="731520" y="4898136"/>
            <a:ext cx="5212080" cy="127406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77824" y="5007864"/>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18" name="TextBox 17"/>
          <p:cNvSpPr txBox="1"/>
          <p:nvPr/>
        </p:nvSpPr>
        <p:spPr>
          <a:xfrm>
            <a:off x="1207008" y="4971288"/>
            <a:ext cx="4645152" cy="112776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原始智力不等於可用度：</a:t>
            </a:r>
            <a:r>
              <a:rPr sz="900">
                <a:solidFill>
                  <a:srgbClr val="4A5568"/>
                </a:solidFill>
                <a:latin typeface="Microsoft JhengHei"/>
              </a:rPr>
              <a:t>一匹體力無限但性情暴烈的野馬在草原狂奔，只會踩爛莊稼；未受約束的強大模型在代碼庫中狂奔，只會產生失控的技術債。</a:t>
            </a:r>
          </a:p>
        </p:txBody>
      </p:sp>
      <p:sp>
        <p:nvSpPr>
          <p:cNvPr id="19" name="Rounded Rectangle 18"/>
          <p:cNvSpPr/>
          <p:nvPr/>
        </p:nvSpPr>
        <p:spPr>
          <a:xfrm>
            <a:off x="6217920" y="1600200"/>
            <a:ext cx="5242255"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韁繩力量：確定性工程約束的降維打擊</a:t>
            </a:r>
            <a:r>
              <a:rPr sz="850" b="1">
                <a:solidFill>
                  <a:srgbClr val="D6CEBF"/>
                </a:solidFill>
                <a:latin typeface="Microsoft JhengHei"/>
              </a:rPr>
              <a:t>  [THE HARNESS POWER]</a:t>
            </a:r>
          </a:p>
        </p:txBody>
      </p:sp>
      <p:sp>
        <p:nvSpPr>
          <p:cNvPr id="20" name="Rounded Rectangle 19"/>
          <p:cNvSpPr/>
          <p:nvPr/>
        </p:nvSpPr>
        <p:spPr>
          <a:xfrm>
            <a:off x="6217920" y="2167128"/>
            <a:ext cx="5242255" cy="127406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227685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22" name="TextBox 21"/>
          <p:cNvSpPr txBox="1"/>
          <p:nvPr/>
        </p:nvSpPr>
        <p:spPr>
          <a:xfrm>
            <a:off x="6693408" y="2240280"/>
            <a:ext cx="4675327" cy="112776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Harness 是確定性安全軌道：</a:t>
            </a:r>
            <a:r>
              <a:rPr sz="900">
                <a:solidFill>
                  <a:srgbClr val="4A5568"/>
                </a:solidFill>
                <a:latin typeface="Microsoft JhengHei"/>
              </a:rPr>
              <a:t>馬鞍、韁繩、柵欄與軌道，由作業系統沙盒、Git 狀態機、強制作業測試與外部安檢門構成，將狂暴的機率能量引導至交付正軌。</a:t>
            </a:r>
          </a:p>
        </p:txBody>
      </p:sp>
      <p:sp>
        <p:nvSpPr>
          <p:cNvPr id="23" name="Rounded Rectangle 22"/>
          <p:cNvSpPr/>
          <p:nvPr/>
        </p:nvSpPr>
        <p:spPr>
          <a:xfrm>
            <a:off x="6217920" y="3532632"/>
            <a:ext cx="5242255" cy="127406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64224" y="3642360"/>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25" name="TextBox 24"/>
          <p:cNvSpPr txBox="1"/>
          <p:nvPr/>
        </p:nvSpPr>
        <p:spPr>
          <a:xfrm>
            <a:off x="6693408" y="3605784"/>
            <a:ext cx="4675327" cy="112776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工程約束決定商業價值：</a:t>
            </a:r>
            <a:r>
              <a:rPr sz="900">
                <a:solidFill>
                  <a:srgbClr val="4A5568"/>
                </a:solidFill>
                <a:latin typeface="Microsoft JhengHei"/>
              </a:rPr>
              <a:t>決定軟體能否進入生產環境交付的，從來不是模型有多野，而是韁繩有多穩固！工程師的精力從膜拜模型轉向修築不可破的軌道。</a:t>
            </a:r>
          </a:p>
        </p:txBody>
      </p:sp>
      <p:sp>
        <p:nvSpPr>
          <p:cNvPr id="26" name="Rounded Rectangle 25"/>
          <p:cNvSpPr/>
          <p:nvPr/>
        </p:nvSpPr>
        <p:spPr>
          <a:xfrm>
            <a:off x="6217920" y="4898136"/>
            <a:ext cx="5242255" cy="127406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64224" y="5007864"/>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28" name="TextBox 27"/>
          <p:cNvSpPr txBox="1"/>
          <p:nvPr/>
        </p:nvSpPr>
        <p:spPr>
          <a:xfrm>
            <a:off x="6693408" y="4971288"/>
            <a:ext cx="4675327" cy="112776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數位工程師的誕生分水嶺：</a:t>
            </a:r>
            <a:r>
              <a:rPr sz="900">
                <a:solidFill>
                  <a:srgbClr val="4A5568"/>
                </a:solidFill>
                <a:latin typeface="Microsoft JhengHei"/>
              </a:rPr>
              <a:t>沒有 Harness 約束的 LLM 充其量只是會寫零碎代碼的聊天玩具；被完備 Harness 硬性規範的 LLM，才是真正能獨立交差的數位工程師！</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深度精髓</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深度研析精髓 (二)：三權分立與衝刺合約——職場管理思維的投射</a:t>
            </a:r>
          </a:p>
          <a:p>
            <a:pPr>
              <a:spcBef>
                <a:spcPts val="300"/>
              </a:spcBef>
            </a:pPr>
            <a:r>
              <a:rPr sz="950">
                <a:solidFill>
                  <a:srgbClr val="7C8695"/>
                </a:solidFill>
                <a:latin typeface="Microsoft JhengHei"/>
              </a:rPr>
              <a:t>解構 Anthropic 如何用「規劃師、碼農、機車品管」徹底打破 AI 自我包庇與吹捧</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20 / 30</a:t>
            </a:r>
          </a:p>
        </p:txBody>
      </p:sp>
      <p:sp>
        <p:nvSpPr>
          <p:cNvPr id="9" name="Rounded Rectangle 8"/>
          <p:cNvSpPr/>
          <p:nvPr/>
        </p:nvSpPr>
        <p:spPr>
          <a:xfrm>
            <a:off x="731520" y="1600200"/>
            <a:ext cx="3413455"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角色一：規劃師 (Planner)</a:t>
            </a:r>
            <a:r>
              <a:rPr sz="850" b="1">
                <a:solidFill>
                  <a:srgbClr val="D6CEBF"/>
                </a:solidFill>
                <a:latin typeface="Microsoft JhengHei"/>
              </a:rPr>
              <a:t>  [只出嘴不寫代碼]</a:t>
            </a:r>
          </a:p>
        </p:txBody>
      </p:sp>
      <p:sp>
        <p:nvSpPr>
          <p:cNvPr id="10" name="Rounded Rectangle 9"/>
          <p:cNvSpPr/>
          <p:nvPr/>
        </p:nvSpPr>
        <p:spPr>
          <a:xfrm>
            <a:off x="731520" y="2167128"/>
            <a:ext cx="3413455" cy="1133856"/>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227685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12" name="TextBox 11"/>
          <p:cNvSpPr txBox="1"/>
          <p:nvPr/>
        </p:nvSpPr>
        <p:spPr>
          <a:xfrm>
            <a:off x="1207008" y="2240280"/>
            <a:ext cx="2846527" cy="987552"/>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模糊需求拆解：</a:t>
            </a:r>
            <a:r>
              <a:rPr sz="900">
                <a:solidFill>
                  <a:srgbClr val="4A5568"/>
                </a:solidFill>
                <a:latin typeface="Microsoft JhengHei"/>
              </a:rPr>
              <a:t>把使用者一句話拆成條理分明、具備邊界之可驗收任務清單。</a:t>
            </a:r>
          </a:p>
        </p:txBody>
      </p:sp>
      <p:sp>
        <p:nvSpPr>
          <p:cNvPr id="13" name="Rounded Rectangle 12"/>
          <p:cNvSpPr/>
          <p:nvPr/>
        </p:nvSpPr>
        <p:spPr>
          <a:xfrm>
            <a:off x="731520" y="3392424"/>
            <a:ext cx="3413455" cy="1133856"/>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3502152"/>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15" name="TextBox 14"/>
          <p:cNvSpPr txBox="1"/>
          <p:nvPr/>
        </p:nvSpPr>
        <p:spPr>
          <a:xfrm>
            <a:off x="1207008" y="3465576"/>
            <a:ext cx="2846527" cy="987552"/>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嚴防過度設計：</a:t>
            </a:r>
            <a:r>
              <a:rPr sz="900">
                <a:solidFill>
                  <a:srgbClr val="4A5568"/>
                </a:solidFill>
                <a:latin typeface="Microsoft JhengHei"/>
              </a:rPr>
              <a:t>為後續代碼劃定邊界防護，禁止節外生枝或過早優化。</a:t>
            </a:r>
          </a:p>
        </p:txBody>
      </p:sp>
      <p:sp>
        <p:nvSpPr>
          <p:cNvPr id="16" name="Rounded Rectangle 15"/>
          <p:cNvSpPr/>
          <p:nvPr/>
        </p:nvSpPr>
        <p:spPr>
          <a:xfrm>
            <a:off x="4389120" y="1600200"/>
            <a:ext cx="3413455"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角色二：碼農 (Generator)</a:t>
            </a:r>
            <a:r>
              <a:rPr sz="850" b="1">
                <a:solidFill>
                  <a:srgbClr val="D6CEBF"/>
                </a:solidFill>
                <a:latin typeface="Microsoft JhengHei"/>
              </a:rPr>
              <a:t>  [動工前必須簽約]</a:t>
            </a:r>
          </a:p>
        </p:txBody>
      </p:sp>
      <p:sp>
        <p:nvSpPr>
          <p:cNvPr id="17" name="Rounded Rectangle 16"/>
          <p:cNvSpPr/>
          <p:nvPr/>
        </p:nvSpPr>
        <p:spPr>
          <a:xfrm>
            <a:off x="4389120" y="2167128"/>
            <a:ext cx="3413455" cy="1133856"/>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535424" y="227685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19" name="TextBox 18"/>
          <p:cNvSpPr txBox="1"/>
          <p:nvPr/>
        </p:nvSpPr>
        <p:spPr>
          <a:xfrm>
            <a:off x="4864608" y="2240280"/>
            <a:ext cx="2846527" cy="987552"/>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合約驅動施工：</a:t>
            </a:r>
            <a:r>
              <a:rPr sz="900">
                <a:solidFill>
                  <a:srgbClr val="4A5568"/>
                </a:solidFill>
                <a:latin typeface="Microsoft JhengHei"/>
              </a:rPr>
              <a:t>寫任何代碼前，必須跟品管簽訂白紙黑字『衝刺合約』。</a:t>
            </a:r>
          </a:p>
        </p:txBody>
      </p:sp>
      <p:sp>
        <p:nvSpPr>
          <p:cNvPr id="20" name="Rounded Rectangle 19"/>
          <p:cNvSpPr/>
          <p:nvPr/>
        </p:nvSpPr>
        <p:spPr>
          <a:xfrm>
            <a:off x="4389120" y="3392424"/>
            <a:ext cx="3413455" cy="1133856"/>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535424" y="3502152"/>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22" name="TextBox 21"/>
          <p:cNvSpPr txBox="1"/>
          <p:nvPr/>
        </p:nvSpPr>
        <p:spPr>
          <a:xfrm>
            <a:off x="4864608" y="3465576"/>
            <a:ext cx="2846527" cy="987552"/>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確定驗收標準：</a:t>
            </a:r>
            <a:r>
              <a:rPr sz="900">
                <a:solidFill>
                  <a:srgbClr val="4A5568"/>
                </a:solidFill>
                <a:latin typeface="Microsoft JhengHei"/>
              </a:rPr>
              <a:t>明確協議通過哪 5 個測試案例、呈現何種畫面才准動手實作。</a:t>
            </a:r>
          </a:p>
        </p:txBody>
      </p:sp>
      <p:sp>
        <p:nvSpPr>
          <p:cNvPr id="23" name="Rounded Rectangle 22"/>
          <p:cNvSpPr/>
          <p:nvPr/>
        </p:nvSpPr>
        <p:spPr>
          <a:xfrm>
            <a:off x="8046720" y="1600200"/>
            <a:ext cx="3413455"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角色三：機車品管 (Evaluator)</a:t>
            </a:r>
            <a:r>
              <a:rPr sz="850" b="1">
                <a:solidFill>
                  <a:srgbClr val="D6CEBF"/>
                </a:solidFill>
                <a:latin typeface="Microsoft JhengHei"/>
              </a:rPr>
              <a:t>  [天生自帶懷疑眼光]</a:t>
            </a:r>
          </a:p>
        </p:txBody>
      </p:sp>
      <p:sp>
        <p:nvSpPr>
          <p:cNvPr id="24" name="Rounded Rectangle 23"/>
          <p:cNvSpPr/>
          <p:nvPr/>
        </p:nvSpPr>
        <p:spPr>
          <a:xfrm>
            <a:off x="8046720" y="2167128"/>
            <a:ext cx="3413455" cy="1133856"/>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193024" y="227685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26" name="TextBox 25"/>
          <p:cNvSpPr txBox="1"/>
          <p:nvPr/>
        </p:nvSpPr>
        <p:spPr>
          <a:xfrm>
            <a:off x="8522208" y="2240280"/>
            <a:ext cx="2846527" cy="987552"/>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獨立實體驗收：</a:t>
            </a:r>
            <a:r>
              <a:rPr sz="900">
                <a:solidFill>
                  <a:srgbClr val="4A5568"/>
                </a:solidFill>
                <a:latin typeface="Microsoft JhengHei"/>
              </a:rPr>
              <a:t>絕不信碼農自我報告！親自調用 Playwright 模擬點擊與跑測試。</a:t>
            </a:r>
          </a:p>
        </p:txBody>
      </p:sp>
      <p:sp>
        <p:nvSpPr>
          <p:cNvPr id="27" name="Rounded Rectangle 26"/>
          <p:cNvSpPr/>
          <p:nvPr/>
        </p:nvSpPr>
        <p:spPr>
          <a:xfrm>
            <a:off x="8046720" y="3392424"/>
            <a:ext cx="3413455" cy="1133856"/>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193024" y="3502152"/>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29" name="TextBox 28"/>
          <p:cNvSpPr txBox="1"/>
          <p:nvPr/>
        </p:nvSpPr>
        <p:spPr>
          <a:xfrm>
            <a:off x="8522208" y="3465576"/>
            <a:ext cx="2846527" cy="987552"/>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無情打槍退件：</a:t>
            </a:r>
            <a:r>
              <a:rPr sz="900">
                <a:solidFill>
                  <a:srgbClr val="4A5568"/>
                </a:solidFill>
                <a:latin typeface="Microsoft JhengHei"/>
              </a:rPr>
              <a:t>只要單元測試紅字或畫面崩潰直接退件，完整保存失敗證據。</a:t>
            </a:r>
          </a:p>
        </p:txBody>
      </p:sp>
      <p:sp>
        <p:nvSpPr>
          <p:cNvPr id="30" name="Rounded Rectangle 29"/>
          <p:cNvSpPr/>
          <p:nvPr/>
        </p:nvSpPr>
        <p:spPr>
          <a:xfrm>
            <a:off x="731520" y="4709160"/>
            <a:ext cx="10728655" cy="146304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7824" y="4800600"/>
            <a:ext cx="10436047" cy="329184"/>
          </a:xfrm>
          <a:prstGeom prst="rect">
            <a:avLst/>
          </a:prstGeom>
          <a:noFill/>
        </p:spPr>
        <p:txBody>
          <a:bodyPr wrap="square" lIns="0" tIns="0" rIns="0" bIns="0">
            <a:spAutoFit/>
          </a:bodyPr>
          <a:lstStyle/>
          <a:p>
            <a:r>
              <a:rPr sz="1050" b="1">
                <a:solidFill>
                  <a:srgbClr val="232D38"/>
                </a:solidFill>
                <a:latin typeface="Microsoft JhengHei"/>
              </a:rPr>
              <a:t>核心精髓：外生化記憶 (Externalized Memory) 與合約制約束</a:t>
            </a:r>
            <a:r>
              <a:rPr sz="850" b="1">
                <a:solidFill>
                  <a:srgbClr val="9E5A38"/>
                </a:solidFill>
                <a:latin typeface="Microsoft JhengHei"/>
              </a:rPr>
              <a:t>  [THE GOLDEN LAW]</a:t>
            </a:r>
          </a:p>
        </p:txBody>
      </p:sp>
      <p:sp>
        <p:nvSpPr>
          <p:cNvPr id="32" name="Rectangle 31"/>
          <p:cNvSpPr/>
          <p:nvPr/>
        </p:nvSpPr>
        <p:spPr>
          <a:xfrm>
            <a:off x="877824" y="5129784"/>
            <a:ext cx="10436047" cy="10972"/>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202936"/>
            <a:ext cx="10436047" cy="896112"/>
          </a:xfrm>
          <a:prstGeom prst="rect">
            <a:avLst/>
          </a:prstGeom>
          <a:noFill/>
        </p:spPr>
        <p:txBody>
          <a:bodyPr wrap="square" lIns="0" tIns="0" rIns="0" bIns="0">
            <a:spAutoFit/>
          </a:bodyPr>
          <a:lstStyle/>
          <a:p>
            <a:pPr>
              <a:lnSpc>
                <a:spcPct val="115000"/>
              </a:lnSpc>
              <a:spcAft>
                <a:spcPts val="350"/>
              </a:spcAft>
            </a:pPr>
            <a:r>
              <a:rPr sz="900" b="1">
                <a:solidFill>
                  <a:srgbClr val="2C3E50"/>
                </a:solidFill>
                <a:latin typeface="Microsoft JhengHei"/>
              </a:rPr>
              <a:t>✦ 外生化記憶鐵律 (Externalized Memory)：</a:t>
            </a:r>
            <a:r>
              <a:rPr sz="850">
                <a:solidFill>
                  <a:srgbClr val="4A5568"/>
                </a:solidFill>
                <a:latin typeface="Microsoft JhengHei"/>
              </a:rPr>
              <a:t>Anthropic 嚴禁 AI 靠腦袋記憶！所有狀態強制序列化為硬碟 JSON 與 Git 版本庫，電腦重開機一秒恢復工作進度，徹底根治上下文失憶症。</a:t>
            </a:r>
          </a:p>
          <a:p>
            <a:pPr>
              <a:lnSpc>
                <a:spcPct val="115000"/>
              </a:lnSpc>
              <a:spcAft>
                <a:spcPts val="350"/>
              </a:spcAft>
            </a:pPr>
            <a:r>
              <a:rPr sz="900" b="1">
                <a:solidFill>
                  <a:srgbClr val="2C3E50"/>
                </a:solidFill>
                <a:latin typeface="Microsoft JhengHei"/>
              </a:rPr>
              <a:t>✦ 告別碰運氣火球式生成：</a:t>
            </a:r>
            <a:r>
              <a:rPr sz="850">
                <a:solidFill>
                  <a:srgbClr val="4A5568"/>
                </a:solidFill>
                <a:latin typeface="Microsoft JhengHei"/>
              </a:rPr>
              <a:t>Sprint 合約將不可預測的亂碰運氣代碼生成，轉型為高度受治理、具備可審查推理軌跡的自動化軟體生產線，實現確定性品質把關。</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深度精髓</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深度研析精髓 (三)：AC/DC 工廠模式——工程師從「木匠」到「廠長」</a:t>
            </a:r>
          </a:p>
          <a:p>
            <a:pPr>
              <a:spcBef>
                <a:spcPts val="300"/>
              </a:spcBef>
            </a:pPr>
            <a:r>
              <a:rPr sz="950">
                <a:solidFill>
                  <a:srgbClr val="7C8695"/>
                </a:solidFill>
                <a:latin typeface="Microsoft JhengHei"/>
              </a:rPr>
              <a:t>解構 OpenAI 如何以『零人工編寫代碼』打造百萬行系統，以及防範 Agent 作弊的安檢門</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21 / 30</a:t>
            </a:r>
          </a:p>
        </p:txBody>
      </p:sp>
      <p:sp>
        <p:nvSpPr>
          <p:cNvPr id="9" name="Rounded Rectangle 8"/>
          <p:cNvSpPr/>
          <p:nvPr/>
        </p:nvSpPr>
        <p:spPr>
          <a:xfrm>
            <a:off x="731520" y="1600200"/>
            <a:ext cx="2499055" cy="228600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77824" y="172821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11" name="TextBox 10"/>
          <p:cNvSpPr txBox="1"/>
          <p:nvPr/>
        </p:nvSpPr>
        <p:spPr>
          <a:xfrm>
            <a:off x="1188720" y="1691640"/>
            <a:ext cx="1932127" cy="329184"/>
          </a:xfrm>
          <a:prstGeom prst="rect">
            <a:avLst/>
          </a:prstGeom>
          <a:noFill/>
        </p:spPr>
        <p:txBody>
          <a:bodyPr wrap="square" lIns="0" tIns="0" rIns="0" bIns="0">
            <a:spAutoFit/>
          </a:bodyPr>
          <a:lstStyle/>
          <a:p>
            <a:r>
              <a:rPr sz="1050" b="1">
                <a:solidFill>
                  <a:srgbClr val="232D38"/>
                </a:solidFill>
                <a:latin typeface="Microsoft JhengHei"/>
              </a:rPr>
              <a:t>指引 (Guide)</a:t>
            </a:r>
            <a:r>
              <a:rPr sz="850" b="1">
                <a:solidFill>
                  <a:srgbClr val="3B6E58"/>
                </a:solidFill>
                <a:latin typeface="Microsoft JhengHei"/>
              </a:rPr>
              <a:t>  [定義規格與邊界]</a:t>
            </a:r>
          </a:p>
        </p:txBody>
      </p:sp>
      <p:sp>
        <p:nvSpPr>
          <p:cNvPr id="12" name="Rectangle 11"/>
          <p:cNvSpPr/>
          <p:nvPr/>
        </p:nvSpPr>
        <p:spPr>
          <a:xfrm>
            <a:off x="877824" y="2020824"/>
            <a:ext cx="2206447" cy="10972"/>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093976"/>
            <a:ext cx="2206447" cy="1719072"/>
          </a:xfrm>
          <a:prstGeom prst="rect">
            <a:avLst/>
          </a:prstGeom>
          <a:noFill/>
        </p:spPr>
        <p:txBody>
          <a:bodyPr wrap="square" lIns="0" tIns="0" rIns="0" bIns="0">
            <a:spAutoFit/>
          </a:bodyPr>
          <a:lstStyle/>
          <a:p>
            <a:pPr>
              <a:lnSpc>
                <a:spcPct val="115000"/>
              </a:lnSpc>
              <a:spcAft>
                <a:spcPts val="350"/>
              </a:spcAft>
            </a:pPr>
            <a:r>
              <a:rPr sz="900" b="1">
                <a:solidFill>
                  <a:srgbClr val="2C3E50"/>
                </a:solidFill>
                <a:latin typeface="Microsoft JhengHei"/>
              </a:rPr>
              <a:t>✦ 制定架構標準：</a:t>
            </a:r>
            <a:r>
              <a:rPr sz="850">
                <a:solidFill>
                  <a:srgbClr val="4A5568"/>
                </a:solidFill>
                <a:latin typeface="Microsoft JhengHei"/>
              </a:rPr>
              <a:t>編寫 AGENTS.md 與 Style Rules，廠長給出精確藍圖絕不親自搬磚。</a:t>
            </a:r>
          </a:p>
        </p:txBody>
      </p:sp>
      <p:sp>
        <p:nvSpPr>
          <p:cNvPr id="14" name="Rounded Rectangle 13"/>
          <p:cNvSpPr/>
          <p:nvPr/>
        </p:nvSpPr>
        <p:spPr>
          <a:xfrm>
            <a:off x="3474720" y="1600200"/>
            <a:ext cx="2499055" cy="228600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72821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16" name="TextBox 15"/>
          <p:cNvSpPr txBox="1"/>
          <p:nvPr/>
        </p:nvSpPr>
        <p:spPr>
          <a:xfrm>
            <a:off x="3931920" y="1691640"/>
            <a:ext cx="1932127" cy="329184"/>
          </a:xfrm>
          <a:prstGeom prst="rect">
            <a:avLst/>
          </a:prstGeom>
          <a:noFill/>
        </p:spPr>
        <p:txBody>
          <a:bodyPr wrap="square" lIns="0" tIns="0" rIns="0" bIns="0">
            <a:spAutoFit/>
          </a:bodyPr>
          <a:lstStyle/>
          <a:p>
            <a:r>
              <a:rPr sz="1050" b="1">
                <a:solidFill>
                  <a:srgbClr val="232D38"/>
                </a:solidFill>
                <a:latin typeface="Microsoft JhengHei"/>
              </a:rPr>
              <a:t>生成 (Generate)</a:t>
            </a:r>
            <a:r>
              <a:rPr sz="850" b="1">
                <a:solidFill>
                  <a:srgbClr val="3B6E58"/>
                </a:solidFill>
                <a:latin typeface="Microsoft JhengHei"/>
              </a:rPr>
              <a:t>  [封閉沙盒內產出]</a:t>
            </a:r>
          </a:p>
        </p:txBody>
      </p:sp>
      <p:sp>
        <p:nvSpPr>
          <p:cNvPr id="17" name="Rectangle 16"/>
          <p:cNvSpPr/>
          <p:nvPr/>
        </p:nvSpPr>
        <p:spPr>
          <a:xfrm>
            <a:off x="3621024" y="2020824"/>
            <a:ext cx="2206447" cy="10972"/>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21024" y="2093976"/>
            <a:ext cx="2206447" cy="1719072"/>
          </a:xfrm>
          <a:prstGeom prst="rect">
            <a:avLst/>
          </a:prstGeom>
          <a:noFill/>
        </p:spPr>
        <p:txBody>
          <a:bodyPr wrap="square" lIns="0" tIns="0" rIns="0" bIns="0">
            <a:spAutoFit/>
          </a:bodyPr>
          <a:lstStyle/>
          <a:p>
            <a:pPr>
              <a:lnSpc>
                <a:spcPct val="115000"/>
              </a:lnSpc>
              <a:spcAft>
                <a:spcPts val="350"/>
              </a:spcAft>
            </a:pPr>
            <a:r>
              <a:rPr sz="900" b="1">
                <a:solidFill>
                  <a:srgbClr val="2C3E50"/>
                </a:solidFill>
                <a:latin typeface="Microsoft JhengHei"/>
              </a:rPr>
              <a:t>✦ 受控隔離實作：</a:t>
            </a:r>
            <a:r>
              <a:rPr sz="850">
                <a:solidFill>
                  <a:srgbClr val="4A5568"/>
                </a:solidFill>
                <a:latin typeface="Microsoft JhengHei"/>
              </a:rPr>
              <a:t>AI 碼農在獨立 Docker 沙盒內以高思考預算榨乾邏輯潛能產生代碼。</a:t>
            </a:r>
          </a:p>
        </p:txBody>
      </p:sp>
      <p:sp>
        <p:nvSpPr>
          <p:cNvPr id="19" name="Rounded Rectangle 18"/>
          <p:cNvSpPr/>
          <p:nvPr/>
        </p:nvSpPr>
        <p:spPr>
          <a:xfrm>
            <a:off x="6217920" y="1600200"/>
            <a:ext cx="2499055" cy="228600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64224" y="172821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21" name="TextBox 20"/>
          <p:cNvSpPr txBox="1"/>
          <p:nvPr/>
        </p:nvSpPr>
        <p:spPr>
          <a:xfrm>
            <a:off x="6675120" y="1691640"/>
            <a:ext cx="1932127" cy="329184"/>
          </a:xfrm>
          <a:prstGeom prst="rect">
            <a:avLst/>
          </a:prstGeom>
          <a:noFill/>
        </p:spPr>
        <p:txBody>
          <a:bodyPr wrap="square" lIns="0" tIns="0" rIns="0" bIns="0">
            <a:spAutoFit/>
          </a:bodyPr>
          <a:lstStyle/>
          <a:p>
            <a:r>
              <a:rPr sz="1050" b="1">
                <a:solidFill>
                  <a:srgbClr val="232D38"/>
                </a:solidFill>
                <a:latin typeface="Microsoft JhengHei"/>
              </a:rPr>
              <a:t>驗證 (Verify)</a:t>
            </a:r>
            <a:r>
              <a:rPr sz="850" b="1">
                <a:solidFill>
                  <a:srgbClr val="3B6E58"/>
                </a:solidFill>
                <a:latin typeface="Microsoft JhengHei"/>
              </a:rPr>
              <a:t>  [獨立外部安檢門]</a:t>
            </a:r>
          </a:p>
        </p:txBody>
      </p:sp>
      <p:sp>
        <p:nvSpPr>
          <p:cNvPr id="22" name="Rectangle 21"/>
          <p:cNvSpPr/>
          <p:nvPr/>
        </p:nvSpPr>
        <p:spPr>
          <a:xfrm>
            <a:off x="6364224" y="2020824"/>
            <a:ext cx="2206447" cy="10972"/>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64224" y="2093976"/>
            <a:ext cx="2206447" cy="1719072"/>
          </a:xfrm>
          <a:prstGeom prst="rect">
            <a:avLst/>
          </a:prstGeom>
          <a:noFill/>
        </p:spPr>
        <p:txBody>
          <a:bodyPr wrap="square" lIns="0" tIns="0" rIns="0" bIns="0">
            <a:spAutoFit/>
          </a:bodyPr>
          <a:lstStyle/>
          <a:p>
            <a:pPr>
              <a:lnSpc>
                <a:spcPct val="115000"/>
              </a:lnSpc>
              <a:spcAft>
                <a:spcPts val="350"/>
              </a:spcAft>
            </a:pPr>
            <a:r>
              <a:rPr sz="900" b="1">
                <a:solidFill>
                  <a:srgbClr val="2C3E50"/>
                </a:solidFill>
                <a:latin typeface="Microsoft JhengHei"/>
              </a:rPr>
              <a:t>✦ 客觀安檢閘門：</a:t>
            </a:r>
            <a:r>
              <a:rPr sz="850">
                <a:solidFill>
                  <a:srgbClr val="4A5568"/>
                </a:solidFill>
                <a:latin typeface="Microsoft JhengHei"/>
              </a:rPr>
              <a:t>部署 SAST/SCA 外部安檢門，Agent 碰不到開關，杜絕偷改測試期望值！</a:t>
            </a:r>
          </a:p>
        </p:txBody>
      </p:sp>
      <p:sp>
        <p:nvSpPr>
          <p:cNvPr id="24" name="Rounded Rectangle 23"/>
          <p:cNvSpPr/>
          <p:nvPr/>
        </p:nvSpPr>
        <p:spPr>
          <a:xfrm>
            <a:off x="8961120" y="1600200"/>
            <a:ext cx="2499055" cy="228600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07424" y="172821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4</a:t>
            </a:r>
          </a:p>
        </p:txBody>
      </p:sp>
      <p:sp>
        <p:nvSpPr>
          <p:cNvPr id="26" name="TextBox 25"/>
          <p:cNvSpPr txBox="1"/>
          <p:nvPr/>
        </p:nvSpPr>
        <p:spPr>
          <a:xfrm>
            <a:off x="9418320" y="1691640"/>
            <a:ext cx="1932127" cy="329184"/>
          </a:xfrm>
          <a:prstGeom prst="rect">
            <a:avLst/>
          </a:prstGeom>
          <a:noFill/>
        </p:spPr>
        <p:txBody>
          <a:bodyPr wrap="square" lIns="0" tIns="0" rIns="0" bIns="0">
            <a:spAutoFit/>
          </a:bodyPr>
          <a:lstStyle/>
          <a:p>
            <a:r>
              <a:rPr sz="1050" b="1">
                <a:solidFill>
                  <a:srgbClr val="232D38"/>
                </a:solidFill>
                <a:latin typeface="Microsoft JhengHei"/>
              </a:rPr>
              <a:t>修復 (Solve)</a:t>
            </a:r>
            <a:r>
              <a:rPr sz="850" b="1">
                <a:solidFill>
                  <a:srgbClr val="3B6E58"/>
                </a:solidFill>
                <a:latin typeface="Microsoft JhengHei"/>
              </a:rPr>
              <a:t>  [自動化退件重做]</a:t>
            </a:r>
          </a:p>
        </p:txBody>
      </p:sp>
      <p:sp>
        <p:nvSpPr>
          <p:cNvPr id="27" name="Rectangle 26"/>
          <p:cNvSpPr/>
          <p:nvPr/>
        </p:nvSpPr>
        <p:spPr>
          <a:xfrm>
            <a:off x="9107424" y="2020824"/>
            <a:ext cx="2206447" cy="10972"/>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2093976"/>
            <a:ext cx="2206447" cy="1719072"/>
          </a:xfrm>
          <a:prstGeom prst="rect">
            <a:avLst/>
          </a:prstGeom>
          <a:noFill/>
        </p:spPr>
        <p:txBody>
          <a:bodyPr wrap="square" lIns="0" tIns="0" rIns="0" bIns="0">
            <a:spAutoFit/>
          </a:bodyPr>
          <a:lstStyle/>
          <a:p>
            <a:pPr>
              <a:lnSpc>
                <a:spcPct val="115000"/>
              </a:lnSpc>
              <a:spcAft>
                <a:spcPts val="350"/>
              </a:spcAft>
            </a:pPr>
            <a:r>
              <a:rPr sz="900" b="1">
                <a:solidFill>
                  <a:srgbClr val="2C3E50"/>
                </a:solidFill>
                <a:latin typeface="Microsoft JhengHei"/>
              </a:rPr>
              <a:t>✦ 閉環自動修復：</a:t>
            </a:r>
            <a:r>
              <a:rPr sz="850">
                <a:solidFill>
                  <a:srgbClr val="4A5568"/>
                </a:solidFill>
                <a:latin typeface="Microsoft JhengHei"/>
              </a:rPr>
              <a:t>未過安檢自動將錯誤堆疊甩回修復流水線，自主除錯迭代直到全綠燈。</a:t>
            </a:r>
          </a:p>
        </p:txBody>
      </p:sp>
      <p:sp>
        <p:nvSpPr>
          <p:cNvPr id="29" name="Rounded Rectangle 28"/>
          <p:cNvSpPr/>
          <p:nvPr/>
        </p:nvSpPr>
        <p:spPr>
          <a:xfrm>
            <a:off x="731520" y="4069080"/>
            <a:ext cx="10728655"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百萬行零人工編碼之謎：安檢門與身分轉變</a:t>
            </a:r>
            <a:r>
              <a:rPr sz="850" b="1">
                <a:solidFill>
                  <a:srgbClr val="D6CEBF"/>
                </a:solidFill>
                <a:latin typeface="Microsoft JhengHei"/>
              </a:rPr>
              <a:t>  [THE ZERO-LINE REVOLUTION]</a:t>
            </a:r>
          </a:p>
        </p:txBody>
      </p:sp>
      <p:sp>
        <p:nvSpPr>
          <p:cNvPr id="30" name="Rounded Rectangle 29"/>
          <p:cNvSpPr/>
          <p:nvPr/>
        </p:nvSpPr>
        <p:spPr>
          <a:xfrm>
            <a:off x="731520" y="4636008"/>
            <a:ext cx="10728655" cy="451103"/>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77824" y="4745736"/>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32" name="TextBox 31"/>
          <p:cNvSpPr txBox="1"/>
          <p:nvPr/>
        </p:nvSpPr>
        <p:spPr>
          <a:xfrm>
            <a:off x="1207008" y="4709160"/>
            <a:ext cx="10161727" cy="304799"/>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百萬行零人工編碼實證：</a:t>
            </a:r>
            <a:r>
              <a:rPr sz="900">
                <a:solidFill>
                  <a:srgbClr val="4A5568"/>
                </a:solidFill>
                <a:latin typeface="Microsoft JhengHei"/>
              </a:rPr>
              <a:t>OpenAI 團隊實證完成百萬行級生產系統交付，人類無手寫任何一行業務代碼，全部精力 100% 聚焦於設計約束環境、驗收標準與架構拓撲。</a:t>
            </a:r>
          </a:p>
        </p:txBody>
      </p:sp>
      <p:sp>
        <p:nvSpPr>
          <p:cNvPr id="33" name="Rounded Rectangle 32"/>
          <p:cNvSpPr/>
          <p:nvPr/>
        </p:nvSpPr>
        <p:spPr>
          <a:xfrm>
            <a:off x="731520" y="5178552"/>
            <a:ext cx="10728655" cy="451103"/>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77824" y="5288280"/>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35" name="TextBox 34"/>
          <p:cNvSpPr txBox="1"/>
          <p:nvPr/>
        </p:nvSpPr>
        <p:spPr>
          <a:xfrm>
            <a:off x="1207008" y="5251704"/>
            <a:ext cx="10161727" cy="304799"/>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防範 Agent 竄改測試作弊：</a:t>
            </a:r>
            <a:r>
              <a:rPr sz="900">
                <a:solidFill>
                  <a:srgbClr val="4A5568"/>
                </a:solidFill>
                <a:latin typeface="Microsoft JhengHei"/>
              </a:rPr>
              <a:t>Agent 遭遇失敗本能會偷改 test script 期望值以偽造綠燈！AC/DC 鐵律規定 Verify 邏輯與測試配置必須由人類掌控並完全獨立於 Agent 權限之外。</a:t>
            </a:r>
          </a:p>
        </p:txBody>
      </p:sp>
      <p:sp>
        <p:nvSpPr>
          <p:cNvPr id="36" name="Rounded Rectangle 35"/>
          <p:cNvSpPr/>
          <p:nvPr/>
        </p:nvSpPr>
        <p:spPr>
          <a:xfrm>
            <a:off x="731520" y="5721096"/>
            <a:ext cx="10728655" cy="451103"/>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77824" y="5830824"/>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38" name="TextBox 37"/>
          <p:cNvSpPr txBox="1"/>
          <p:nvPr/>
        </p:nvSpPr>
        <p:spPr>
          <a:xfrm>
            <a:off x="1207008" y="5794248"/>
            <a:ext cx="10161727" cy="304799"/>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工程師身分質變 (Governor)：</a:t>
            </a:r>
            <a:r>
              <a:rPr sz="900">
                <a:solidFill>
                  <a:srgbClr val="4A5568"/>
                </a:solidFill>
                <a:latin typeface="Microsoft JhengHei"/>
              </a:rPr>
              <a:t>軟體工程師不再是記憶語法、手動補全的打字工匠，而是轉身為掌控自動化代理艦隊、設計安全沙盒與多層級調度策略的系統治理者與導師。</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深度精髓</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深度研析精髓 (四)：軟鷹架會死，硬鷹架永生——終局戰略判斷</a:t>
            </a:r>
          </a:p>
          <a:p>
            <a:pPr>
              <a:spcBef>
                <a:spcPts val="300"/>
              </a:spcBef>
            </a:pPr>
            <a:r>
              <a:rPr sz="950">
                <a:solidFill>
                  <a:srgbClr val="7C8695"/>
                </a:solidFill>
                <a:latin typeface="Microsoft JhengHei"/>
              </a:rPr>
              <a:t>回應 Google Logan Kilpatrick「模型吞噬框架」論題：什麼會被淘汰？什麼永遠不可替代？</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22 / 30</a:t>
            </a:r>
          </a:p>
        </p:txBody>
      </p:sp>
      <p:sp>
        <p:nvSpPr>
          <p:cNvPr id="9" name="Rounded Rectangle 8"/>
          <p:cNvSpPr/>
          <p:nvPr/>
        </p:nvSpPr>
        <p:spPr>
          <a:xfrm>
            <a:off x="731520" y="1600200"/>
            <a:ext cx="5212080"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軟鷹架：注定被大模型原生吸收的過渡產物</a:t>
            </a:r>
            <a:r>
              <a:rPr sz="850" b="1">
                <a:solidFill>
                  <a:srgbClr val="D6CEBF"/>
                </a:solidFill>
                <a:latin typeface="Microsoft JhengHei"/>
              </a:rPr>
              <a:t>  [WILL BE ABSORBED]</a:t>
            </a:r>
          </a:p>
        </p:txBody>
      </p:sp>
      <p:sp>
        <p:nvSpPr>
          <p:cNvPr id="10" name="Rounded Rectangle 9"/>
          <p:cNvSpPr/>
          <p:nvPr/>
        </p:nvSpPr>
        <p:spPr>
          <a:xfrm>
            <a:off x="731520" y="2167128"/>
            <a:ext cx="5212080" cy="127406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2276856"/>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12" name="TextBox 11"/>
          <p:cNvSpPr txBox="1"/>
          <p:nvPr/>
        </p:nvSpPr>
        <p:spPr>
          <a:xfrm>
            <a:off x="1207008" y="2240280"/>
            <a:ext cx="4645152" cy="112776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Prompt 工程模板與包裝：</a:t>
            </a:r>
            <a:r>
              <a:rPr sz="900">
                <a:solidFill>
                  <a:srgbClr val="4A5568"/>
                </a:solidFill>
                <a:latin typeface="Microsoft JhengHei"/>
              </a:rPr>
              <a:t>靜態系統提示詞、思考鏈引導模板等膠水層，正被次世代模型的原生內在推理機制無情淘汰吸收。</a:t>
            </a:r>
          </a:p>
        </p:txBody>
      </p:sp>
      <p:sp>
        <p:nvSpPr>
          <p:cNvPr id="13" name="Rounded Rectangle 12"/>
          <p:cNvSpPr/>
          <p:nvPr/>
        </p:nvSpPr>
        <p:spPr>
          <a:xfrm>
            <a:off x="731520" y="3532632"/>
            <a:ext cx="5212080" cy="127406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3642360"/>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15" name="TextBox 14"/>
          <p:cNvSpPr txBox="1"/>
          <p:nvPr/>
        </p:nvSpPr>
        <p:spPr>
          <a:xfrm>
            <a:off x="1207008" y="3605784"/>
            <a:ext cx="4645152" cy="112776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陽春 ReAct 循環：</a:t>
            </a:r>
            <a:r>
              <a:rPr sz="900">
                <a:solidFill>
                  <a:srgbClr val="4A5568"/>
                </a:solidFill>
                <a:latin typeface="Microsoft JhengHei"/>
              </a:rPr>
              <a:t>簡單的「思考-行動-觀察」單純重試邏輯，已逐步演化為模型原生的多步規劃本能，無獨立存在價值。</a:t>
            </a:r>
          </a:p>
        </p:txBody>
      </p:sp>
      <p:sp>
        <p:nvSpPr>
          <p:cNvPr id="16" name="Rounded Rectangle 15"/>
          <p:cNvSpPr/>
          <p:nvPr/>
        </p:nvSpPr>
        <p:spPr>
          <a:xfrm>
            <a:off x="731520" y="4898136"/>
            <a:ext cx="5212080" cy="127406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77824" y="5007864"/>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18" name="TextBox 17"/>
          <p:cNvSpPr txBox="1"/>
          <p:nvPr/>
        </p:nvSpPr>
        <p:spPr>
          <a:xfrm>
            <a:off x="1207008" y="4971288"/>
            <a:ext cx="4645152" cy="112776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輕量工具呼叫封裝層：</a:t>
            </a:r>
            <a:r>
              <a:rPr sz="900">
                <a:solidFill>
                  <a:srgbClr val="4A5568"/>
                </a:solidFill>
                <a:latin typeface="Microsoft JhengHei"/>
              </a:rPr>
              <a:t>單純的 API 封裝新創缺乏技術護城河，隨著模型原生支援 Function Calling 與上下文感知而快速商品化。</a:t>
            </a:r>
          </a:p>
        </p:txBody>
      </p:sp>
      <p:sp>
        <p:nvSpPr>
          <p:cNvPr id="19" name="Rounded Rectangle 18"/>
          <p:cNvSpPr/>
          <p:nvPr/>
        </p:nvSpPr>
        <p:spPr>
          <a:xfrm>
            <a:off x="6217920" y="1600200"/>
            <a:ext cx="5242255" cy="475488"/>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00584"/>
          <a:lstStyle/>
          <a:p>
            <a:pPr algn="ctr"/>
            <a:r>
              <a:rPr sz="950" b="1">
                <a:solidFill>
                  <a:srgbClr val="A5D6A7"/>
                </a:solidFill>
              </a:rPr>
              <a:t>✦ </a:t>
            </a:r>
            <a:r>
              <a:rPr sz="1100" b="1">
                <a:solidFill>
                  <a:srgbClr val="FFFFFF"/>
                </a:solidFill>
                <a:latin typeface="Microsoft JhengHei"/>
              </a:rPr>
              <a:t>硬鷹架：外部確定性物理與制度防線</a:t>
            </a:r>
            <a:r>
              <a:rPr sz="850" b="1">
                <a:solidFill>
                  <a:srgbClr val="D6CEBF"/>
                </a:solidFill>
                <a:latin typeface="Microsoft JhengHei"/>
              </a:rPr>
              <a:t>  [IMMORTAL INFRASTRUCTURE]</a:t>
            </a:r>
          </a:p>
        </p:txBody>
      </p:sp>
      <p:sp>
        <p:nvSpPr>
          <p:cNvPr id="20" name="Rounded Rectangle 19"/>
          <p:cNvSpPr/>
          <p:nvPr/>
        </p:nvSpPr>
        <p:spPr>
          <a:xfrm>
            <a:off x="6217920" y="2167128"/>
            <a:ext cx="5242255" cy="127406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227685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22" name="TextBox 21"/>
          <p:cNvSpPr txBox="1"/>
          <p:nvPr/>
        </p:nvSpPr>
        <p:spPr>
          <a:xfrm>
            <a:off x="6693408" y="2240280"/>
            <a:ext cx="4675327" cy="112776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OS 級 Docker/MicroVM 沙盒：</a:t>
            </a:r>
            <a:r>
              <a:rPr sz="900">
                <a:solidFill>
                  <a:srgbClr val="4A5568"/>
                </a:solidFill>
                <a:latin typeface="Microsoft JhengHei"/>
              </a:rPr>
              <a:t>不可逆危險命令隔離、底層虛擬化與環境復原，機率模型永遠無法在自身神經權重中提供物理防護。</a:t>
            </a:r>
          </a:p>
        </p:txBody>
      </p:sp>
      <p:sp>
        <p:nvSpPr>
          <p:cNvPr id="23" name="Rounded Rectangle 22"/>
          <p:cNvSpPr/>
          <p:nvPr/>
        </p:nvSpPr>
        <p:spPr>
          <a:xfrm>
            <a:off x="6217920" y="3532632"/>
            <a:ext cx="5242255" cy="127406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64224" y="3642360"/>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25" name="TextBox 24"/>
          <p:cNvSpPr txBox="1"/>
          <p:nvPr/>
        </p:nvSpPr>
        <p:spPr>
          <a:xfrm>
            <a:off x="6693408" y="3605784"/>
            <a:ext cx="4675327" cy="112776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企業 IAM / RBAC 鑑權體系：</a:t>
            </a:r>
            <a:r>
              <a:rPr sz="900">
                <a:solidFill>
                  <a:srgbClr val="4A5568"/>
                </a:solidFill>
                <a:latin typeface="Microsoft JhengHei"/>
              </a:rPr>
              <a:t>機敏資料訪問授權、不可篡改之審計軌跡與金融級法規遵循，必須長存於模型之外作為剛性防線。</a:t>
            </a:r>
          </a:p>
        </p:txBody>
      </p:sp>
      <p:sp>
        <p:nvSpPr>
          <p:cNvPr id="26" name="Rounded Rectangle 25"/>
          <p:cNvSpPr/>
          <p:nvPr/>
        </p:nvSpPr>
        <p:spPr>
          <a:xfrm>
            <a:off x="6217920" y="4898136"/>
            <a:ext cx="5242255" cy="1274064"/>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64224" y="5007864"/>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28" name="TextBox 27"/>
          <p:cNvSpPr txBox="1"/>
          <p:nvPr/>
        </p:nvSpPr>
        <p:spPr>
          <a:xfrm>
            <a:off x="6693408" y="4971288"/>
            <a:ext cx="4675327" cy="1127760"/>
          </a:xfrm>
          <a:prstGeom prst="rect">
            <a:avLst/>
          </a:prstGeom>
          <a:noFill/>
        </p:spPr>
        <p:txBody>
          <a:bodyPr wrap="square" lIns="0" tIns="0" rIns="0" bIns="0">
            <a:spAutoFit/>
          </a:bodyPr>
          <a:lstStyle/>
          <a:p>
            <a:pPr>
              <a:lnSpc>
                <a:spcPct val="118000"/>
              </a:lnSpc>
            </a:pPr>
            <a:r>
              <a:rPr sz="950" b="1">
                <a:solidFill>
                  <a:srgbClr val="2C3E50"/>
                </a:solidFill>
                <a:latin typeface="Microsoft JhengHei"/>
              </a:rPr>
              <a:t>外部獨立客觀驗收門檻：</a:t>
            </a:r>
            <a:r>
              <a:rPr sz="900">
                <a:solidFill>
                  <a:srgbClr val="4A5568"/>
                </a:solidFill>
                <a:latin typeface="Microsoft JhengHei"/>
              </a:rPr>
              <a:t>根據資訊理論與圖靈停機問題，機率模型在邏輯上永遠不可能自我監督！外部驗證門檻具備永恆存在價值。</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專家洞察</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AI Agent Harness 專家的七大核心觀點精髓 (人話版總覽)</a:t>
            </a:r>
          </a:p>
          <a:p>
            <a:pPr>
              <a:spcBef>
                <a:spcPts val="300"/>
              </a:spcBef>
            </a:pPr>
            <a:r>
              <a:rPr sz="950">
                <a:solidFill>
                  <a:srgbClr val="7C8695"/>
                </a:solidFill>
                <a:latin typeface="Microsoft JhengHei"/>
              </a:rPr>
              <a:t>將 3 萬字前沿文獻凝練為七大不可動搖的軟體工程黃金定律</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23 / 30</a:t>
            </a:r>
          </a:p>
        </p:txBody>
      </p:sp>
      <p:sp>
        <p:nvSpPr>
          <p:cNvPr id="9" name="Rounded Rectangle 8"/>
          <p:cNvSpPr/>
          <p:nvPr/>
        </p:nvSpPr>
        <p:spPr>
          <a:xfrm>
            <a:off x="731520" y="1600200"/>
            <a:ext cx="5212080" cy="105156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77824" y="172821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11" name="TextBox 10"/>
          <p:cNvSpPr txBox="1"/>
          <p:nvPr/>
        </p:nvSpPr>
        <p:spPr>
          <a:xfrm>
            <a:off x="1188720" y="1691640"/>
            <a:ext cx="4645152" cy="329184"/>
          </a:xfrm>
          <a:prstGeom prst="rect">
            <a:avLst/>
          </a:prstGeom>
          <a:noFill/>
        </p:spPr>
        <p:txBody>
          <a:bodyPr wrap="square" lIns="0" tIns="0" rIns="0" bIns="0">
            <a:spAutoFit/>
          </a:bodyPr>
          <a:lstStyle/>
          <a:p>
            <a:r>
              <a:rPr sz="1050" b="1">
                <a:solidFill>
                  <a:srgbClr val="232D38"/>
                </a:solidFill>
                <a:latin typeface="Microsoft JhengHei"/>
              </a:rPr>
              <a:t>模型是機率生成器，Harness 是確定性工程約束</a:t>
            </a:r>
            <a:r>
              <a:rPr sz="850" b="1">
                <a:solidFill>
                  <a:srgbClr val="3B6E58"/>
                </a:solidFill>
                <a:latin typeface="Microsoft JhengHei"/>
              </a:rPr>
              <a:t>  [RULE 01]</a:t>
            </a:r>
          </a:p>
        </p:txBody>
      </p:sp>
      <p:sp>
        <p:nvSpPr>
          <p:cNvPr id="12" name="TextBox 11"/>
          <p:cNvSpPr txBox="1"/>
          <p:nvPr/>
        </p:nvSpPr>
        <p:spPr>
          <a:xfrm>
            <a:off x="877824" y="2039112"/>
            <a:ext cx="4919472" cy="539496"/>
          </a:xfrm>
          <a:prstGeom prst="rect">
            <a:avLst/>
          </a:prstGeom>
          <a:noFill/>
        </p:spPr>
        <p:txBody>
          <a:bodyPr wrap="square" lIns="0" tIns="0" rIns="0" bIns="0">
            <a:spAutoFit/>
          </a:bodyPr>
          <a:lstStyle/>
          <a:p>
            <a:pPr>
              <a:lnSpc>
                <a:spcPct val="115000"/>
              </a:lnSpc>
              <a:spcAft>
                <a:spcPts val="350"/>
              </a:spcAft>
            </a:pPr>
            <a:r>
              <a:rPr sz="850">
                <a:solidFill>
                  <a:srgbClr val="4A5568"/>
                </a:solidFill>
                <a:latin typeface="Microsoft JhengHei"/>
              </a:rPr>
              <a:t>✦ AI 就像一匹體力無限但會發瘋的野馬；Harness 是馬鞍、韁繩與圍欄。再聰明的 LLM 都有幻覺與注意力漂移，必須靠沙盒、Git 狀態機與強制測試等工程約束才能保證可預測交付。</a:t>
            </a:r>
          </a:p>
        </p:txBody>
      </p:sp>
      <p:sp>
        <p:nvSpPr>
          <p:cNvPr id="13" name="Rounded Rectangle 12"/>
          <p:cNvSpPr/>
          <p:nvPr/>
        </p:nvSpPr>
        <p:spPr>
          <a:xfrm>
            <a:off x="731520" y="2743200"/>
            <a:ext cx="5212080" cy="105156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87121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15" name="TextBox 14"/>
          <p:cNvSpPr txBox="1"/>
          <p:nvPr/>
        </p:nvSpPr>
        <p:spPr>
          <a:xfrm>
            <a:off x="1188720" y="2834640"/>
            <a:ext cx="4645152" cy="329184"/>
          </a:xfrm>
          <a:prstGeom prst="rect">
            <a:avLst/>
          </a:prstGeom>
          <a:noFill/>
        </p:spPr>
        <p:txBody>
          <a:bodyPr wrap="square" lIns="0" tIns="0" rIns="0" bIns="0">
            <a:spAutoFit/>
          </a:bodyPr>
          <a:lstStyle/>
          <a:p>
            <a:r>
              <a:rPr sz="1050" b="1">
                <a:solidFill>
                  <a:srgbClr val="232D38"/>
                </a:solidFill>
                <a:latin typeface="Microsoft JhengHei"/>
              </a:rPr>
              <a:t>三層外生化記憶架構，徹底告別上下文失憶症</a:t>
            </a:r>
            <a:r>
              <a:rPr sz="850" b="1">
                <a:solidFill>
                  <a:srgbClr val="3B6E58"/>
                </a:solidFill>
                <a:latin typeface="Microsoft JhengHei"/>
              </a:rPr>
              <a:t>  [RULE 02]</a:t>
            </a:r>
          </a:p>
        </p:txBody>
      </p:sp>
      <p:sp>
        <p:nvSpPr>
          <p:cNvPr id="16" name="TextBox 15"/>
          <p:cNvSpPr txBox="1"/>
          <p:nvPr/>
        </p:nvSpPr>
        <p:spPr>
          <a:xfrm>
            <a:off x="877824" y="3182112"/>
            <a:ext cx="4919472" cy="539496"/>
          </a:xfrm>
          <a:prstGeom prst="rect">
            <a:avLst/>
          </a:prstGeom>
          <a:noFill/>
        </p:spPr>
        <p:txBody>
          <a:bodyPr wrap="square" lIns="0" tIns="0" rIns="0" bIns="0">
            <a:spAutoFit/>
          </a:bodyPr>
          <a:lstStyle/>
          <a:p>
            <a:pPr>
              <a:lnSpc>
                <a:spcPct val="115000"/>
              </a:lnSpc>
              <a:spcAft>
                <a:spcPts val="350"/>
              </a:spcAft>
            </a:pPr>
            <a:r>
              <a:rPr sz="850">
                <a:solidFill>
                  <a:srgbClr val="4A5568"/>
                </a:solidFill>
                <a:latin typeface="Microsoft JhengHei"/>
              </a:rPr>
              <a:t>✦ 專案狀態存硬碟 (JSON/Git)，絕不存模型腦子！拆分 L1 工作記憶 (當前步驟)、L2 會話記憶 (Sprint 進度)、L3 長期記憶 (專案 DNA)。從依賴 context window 回憶轉向外生化檢索。</a:t>
            </a:r>
          </a:p>
        </p:txBody>
      </p:sp>
      <p:sp>
        <p:nvSpPr>
          <p:cNvPr id="17" name="Rounded Rectangle 16"/>
          <p:cNvSpPr/>
          <p:nvPr/>
        </p:nvSpPr>
        <p:spPr>
          <a:xfrm>
            <a:off x="731520" y="3886200"/>
            <a:ext cx="5212080" cy="105156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77824" y="4014215"/>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19" name="TextBox 18"/>
          <p:cNvSpPr txBox="1"/>
          <p:nvPr/>
        </p:nvSpPr>
        <p:spPr>
          <a:xfrm>
            <a:off x="1188720" y="3977639"/>
            <a:ext cx="4645152" cy="329184"/>
          </a:xfrm>
          <a:prstGeom prst="rect">
            <a:avLst/>
          </a:prstGeom>
          <a:noFill/>
        </p:spPr>
        <p:txBody>
          <a:bodyPr wrap="square" lIns="0" tIns="0" rIns="0" bIns="0">
            <a:spAutoFit/>
          </a:bodyPr>
          <a:lstStyle/>
          <a:p>
            <a:r>
              <a:rPr sz="1050" b="1">
                <a:solidFill>
                  <a:srgbClr val="232D38"/>
                </a:solidFill>
                <a:latin typeface="Microsoft JhengHei"/>
              </a:rPr>
              <a:t>角色嚴格三權分立，絕不允許寫碼 Agent 自我驗收</a:t>
            </a:r>
            <a:r>
              <a:rPr sz="850" b="1">
                <a:solidFill>
                  <a:srgbClr val="3B6E58"/>
                </a:solidFill>
                <a:latin typeface="Microsoft JhengHei"/>
              </a:rPr>
              <a:t>  [RULE 03]</a:t>
            </a:r>
          </a:p>
        </p:txBody>
      </p:sp>
      <p:sp>
        <p:nvSpPr>
          <p:cNvPr id="20" name="TextBox 19"/>
          <p:cNvSpPr txBox="1"/>
          <p:nvPr/>
        </p:nvSpPr>
        <p:spPr>
          <a:xfrm>
            <a:off x="877824" y="4325112"/>
            <a:ext cx="4919472" cy="539495"/>
          </a:xfrm>
          <a:prstGeom prst="rect">
            <a:avLst/>
          </a:prstGeom>
          <a:noFill/>
        </p:spPr>
        <p:txBody>
          <a:bodyPr wrap="square" lIns="0" tIns="0" rIns="0" bIns="0">
            <a:spAutoFit/>
          </a:bodyPr>
          <a:lstStyle/>
          <a:p>
            <a:pPr>
              <a:lnSpc>
                <a:spcPct val="115000"/>
              </a:lnSpc>
              <a:spcAft>
                <a:spcPts val="350"/>
              </a:spcAft>
            </a:pPr>
            <a:r>
              <a:rPr sz="850">
                <a:solidFill>
                  <a:srgbClr val="4A5568"/>
                </a:solidFill>
                <a:latin typeface="Microsoft JhengHei"/>
              </a:rPr>
              <a:t>✦ 規劃師 (只拆解需求)、碼農 (動工前簽 Sprint 合約)、機車品管 (以懷疑者姿態跑實體測試)。打破自我包庇偏差，必須透過靜態 Linter、編譯器與 Playwright 無頭瀏覽器硬性驗證。</a:t>
            </a:r>
          </a:p>
        </p:txBody>
      </p:sp>
      <p:sp>
        <p:nvSpPr>
          <p:cNvPr id="21" name="Rounded Rectangle 20"/>
          <p:cNvSpPr/>
          <p:nvPr/>
        </p:nvSpPr>
        <p:spPr>
          <a:xfrm>
            <a:off x="731520" y="5029200"/>
            <a:ext cx="5212080" cy="105156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77824" y="515721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4</a:t>
            </a:r>
          </a:p>
        </p:txBody>
      </p:sp>
      <p:sp>
        <p:nvSpPr>
          <p:cNvPr id="23" name="TextBox 22"/>
          <p:cNvSpPr txBox="1"/>
          <p:nvPr/>
        </p:nvSpPr>
        <p:spPr>
          <a:xfrm>
            <a:off x="1188720" y="5120640"/>
            <a:ext cx="4645152" cy="329184"/>
          </a:xfrm>
          <a:prstGeom prst="rect">
            <a:avLst/>
          </a:prstGeom>
          <a:noFill/>
        </p:spPr>
        <p:txBody>
          <a:bodyPr wrap="square" lIns="0" tIns="0" rIns="0" bIns="0">
            <a:spAutoFit/>
          </a:bodyPr>
          <a:lstStyle/>
          <a:p>
            <a:r>
              <a:rPr sz="1050" b="1">
                <a:solidFill>
                  <a:srgbClr val="232D38"/>
                </a:solidFill>
                <a:latin typeface="Microsoft JhengHei"/>
              </a:rPr>
              <a:t>工程師轉型為治理者，落實 AC/DC 軟體工廠範式</a:t>
            </a:r>
            <a:r>
              <a:rPr sz="850" b="1">
                <a:solidFill>
                  <a:srgbClr val="3B6E58"/>
                </a:solidFill>
                <a:latin typeface="Microsoft JhengHei"/>
              </a:rPr>
              <a:t>  [RULE 04]</a:t>
            </a:r>
          </a:p>
        </p:txBody>
      </p:sp>
      <p:sp>
        <p:nvSpPr>
          <p:cNvPr id="24" name="TextBox 23"/>
          <p:cNvSpPr txBox="1"/>
          <p:nvPr/>
        </p:nvSpPr>
        <p:spPr>
          <a:xfrm>
            <a:off x="877824" y="5468112"/>
            <a:ext cx="4919472" cy="539495"/>
          </a:xfrm>
          <a:prstGeom prst="rect">
            <a:avLst/>
          </a:prstGeom>
          <a:noFill/>
        </p:spPr>
        <p:txBody>
          <a:bodyPr wrap="square" lIns="0" tIns="0" rIns="0" bIns="0">
            <a:spAutoFit/>
          </a:bodyPr>
          <a:lstStyle/>
          <a:p>
            <a:pPr>
              <a:lnSpc>
                <a:spcPct val="115000"/>
              </a:lnSpc>
              <a:spcAft>
                <a:spcPts val="350"/>
              </a:spcAft>
            </a:pPr>
            <a:r>
              <a:rPr sz="850">
                <a:solidFill>
                  <a:srgbClr val="4A5568"/>
                </a:solidFill>
                <a:latin typeface="Microsoft JhengHei"/>
              </a:rPr>
              <a:t>✦ 工程師的核心競爭力不再是比拼打字速度或記憶語法，而是轉變為系統廠長 (Governor)——定義架構邊界 (Guide)、設計沙盒環境 (Generate)、建構防作弊驗證門 (Verify)、引導自動修復 (Solve)。</a:t>
            </a:r>
          </a:p>
        </p:txBody>
      </p:sp>
      <p:sp>
        <p:nvSpPr>
          <p:cNvPr id="25" name="Rounded Rectangle 24"/>
          <p:cNvSpPr/>
          <p:nvPr/>
        </p:nvSpPr>
        <p:spPr>
          <a:xfrm>
            <a:off x="6217920" y="1600200"/>
            <a:ext cx="5242255" cy="141732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64224" y="1728216"/>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5</a:t>
            </a:r>
          </a:p>
        </p:txBody>
      </p:sp>
      <p:sp>
        <p:nvSpPr>
          <p:cNvPr id="27" name="TextBox 26"/>
          <p:cNvSpPr txBox="1"/>
          <p:nvPr/>
        </p:nvSpPr>
        <p:spPr>
          <a:xfrm>
            <a:off x="6675120" y="1691640"/>
            <a:ext cx="4675327" cy="329184"/>
          </a:xfrm>
          <a:prstGeom prst="rect">
            <a:avLst/>
          </a:prstGeom>
          <a:noFill/>
        </p:spPr>
        <p:txBody>
          <a:bodyPr wrap="square" lIns="0" tIns="0" rIns="0" bIns="0">
            <a:spAutoFit/>
          </a:bodyPr>
          <a:lstStyle/>
          <a:p>
            <a:r>
              <a:rPr sz="1050" b="1">
                <a:solidFill>
                  <a:srgbClr val="232D38"/>
                </a:solidFill>
                <a:latin typeface="Microsoft JhengHei"/>
              </a:rPr>
              <a:t>軟鷹架注定消亡，硬鷹架永遠長存且愈顯關鍵</a:t>
            </a:r>
            <a:r>
              <a:rPr sz="850" b="1">
                <a:solidFill>
                  <a:srgbClr val="9E5A38"/>
                </a:solidFill>
                <a:latin typeface="Microsoft JhengHei"/>
              </a:rPr>
              <a:t>  [RULE 05]</a:t>
            </a:r>
          </a:p>
        </p:txBody>
      </p:sp>
      <p:sp>
        <p:nvSpPr>
          <p:cNvPr id="28" name="Rectangle 27"/>
          <p:cNvSpPr/>
          <p:nvPr/>
        </p:nvSpPr>
        <p:spPr>
          <a:xfrm>
            <a:off x="6364224" y="2020824"/>
            <a:ext cx="4949647" cy="10972"/>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2093976"/>
            <a:ext cx="4949647" cy="850392"/>
          </a:xfrm>
          <a:prstGeom prst="rect">
            <a:avLst/>
          </a:prstGeom>
          <a:noFill/>
        </p:spPr>
        <p:txBody>
          <a:bodyPr wrap="square" lIns="0" tIns="0" rIns="0" bIns="0">
            <a:spAutoFit/>
          </a:bodyPr>
          <a:lstStyle/>
          <a:p>
            <a:pPr>
              <a:lnSpc>
                <a:spcPct val="115000"/>
              </a:lnSpc>
              <a:spcAft>
                <a:spcPts val="350"/>
              </a:spcAft>
            </a:pPr>
            <a:r>
              <a:rPr sz="850">
                <a:solidFill>
                  <a:srgbClr val="4A5568"/>
                </a:solidFill>
                <a:latin typeface="Microsoft JhengHei"/>
              </a:rPr>
              <a:t>✦ 陽春的 Prompt 模板與簡單 ReAct 循環會被次世代模型原生吸收；但 OS 級沙盒隔離、企業 RBAC 權限、審計軌跡與外部客觀測試等硬核體系，隨著 AI 自主性提高反而越發不可替代。</a:t>
            </a:r>
          </a:p>
        </p:txBody>
      </p:sp>
      <p:sp>
        <p:nvSpPr>
          <p:cNvPr id="30" name="Rounded Rectangle 29"/>
          <p:cNvSpPr/>
          <p:nvPr/>
        </p:nvSpPr>
        <p:spPr>
          <a:xfrm>
            <a:off x="6217920" y="3136391"/>
            <a:ext cx="5242255" cy="141732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64224" y="3264408"/>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6</a:t>
            </a:r>
          </a:p>
        </p:txBody>
      </p:sp>
      <p:sp>
        <p:nvSpPr>
          <p:cNvPr id="32" name="TextBox 31"/>
          <p:cNvSpPr txBox="1"/>
          <p:nvPr/>
        </p:nvSpPr>
        <p:spPr>
          <a:xfrm>
            <a:off x="6675120" y="3227832"/>
            <a:ext cx="4675327" cy="329184"/>
          </a:xfrm>
          <a:prstGeom prst="rect">
            <a:avLst/>
          </a:prstGeom>
          <a:noFill/>
        </p:spPr>
        <p:txBody>
          <a:bodyPr wrap="square" lIns="0" tIns="0" rIns="0" bIns="0">
            <a:spAutoFit/>
          </a:bodyPr>
          <a:lstStyle/>
          <a:p>
            <a:r>
              <a:rPr sz="1050" b="1">
                <a:solidFill>
                  <a:srgbClr val="232D38"/>
                </a:solidFill>
                <a:latin typeface="Microsoft JhengHei"/>
              </a:rPr>
              <a:t>AI 自主性越高，外圍工程約束與韁繩必須勒得越緊</a:t>
            </a:r>
            <a:r>
              <a:rPr sz="850" b="1">
                <a:solidFill>
                  <a:srgbClr val="9E5A38"/>
                </a:solidFill>
                <a:latin typeface="Microsoft JhengHei"/>
              </a:rPr>
              <a:t>  [RULE 06]</a:t>
            </a:r>
          </a:p>
        </p:txBody>
      </p:sp>
      <p:sp>
        <p:nvSpPr>
          <p:cNvPr id="33" name="Rectangle 32"/>
          <p:cNvSpPr/>
          <p:nvPr/>
        </p:nvSpPr>
        <p:spPr>
          <a:xfrm>
            <a:off x="6364224" y="3557015"/>
            <a:ext cx="4949647" cy="10972"/>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64224" y="3630168"/>
            <a:ext cx="4949647" cy="850392"/>
          </a:xfrm>
          <a:prstGeom prst="rect">
            <a:avLst/>
          </a:prstGeom>
          <a:noFill/>
        </p:spPr>
        <p:txBody>
          <a:bodyPr wrap="square" lIns="0" tIns="0" rIns="0" bIns="0">
            <a:spAutoFit/>
          </a:bodyPr>
          <a:lstStyle/>
          <a:p>
            <a:pPr>
              <a:lnSpc>
                <a:spcPct val="115000"/>
              </a:lnSpc>
              <a:spcAft>
                <a:spcPts val="350"/>
              </a:spcAft>
            </a:pPr>
            <a:r>
              <a:rPr sz="900" b="1">
                <a:solidFill>
                  <a:srgbClr val="2C3E50"/>
                </a:solidFill>
                <a:latin typeface="Microsoft JhengHei"/>
              </a:rPr>
              <a:t>✦ 嚴格落實「提議-執行分離」：</a:t>
            </a:r>
            <a:r>
              <a:rPr sz="850">
                <a:solidFill>
                  <a:srgbClr val="4A5568"/>
                </a:solidFill>
                <a:latin typeface="Microsoft JhengHei"/>
              </a:rPr>
              <a:t>LLM 僅能提議操作，由 Harness 控制平面核准並執行。實施決策軌跡可觀測性，精準攔截「靜默失敗迴圈」，防範 Agent 在死胡同空轉燒光預算。</a:t>
            </a:r>
          </a:p>
        </p:txBody>
      </p:sp>
      <p:sp>
        <p:nvSpPr>
          <p:cNvPr id="35" name="Rounded Rectangle 34"/>
          <p:cNvSpPr/>
          <p:nvPr/>
        </p:nvSpPr>
        <p:spPr>
          <a:xfrm>
            <a:off x="6217920" y="4672583"/>
            <a:ext cx="5242255" cy="141732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64224" y="4800599"/>
            <a:ext cx="256032" cy="256032"/>
          </a:xfrm>
          <a:prstGeom prst="ellipse">
            <a:avLst/>
          </a:prstGeom>
          <a:solidFill>
            <a:srgbClr val="9E5A3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7</a:t>
            </a:r>
          </a:p>
        </p:txBody>
      </p:sp>
      <p:sp>
        <p:nvSpPr>
          <p:cNvPr id="37" name="TextBox 36"/>
          <p:cNvSpPr txBox="1"/>
          <p:nvPr/>
        </p:nvSpPr>
        <p:spPr>
          <a:xfrm>
            <a:off x="6675120" y="4764023"/>
            <a:ext cx="4675327" cy="329184"/>
          </a:xfrm>
          <a:prstGeom prst="rect">
            <a:avLst/>
          </a:prstGeom>
          <a:noFill/>
        </p:spPr>
        <p:txBody>
          <a:bodyPr wrap="square" lIns="0" tIns="0" rIns="0" bIns="0">
            <a:spAutoFit/>
          </a:bodyPr>
          <a:lstStyle/>
          <a:p>
            <a:r>
              <a:rPr sz="1050" b="1">
                <a:solidFill>
                  <a:srgbClr val="232D38"/>
                </a:solidFill>
                <a:latin typeface="Microsoft JhengHei"/>
              </a:rPr>
              <a:t>地端機敏實體隔離——階梯式協同是唯一可行落地解</a:t>
            </a:r>
            <a:r>
              <a:rPr sz="850" b="1">
                <a:solidFill>
                  <a:srgbClr val="9E5A38"/>
                </a:solidFill>
                <a:latin typeface="Microsoft JhengHei"/>
              </a:rPr>
              <a:t>  [RULE 07]</a:t>
            </a:r>
          </a:p>
        </p:txBody>
      </p:sp>
      <p:sp>
        <p:nvSpPr>
          <p:cNvPr id="38" name="Rectangle 37"/>
          <p:cNvSpPr/>
          <p:nvPr/>
        </p:nvSpPr>
        <p:spPr>
          <a:xfrm>
            <a:off x="6364224" y="5093207"/>
            <a:ext cx="4949647" cy="10972"/>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64224" y="5166359"/>
            <a:ext cx="4949647" cy="850392"/>
          </a:xfrm>
          <a:prstGeom prst="rect">
            <a:avLst/>
          </a:prstGeom>
          <a:noFill/>
        </p:spPr>
        <p:txBody>
          <a:bodyPr wrap="square" lIns="0" tIns="0" rIns="0" bIns="0">
            <a:spAutoFit/>
          </a:bodyPr>
          <a:lstStyle/>
          <a:p>
            <a:pPr>
              <a:lnSpc>
                <a:spcPct val="115000"/>
              </a:lnSpc>
              <a:spcAft>
                <a:spcPts val="350"/>
              </a:spcAft>
            </a:pPr>
            <a:r>
              <a:rPr sz="900" b="1">
                <a:solidFill>
                  <a:srgbClr val="2C3E50"/>
                </a:solidFill>
                <a:latin typeface="Microsoft JhengHei"/>
              </a:rPr>
              <a:t>✦ 面臨無法聯網的國防與機敏場景：</a:t>
            </a:r>
            <a:r>
              <a:rPr sz="850">
                <a:solidFill>
                  <a:srgbClr val="4A5568"/>
                </a:solidFill>
                <a:latin typeface="Microsoft JhengHei"/>
              </a:rPr>
              <a:t>以邊緣 4B 弱模型把守安全大門、30B 工作站模型負責日常寫碼、超複雜任務分發內部多節點 GPU 叢集，兼顧資安極限合規與最優硬體投入產出比。</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戰略行動</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企業落地決策：Harness 建設四步走戰略行動指南</a:t>
            </a:r>
          </a:p>
          <a:p>
            <a:pPr>
              <a:spcBef>
                <a:spcPts val="300"/>
              </a:spcBef>
            </a:pPr>
            <a:r>
              <a:rPr sz="950">
                <a:solidFill>
                  <a:srgbClr val="7C8695"/>
                </a:solidFill>
                <a:latin typeface="Microsoft JhengHei"/>
              </a:rPr>
              <a:t>以 Harness Engineering 驅動企業十倍研發效能與可信落地實踐</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8" name="TextBox 7"/>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24 / 30</a:t>
            </a:r>
          </a:p>
        </p:txBody>
      </p:sp>
      <p:sp>
        <p:nvSpPr>
          <p:cNvPr id="9" name="Rounded Rectangle 8"/>
          <p:cNvSpPr/>
          <p:nvPr/>
        </p:nvSpPr>
        <p:spPr>
          <a:xfrm>
            <a:off x="731520" y="1600200"/>
            <a:ext cx="10728655" cy="100584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128016" bIns="91440"/>
          <a:lstStyle/>
          <a:p>
            <a:pPr algn="ctr"/>
            <a:r>
              <a:rPr sz="1300" b="1">
                <a:solidFill>
                  <a:srgbClr val="232D38"/>
                </a:solidFill>
                <a:latin typeface="Microsoft JhengHei"/>
              </a:rPr>
              <a:t>“Winning in the AI Agent era is not about having the biggest model; </a:t>
            </a:r>
            <a:r>
              <a:rPr sz="1300" b="1">
                <a:solidFill>
                  <a:srgbClr val="9E5A38"/>
                </a:solidFill>
                <a:latin typeface="Microsoft JhengHei"/>
              </a:rPr>
              <a:t>it's about having the most robust Harness.”</a:t>
            </a:r>
          </a:p>
          <a:p>
            <a:pPr algn="ctr">
              <a:spcBef>
                <a:spcPts val="800"/>
              </a:spcBef>
            </a:pPr>
            <a:r>
              <a:rPr sz="1050">
                <a:solidFill>
                  <a:srgbClr val="7C8695"/>
                </a:solidFill>
                <a:latin typeface="Microsoft JhengHei"/>
              </a:rPr>
              <a:t>（在 AI Agent 時代取勝的關鍵，不在於擁有最大規模的模型，而在於建立最穩健的 Harness 執行環境。）</a:t>
            </a:r>
          </a:p>
        </p:txBody>
      </p:sp>
      <p:sp>
        <p:nvSpPr>
          <p:cNvPr id="10" name="Rounded Rectangle 9"/>
          <p:cNvSpPr/>
          <p:nvPr/>
        </p:nvSpPr>
        <p:spPr>
          <a:xfrm>
            <a:off x="731520" y="2788920"/>
            <a:ext cx="5242255" cy="164592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291693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1</a:t>
            </a:r>
          </a:p>
        </p:txBody>
      </p:sp>
      <p:sp>
        <p:nvSpPr>
          <p:cNvPr id="12" name="TextBox 11"/>
          <p:cNvSpPr txBox="1"/>
          <p:nvPr/>
        </p:nvSpPr>
        <p:spPr>
          <a:xfrm>
            <a:off x="1188720" y="2880360"/>
            <a:ext cx="4675327" cy="329184"/>
          </a:xfrm>
          <a:prstGeom prst="rect">
            <a:avLst/>
          </a:prstGeom>
          <a:noFill/>
        </p:spPr>
        <p:txBody>
          <a:bodyPr wrap="square" lIns="0" tIns="0" rIns="0" bIns="0">
            <a:spAutoFit/>
          </a:bodyPr>
          <a:lstStyle/>
          <a:p>
            <a:r>
              <a:rPr sz="1050" b="1">
                <a:solidFill>
                  <a:srgbClr val="232D38"/>
                </a:solidFill>
                <a:latin typeface="Microsoft JhengHei"/>
              </a:rPr>
              <a:t>重配 70% 研發投資比例</a:t>
            </a:r>
            <a:r>
              <a:rPr sz="850" b="1">
                <a:solidFill>
                  <a:srgbClr val="3B6E58"/>
                </a:solidFill>
                <a:latin typeface="Microsoft JhengHei"/>
              </a:rPr>
              <a:t>  [ACT-01]</a:t>
            </a:r>
          </a:p>
        </p:txBody>
      </p:sp>
      <p:sp>
        <p:nvSpPr>
          <p:cNvPr id="13" name="Rectangle 12"/>
          <p:cNvSpPr/>
          <p:nvPr/>
        </p:nvSpPr>
        <p:spPr>
          <a:xfrm>
            <a:off x="877824" y="3209544"/>
            <a:ext cx="4949647" cy="10972"/>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3282696"/>
            <a:ext cx="4949647" cy="1078992"/>
          </a:xfrm>
          <a:prstGeom prst="rect">
            <a:avLst/>
          </a:prstGeom>
          <a:noFill/>
        </p:spPr>
        <p:txBody>
          <a:bodyPr wrap="square" lIns="0" tIns="0" rIns="0" bIns="0">
            <a:spAutoFit/>
          </a:bodyPr>
          <a:lstStyle/>
          <a:p>
            <a:pPr>
              <a:lnSpc>
                <a:spcPct val="115000"/>
              </a:lnSpc>
              <a:spcAft>
                <a:spcPts val="350"/>
              </a:spcAft>
            </a:pPr>
            <a:r>
              <a:rPr sz="900" b="1">
                <a:solidFill>
                  <a:srgbClr val="2C3E50"/>
                </a:solidFill>
                <a:latin typeface="Microsoft JhengHei"/>
              </a:rPr>
              <a:t>✦ 資源重配：</a:t>
            </a:r>
            <a:r>
              <a:rPr sz="850">
                <a:solidFill>
                  <a:srgbClr val="4A5568"/>
                </a:solidFill>
                <a:latin typeface="Microsoft JhengHei"/>
              </a:rPr>
              <a:t>將企業 70% 的 AI 工程資源投入 Harness Engineering。</a:t>
            </a:r>
          </a:p>
          <a:p>
            <a:pPr>
              <a:lnSpc>
                <a:spcPct val="115000"/>
              </a:lnSpc>
              <a:spcAft>
                <a:spcPts val="350"/>
              </a:spcAft>
            </a:pPr>
            <a:r>
              <a:rPr sz="900" b="1">
                <a:solidFill>
                  <a:srgbClr val="2C3E50"/>
                </a:solidFill>
                <a:latin typeface="Microsoft JhengHei"/>
              </a:rPr>
              <a:t>✦ 基建優先：</a:t>
            </a:r>
            <a:r>
              <a:rPr sz="850">
                <a:solidFill>
                  <a:srgbClr val="4A5568"/>
                </a:solidFill>
                <a:latin typeface="Microsoft JhengHei"/>
              </a:rPr>
              <a:t>完善內部 MCP 工具封裝、自動化測試沙盒與審核閘道。</a:t>
            </a:r>
          </a:p>
          <a:p>
            <a:pPr>
              <a:lnSpc>
                <a:spcPct val="115000"/>
              </a:lnSpc>
              <a:spcAft>
                <a:spcPts val="350"/>
              </a:spcAft>
            </a:pPr>
            <a:r>
              <a:rPr sz="900" b="1">
                <a:solidFill>
                  <a:srgbClr val="2C3E50"/>
                </a:solidFill>
                <a:latin typeface="Microsoft JhengHei"/>
              </a:rPr>
              <a:t>✦ 防範浪費：</a:t>
            </a:r>
            <a:r>
              <a:rPr sz="850">
                <a:solidFill>
                  <a:srgbClr val="4A5568"/>
                </a:solidFill>
                <a:latin typeface="Microsoft JhengHei"/>
              </a:rPr>
              <a:t>避免把所有預算浪費在無止境追逐昂貴的旗艦模型 API。</a:t>
            </a:r>
          </a:p>
        </p:txBody>
      </p:sp>
      <p:sp>
        <p:nvSpPr>
          <p:cNvPr id="15" name="Rounded Rectangle 14"/>
          <p:cNvSpPr/>
          <p:nvPr/>
        </p:nvSpPr>
        <p:spPr>
          <a:xfrm>
            <a:off x="6217920" y="2788920"/>
            <a:ext cx="5242255" cy="164592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64224" y="291693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2</a:t>
            </a:r>
          </a:p>
        </p:txBody>
      </p:sp>
      <p:sp>
        <p:nvSpPr>
          <p:cNvPr id="17" name="TextBox 16"/>
          <p:cNvSpPr txBox="1"/>
          <p:nvPr/>
        </p:nvSpPr>
        <p:spPr>
          <a:xfrm>
            <a:off x="6675120" y="2880360"/>
            <a:ext cx="4675327" cy="329184"/>
          </a:xfrm>
          <a:prstGeom prst="rect">
            <a:avLst/>
          </a:prstGeom>
          <a:noFill/>
        </p:spPr>
        <p:txBody>
          <a:bodyPr wrap="square" lIns="0" tIns="0" rIns="0" bIns="0">
            <a:spAutoFit/>
          </a:bodyPr>
          <a:lstStyle/>
          <a:p>
            <a:r>
              <a:rPr sz="1050" b="1">
                <a:solidFill>
                  <a:srgbClr val="232D38"/>
                </a:solidFill>
                <a:latin typeface="Microsoft JhengHei"/>
              </a:rPr>
              <a:t>記憶架構與規格先行</a:t>
            </a:r>
            <a:r>
              <a:rPr sz="850" b="1">
                <a:solidFill>
                  <a:srgbClr val="3B6E58"/>
                </a:solidFill>
                <a:latin typeface="Microsoft JhengHei"/>
              </a:rPr>
              <a:t>  [ACT-02]</a:t>
            </a:r>
          </a:p>
        </p:txBody>
      </p:sp>
      <p:sp>
        <p:nvSpPr>
          <p:cNvPr id="18" name="Rectangle 17"/>
          <p:cNvSpPr/>
          <p:nvPr/>
        </p:nvSpPr>
        <p:spPr>
          <a:xfrm>
            <a:off x="6364224" y="3209544"/>
            <a:ext cx="4949647" cy="10972"/>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3282696"/>
            <a:ext cx="4949647" cy="1078992"/>
          </a:xfrm>
          <a:prstGeom prst="rect">
            <a:avLst/>
          </a:prstGeom>
          <a:noFill/>
        </p:spPr>
        <p:txBody>
          <a:bodyPr wrap="square" lIns="0" tIns="0" rIns="0" bIns="0">
            <a:spAutoFit/>
          </a:bodyPr>
          <a:lstStyle/>
          <a:p>
            <a:pPr>
              <a:lnSpc>
                <a:spcPct val="115000"/>
              </a:lnSpc>
              <a:spcAft>
                <a:spcPts val="350"/>
              </a:spcAft>
            </a:pPr>
            <a:r>
              <a:rPr sz="900" b="1">
                <a:solidFill>
                  <a:srgbClr val="2C3E50"/>
                </a:solidFill>
                <a:latin typeface="Microsoft JhengHei"/>
              </a:rPr>
              <a:t>✦ 三層架構：</a:t>
            </a:r>
            <a:r>
              <a:rPr sz="850">
                <a:solidFill>
                  <a:srgbClr val="4A5568"/>
                </a:solidFill>
                <a:latin typeface="Microsoft JhengHei"/>
              </a:rPr>
              <a:t>建立三層外生化記憶 (Working / Session / Archival)。</a:t>
            </a:r>
          </a:p>
          <a:p>
            <a:pPr>
              <a:lnSpc>
                <a:spcPct val="115000"/>
              </a:lnSpc>
              <a:spcAft>
                <a:spcPts val="350"/>
              </a:spcAft>
            </a:pPr>
            <a:r>
              <a:rPr sz="900" b="1">
                <a:solidFill>
                  <a:srgbClr val="2C3E50"/>
                </a:solidFill>
                <a:latin typeface="Microsoft JhengHei"/>
              </a:rPr>
              <a:t>✦ 格式規範：</a:t>
            </a:r>
            <a:r>
              <a:rPr sz="850">
                <a:solidFill>
                  <a:srgbClr val="4A5568"/>
                </a:solidFill>
                <a:latin typeface="Microsoft JhengHei"/>
              </a:rPr>
              <a:t>捨棄 Markdown，全面採用結構化 JSON 與 Git 追蹤狀態。</a:t>
            </a:r>
          </a:p>
          <a:p>
            <a:pPr>
              <a:lnSpc>
                <a:spcPct val="115000"/>
              </a:lnSpc>
              <a:spcAft>
                <a:spcPts val="350"/>
              </a:spcAft>
            </a:pPr>
            <a:r>
              <a:rPr sz="900" b="1">
                <a:solidFill>
                  <a:srgbClr val="2C3E50"/>
                </a:solidFill>
                <a:latin typeface="Microsoft JhengHei"/>
              </a:rPr>
              <a:t>✦ 規格驅動：</a:t>
            </a:r>
            <a:r>
              <a:rPr sz="850">
                <a:solidFill>
                  <a:srgbClr val="4A5568"/>
                </a:solidFill>
                <a:latin typeface="Microsoft JhengHei"/>
              </a:rPr>
              <a:t>推行 Spec-Driven 開發，以明確規格約束 Agent 行為。</a:t>
            </a:r>
          </a:p>
        </p:txBody>
      </p:sp>
      <p:sp>
        <p:nvSpPr>
          <p:cNvPr id="20" name="Rounded Rectangle 19"/>
          <p:cNvSpPr/>
          <p:nvPr/>
        </p:nvSpPr>
        <p:spPr>
          <a:xfrm>
            <a:off x="731520" y="4572000"/>
            <a:ext cx="5242255" cy="164592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77824" y="470001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3</a:t>
            </a:r>
          </a:p>
        </p:txBody>
      </p:sp>
      <p:sp>
        <p:nvSpPr>
          <p:cNvPr id="22" name="TextBox 21"/>
          <p:cNvSpPr txBox="1"/>
          <p:nvPr/>
        </p:nvSpPr>
        <p:spPr>
          <a:xfrm>
            <a:off x="1188720" y="4663440"/>
            <a:ext cx="4675327" cy="329184"/>
          </a:xfrm>
          <a:prstGeom prst="rect">
            <a:avLst/>
          </a:prstGeom>
          <a:noFill/>
        </p:spPr>
        <p:txBody>
          <a:bodyPr wrap="square" lIns="0" tIns="0" rIns="0" bIns="0">
            <a:spAutoFit/>
          </a:bodyPr>
          <a:lstStyle/>
          <a:p>
            <a:r>
              <a:rPr sz="1050" b="1">
                <a:solidFill>
                  <a:srgbClr val="232D38"/>
                </a:solidFill>
                <a:latin typeface="Microsoft JhengHei"/>
              </a:rPr>
              <a:t>安全框架制度化 (CI/CD)</a:t>
            </a:r>
            <a:r>
              <a:rPr sz="850" b="1">
                <a:solidFill>
                  <a:srgbClr val="3B6E58"/>
                </a:solidFill>
                <a:latin typeface="Microsoft JhengHei"/>
              </a:rPr>
              <a:t>  [ACT-03]</a:t>
            </a:r>
          </a:p>
        </p:txBody>
      </p:sp>
      <p:sp>
        <p:nvSpPr>
          <p:cNvPr id="23" name="Rectangle 22"/>
          <p:cNvSpPr/>
          <p:nvPr/>
        </p:nvSpPr>
        <p:spPr>
          <a:xfrm>
            <a:off x="877824" y="4992624"/>
            <a:ext cx="4949647" cy="10972"/>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824" y="5065776"/>
            <a:ext cx="4949647" cy="1078992"/>
          </a:xfrm>
          <a:prstGeom prst="rect">
            <a:avLst/>
          </a:prstGeom>
          <a:noFill/>
        </p:spPr>
        <p:txBody>
          <a:bodyPr wrap="square" lIns="0" tIns="0" rIns="0" bIns="0">
            <a:spAutoFit/>
          </a:bodyPr>
          <a:lstStyle/>
          <a:p>
            <a:pPr>
              <a:lnSpc>
                <a:spcPct val="115000"/>
              </a:lnSpc>
              <a:spcAft>
                <a:spcPts val="350"/>
              </a:spcAft>
            </a:pPr>
            <a:r>
              <a:rPr sz="900" b="1">
                <a:solidFill>
                  <a:srgbClr val="2C3E50"/>
                </a:solidFill>
                <a:latin typeface="Microsoft JhengHei"/>
              </a:rPr>
              <a:t>✦ 架構即代碼：</a:t>
            </a:r>
            <a:r>
              <a:rPr sz="850">
                <a:solidFill>
                  <a:srgbClr val="4A5568"/>
                </a:solidFill>
                <a:latin typeface="Microsoft JhengHei"/>
              </a:rPr>
              <a:t>將 Harness 配置 (Prompts, Tools) 納入 CI/CD 同等管控。</a:t>
            </a:r>
          </a:p>
          <a:p>
            <a:pPr>
              <a:lnSpc>
                <a:spcPct val="115000"/>
              </a:lnSpc>
              <a:spcAft>
                <a:spcPts val="350"/>
              </a:spcAft>
            </a:pPr>
            <a:r>
              <a:rPr sz="900" b="1">
                <a:solidFill>
                  <a:srgbClr val="2C3E50"/>
                </a:solidFill>
                <a:latin typeface="Microsoft JhengHei"/>
              </a:rPr>
              <a:t>✦ 國際對齊：</a:t>
            </a:r>
            <a:r>
              <a:rPr sz="850">
                <a:solidFill>
                  <a:srgbClr val="4A5568"/>
                </a:solidFill>
                <a:latin typeface="Microsoft JhengHei"/>
              </a:rPr>
              <a:t>嚴格對齊 OWASP Agentic AI Top 10 與 MCP 安全標準。</a:t>
            </a:r>
          </a:p>
          <a:p>
            <a:pPr>
              <a:lnSpc>
                <a:spcPct val="115000"/>
              </a:lnSpc>
              <a:spcAft>
                <a:spcPts val="350"/>
              </a:spcAft>
            </a:pPr>
            <a:r>
              <a:rPr sz="900" b="1">
                <a:solidFill>
                  <a:srgbClr val="2C3E50"/>
                </a:solidFill>
                <a:latin typeface="Microsoft JhengHei"/>
              </a:rPr>
              <a:t>✦ 分離機制：</a:t>
            </a:r>
            <a:r>
              <a:rPr sz="850">
                <a:solidFill>
                  <a:srgbClr val="4A5568"/>
                </a:solidFill>
                <a:latin typeface="Microsoft JhengHei"/>
              </a:rPr>
              <a:t>落實『提議-執行分離』與靜態程式碼安全分析閘道。</a:t>
            </a:r>
          </a:p>
        </p:txBody>
      </p:sp>
      <p:sp>
        <p:nvSpPr>
          <p:cNvPr id="25" name="Rounded Rectangle 24"/>
          <p:cNvSpPr/>
          <p:nvPr/>
        </p:nvSpPr>
        <p:spPr>
          <a:xfrm>
            <a:off x="6217920" y="4572000"/>
            <a:ext cx="5242255" cy="164592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64224" y="4700016"/>
            <a:ext cx="256032" cy="256032"/>
          </a:xfrm>
          <a:prstGeom prst="ellipse">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850" b="1">
                <a:solidFill>
                  <a:srgbClr val="FFFFFF"/>
                </a:solidFill>
                <a:latin typeface="Microsoft JhengHei"/>
              </a:rPr>
              <a:t>4</a:t>
            </a:r>
          </a:p>
        </p:txBody>
      </p:sp>
      <p:sp>
        <p:nvSpPr>
          <p:cNvPr id="27" name="TextBox 26"/>
          <p:cNvSpPr txBox="1"/>
          <p:nvPr/>
        </p:nvSpPr>
        <p:spPr>
          <a:xfrm>
            <a:off x="6675120" y="4663440"/>
            <a:ext cx="4675327" cy="329184"/>
          </a:xfrm>
          <a:prstGeom prst="rect">
            <a:avLst/>
          </a:prstGeom>
          <a:noFill/>
        </p:spPr>
        <p:txBody>
          <a:bodyPr wrap="square" lIns="0" tIns="0" rIns="0" bIns="0">
            <a:spAutoFit/>
          </a:bodyPr>
          <a:lstStyle/>
          <a:p>
            <a:r>
              <a:rPr sz="1050" b="1">
                <a:solidFill>
                  <a:srgbClr val="232D38"/>
                </a:solidFill>
                <a:latin typeface="Microsoft JhengHei"/>
              </a:rPr>
              <a:t>工程師團隊職能轉型</a:t>
            </a:r>
            <a:r>
              <a:rPr sz="850" b="1">
                <a:solidFill>
                  <a:srgbClr val="3B6E58"/>
                </a:solidFill>
                <a:latin typeface="Microsoft JhengHei"/>
              </a:rPr>
              <a:t>  [ACT-04]</a:t>
            </a:r>
          </a:p>
        </p:txBody>
      </p:sp>
      <p:sp>
        <p:nvSpPr>
          <p:cNvPr id="28" name="Rectangle 27"/>
          <p:cNvSpPr/>
          <p:nvPr/>
        </p:nvSpPr>
        <p:spPr>
          <a:xfrm>
            <a:off x="6364224" y="4992624"/>
            <a:ext cx="4949647" cy="10972"/>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5065776"/>
            <a:ext cx="4949647" cy="1078992"/>
          </a:xfrm>
          <a:prstGeom prst="rect">
            <a:avLst/>
          </a:prstGeom>
          <a:noFill/>
        </p:spPr>
        <p:txBody>
          <a:bodyPr wrap="square" lIns="0" tIns="0" rIns="0" bIns="0">
            <a:spAutoFit/>
          </a:bodyPr>
          <a:lstStyle/>
          <a:p>
            <a:pPr>
              <a:lnSpc>
                <a:spcPct val="115000"/>
              </a:lnSpc>
              <a:spcAft>
                <a:spcPts val="350"/>
              </a:spcAft>
            </a:pPr>
            <a:r>
              <a:rPr sz="900" b="1">
                <a:solidFill>
                  <a:srgbClr val="2C3E50"/>
                </a:solidFill>
                <a:latin typeface="Microsoft JhengHei"/>
              </a:rPr>
              <a:t>✦ 職能躍升：</a:t>
            </a:r>
            <a:r>
              <a:rPr sz="850">
                <a:solidFill>
                  <a:srgbClr val="4A5568"/>
                </a:solidFill>
                <a:latin typeface="Microsoft JhengHei"/>
              </a:rPr>
              <a:t>培養研發團隊的『Harness 編排能力』。</a:t>
            </a:r>
          </a:p>
          <a:p>
            <a:pPr>
              <a:lnSpc>
                <a:spcPct val="115000"/>
              </a:lnSpc>
              <a:spcAft>
                <a:spcPts val="350"/>
              </a:spcAft>
            </a:pPr>
            <a:r>
              <a:rPr sz="900" b="1">
                <a:solidFill>
                  <a:srgbClr val="2C3E50"/>
                </a:solidFill>
                <a:latin typeface="Microsoft JhengHei"/>
              </a:rPr>
              <a:t>✦ 導師角色：</a:t>
            </a:r>
            <a:r>
              <a:rPr sz="850">
                <a:solidFill>
                  <a:srgbClr val="4A5568"/>
                </a:solidFill>
                <a:latin typeface="Microsoft JhengHei"/>
              </a:rPr>
              <a:t>從手動刻代碼工匠，升級為設計約束與驗證關卡的導師。</a:t>
            </a:r>
          </a:p>
          <a:p>
            <a:pPr>
              <a:lnSpc>
                <a:spcPct val="115000"/>
              </a:lnSpc>
              <a:spcAft>
                <a:spcPts val="350"/>
              </a:spcAft>
            </a:pPr>
            <a:r>
              <a:rPr sz="900" b="1">
                <a:solidFill>
                  <a:srgbClr val="2C3E50"/>
                </a:solidFill>
                <a:latin typeface="Microsoft JhengHei"/>
              </a:rPr>
              <a:t>✦ 階梯分流：</a:t>
            </a:r>
            <a:r>
              <a:rPr sz="850">
                <a:solidFill>
                  <a:srgbClr val="4A5568"/>
                </a:solidFill>
                <a:latin typeface="Microsoft JhengHei"/>
              </a:rPr>
              <a:t>建立多層級調度策略（端點過濾、工作站開發、叢集重構）。</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術語精解</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名詞對照表 (一)：基礎架構、前沿模型與評測標準全解</a:t>
            </a:r>
          </a:p>
          <a:p>
            <a:pPr>
              <a:spcBef>
                <a:spcPts val="300"/>
              </a:spcBef>
            </a:pPr>
            <a:r>
              <a:rPr sz="950">
                <a:solidFill>
                  <a:srgbClr val="7C8695"/>
                </a:solidFill>
                <a:latin typeface="Microsoft JhengHei"/>
              </a:rPr>
              <a:t>依據報告研析脈絡整理核心英文縮寫與關鍵概念定義，協助跨領域團隊精準對齊技術語義</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54480"/>
            <a:ext cx="10728655" cy="475488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841248" y="1645920"/>
          <a:ext cx="10509198" cy="4572000"/>
        </p:xfrm>
        <a:graphic>
          <a:graphicData uri="http://schemas.openxmlformats.org/drawingml/2006/table">
            <a:tbl>
              <a:tblPr firstRow="1" bandRow="1">
                <a:tableStyleId>{5C22544A-7EE6-4342-B048-85BDC9FD1C3A}</a:tableStyleId>
              </a:tblPr>
              <a:tblGrid>
                <a:gridCol w="1537931"/>
                <a:gridCol w="2136016"/>
                <a:gridCol w="4955557"/>
                <a:gridCol w="1879694"/>
              </a:tblGrid>
              <a:tr h="304800">
                <a:tc>
                  <a:txBody>
                    <a:bodyPr/>
                    <a:lstStyle/>
                    <a:p>
                      <a:pPr algn="l">
                        <a:defRPr sz="800" b="1">
                          <a:solidFill>
                            <a:srgbClr val="232D38"/>
                          </a:solidFill>
                          <a:latin typeface="Microsoft JhengHei"/>
                        </a:defRPr>
                      </a:pPr>
                      <a:r>
                        <a:t>縮寫 / 關鍵字</a:t>
                      </a:r>
                    </a:p>
                  </a:txBody>
                  <a:tcPr anchor="ctr">
                    <a:solidFill>
                      <a:srgbClr val="EAE4D8"/>
                    </a:solidFill>
                  </a:tcPr>
                </a:tc>
                <a:tc>
                  <a:txBody>
                    <a:bodyPr/>
                    <a:lstStyle/>
                    <a:p>
                      <a:pPr algn="l">
                        <a:defRPr sz="800" b="1">
                          <a:solidFill>
                            <a:srgbClr val="232D38"/>
                          </a:solidFill>
                          <a:latin typeface="Microsoft JhengHei"/>
                        </a:defRPr>
                      </a:pPr>
                      <a:r>
                        <a:t>英文全稱 / 概念原型</a:t>
                      </a:r>
                    </a:p>
                  </a:txBody>
                  <a:tcPr anchor="ctr">
                    <a:solidFill>
                      <a:srgbClr val="EAE4D8"/>
                    </a:solidFill>
                  </a:tcPr>
                </a:tc>
                <a:tc>
                  <a:txBody>
                    <a:bodyPr/>
                    <a:lstStyle/>
                    <a:p>
                      <a:pPr algn="l">
                        <a:defRPr sz="800" b="1">
                          <a:solidFill>
                            <a:srgbClr val="232D38"/>
                          </a:solidFill>
                          <a:latin typeface="Microsoft JhengHei"/>
                        </a:defRPr>
                      </a:pPr>
                      <a:r>
                        <a:t>核心意涵與工程定位</a:t>
                      </a:r>
                    </a:p>
                  </a:txBody>
                  <a:tcPr anchor="ctr">
                    <a:solidFill>
                      <a:srgbClr val="EAE4D8"/>
                    </a:solidFill>
                  </a:tcPr>
                </a:tc>
                <a:tc>
                  <a:txBody>
                    <a:bodyPr/>
                    <a:lstStyle/>
                    <a:p>
                      <a:pPr algn="ctr">
                        <a:defRPr sz="800" b="1">
                          <a:solidFill>
                            <a:srgbClr val="232D38"/>
                          </a:solidFill>
                          <a:latin typeface="Microsoft JhengHei"/>
                        </a:defRPr>
                      </a:pPr>
                      <a:r>
                        <a:t>關鍵出處 / 報告對應頁</a:t>
                      </a:r>
                    </a:p>
                  </a:txBody>
                  <a:tcPr anchor="ctr">
                    <a:solidFill>
                      <a:srgbClr val="EAE4D8"/>
                    </a:solidFill>
                  </a:tcPr>
                </a:tc>
              </a:tr>
              <a:tr h="304800">
                <a:tc>
                  <a:txBody>
                    <a:bodyPr/>
                    <a:lstStyle/>
                    <a:p>
                      <a:pPr algn="l">
                        <a:defRPr sz="750" b="1">
                          <a:solidFill>
                            <a:srgbClr val="232D38"/>
                          </a:solidFill>
                          <a:latin typeface="Microsoft JhengHei"/>
                        </a:defRPr>
                      </a:pPr>
                      <a:r>
                        <a:t>Harness</a:t>
                      </a:r>
                    </a:p>
                  </a:txBody>
                  <a:tcPr anchor="ctr">
                    <a:solidFill>
                      <a:srgbClr val="FDFCFA"/>
                    </a:solidFill>
                  </a:tcPr>
                </a:tc>
                <a:tc>
                  <a:txBody>
                    <a:bodyPr/>
                    <a:lstStyle/>
                    <a:p>
                      <a:pPr algn="l">
                        <a:defRPr sz="750">
                          <a:solidFill>
                            <a:srgbClr val="4A5568"/>
                          </a:solidFill>
                          <a:latin typeface="Microsoft JhengHei"/>
                        </a:defRPr>
                      </a:pPr>
                      <a:r>
                        <a:t>Execution Harness (執行框架)</a:t>
                      </a:r>
                    </a:p>
                  </a:txBody>
                  <a:tcPr anchor="ctr">
                    <a:solidFill>
                      <a:srgbClr val="FDFCFA"/>
                    </a:solidFill>
                  </a:tcPr>
                </a:tc>
                <a:tc>
                  <a:txBody>
                    <a:bodyPr/>
                    <a:lstStyle/>
                    <a:p>
                      <a:pPr algn="l">
                        <a:defRPr sz="750">
                          <a:solidFill>
                            <a:srgbClr val="4A5568"/>
                          </a:solidFill>
                          <a:latin typeface="Microsoft JhengHei"/>
                        </a:defRPr>
                      </a:pPr>
                      <a:r>
                        <a:t>包覆於 LLM 外部的確定性控制環境，涵蓋記憶、狀態機、工具調用、OS 沙盒與安全安檢門，約束機率模型受控交付。</a:t>
                      </a:r>
                    </a:p>
                  </a:txBody>
                  <a:tcPr anchor="ctr">
                    <a:solidFill>
                      <a:srgbClr val="FDFCFA"/>
                    </a:solidFill>
                  </a:tcPr>
                </a:tc>
                <a:tc>
                  <a:txBody>
                    <a:bodyPr/>
                    <a:lstStyle/>
                    <a:p>
                      <a:pPr algn="ctr">
                        <a:defRPr sz="750">
                          <a:solidFill>
                            <a:srgbClr val="4A5568"/>
                          </a:solidFill>
                          <a:latin typeface="Microsoft JhengHei"/>
                        </a:defRPr>
                      </a:pPr>
                      <a:r>
                        <a:t>核心概念 (P1, P12, P19)</a:t>
                      </a:r>
                    </a:p>
                  </a:txBody>
                  <a:tcPr anchor="ctr">
                    <a:solidFill>
                      <a:srgbClr val="FDFCFA"/>
                    </a:solidFill>
                  </a:tcPr>
                </a:tc>
              </a:tr>
              <a:tr h="304800">
                <a:tc>
                  <a:txBody>
                    <a:bodyPr/>
                    <a:lstStyle/>
                    <a:p>
                      <a:pPr algn="l">
                        <a:defRPr sz="750" b="1">
                          <a:solidFill>
                            <a:srgbClr val="232D38"/>
                          </a:solidFill>
                          <a:latin typeface="Microsoft JhengHei"/>
                        </a:defRPr>
                      </a:pPr>
                      <a:r>
                        <a:t>LLM</a:t>
                      </a:r>
                    </a:p>
                  </a:txBody>
                  <a:tcPr anchor="ctr">
                    <a:solidFill>
                      <a:srgbClr val="F7F4ED"/>
                    </a:solidFill>
                  </a:tcPr>
                </a:tc>
                <a:tc>
                  <a:txBody>
                    <a:bodyPr/>
                    <a:lstStyle/>
                    <a:p>
                      <a:pPr algn="l">
                        <a:defRPr sz="750">
                          <a:solidFill>
                            <a:srgbClr val="4A5568"/>
                          </a:solidFill>
                          <a:latin typeface="Microsoft JhengHei"/>
                        </a:defRPr>
                      </a:pPr>
                      <a:r>
                        <a:t>Large Language Model</a:t>
                      </a:r>
                    </a:p>
                  </a:txBody>
                  <a:tcPr anchor="ctr">
                    <a:solidFill>
                      <a:srgbClr val="F7F4ED"/>
                    </a:solidFill>
                  </a:tcPr>
                </a:tc>
                <a:tc>
                  <a:txBody>
                    <a:bodyPr/>
                    <a:lstStyle/>
                    <a:p>
                      <a:pPr algn="l">
                        <a:defRPr sz="750">
                          <a:solidFill>
                            <a:srgbClr val="4A5568"/>
                          </a:solidFill>
                          <a:latin typeface="Microsoft JhengHei"/>
                        </a:defRPr>
                      </a:pPr>
                      <a:r>
                        <a:t>大語言模型。基於 Transformer 的次字元 (Next-Token) 機率預測神經網絡，為 Agent 決策大腦。</a:t>
                      </a:r>
                    </a:p>
                  </a:txBody>
                  <a:tcPr anchor="ctr">
                    <a:solidFill>
                      <a:srgbClr val="F7F4ED"/>
                    </a:solidFill>
                  </a:tcPr>
                </a:tc>
                <a:tc>
                  <a:txBody>
                    <a:bodyPr/>
                    <a:lstStyle/>
                    <a:p>
                      <a:pPr algn="ctr">
                        <a:defRPr sz="750">
                          <a:solidFill>
                            <a:srgbClr val="4A5568"/>
                          </a:solidFill>
                          <a:latin typeface="Microsoft JhengHei"/>
                        </a:defRPr>
                      </a:pPr>
                      <a:r>
                        <a:t>模型層 (P1, P8, P10)</a:t>
                      </a:r>
                    </a:p>
                  </a:txBody>
                  <a:tcPr anchor="ctr">
                    <a:solidFill>
                      <a:srgbClr val="F7F4ED"/>
                    </a:solidFill>
                  </a:tcPr>
                </a:tc>
              </a:tr>
              <a:tr h="304800">
                <a:tc>
                  <a:txBody>
                    <a:bodyPr/>
                    <a:lstStyle/>
                    <a:p>
                      <a:pPr algn="l">
                        <a:defRPr sz="750" b="1">
                          <a:solidFill>
                            <a:srgbClr val="232D38"/>
                          </a:solidFill>
                          <a:latin typeface="Microsoft JhengHei"/>
                        </a:defRPr>
                      </a:pPr>
                      <a:r>
                        <a:t>MoE</a:t>
                      </a:r>
                    </a:p>
                  </a:txBody>
                  <a:tcPr anchor="ctr">
                    <a:solidFill>
                      <a:srgbClr val="FDFCFA"/>
                    </a:solidFill>
                  </a:tcPr>
                </a:tc>
                <a:tc>
                  <a:txBody>
                    <a:bodyPr/>
                    <a:lstStyle/>
                    <a:p>
                      <a:pPr algn="l">
                        <a:defRPr sz="750">
                          <a:solidFill>
                            <a:srgbClr val="4A5568"/>
                          </a:solidFill>
                          <a:latin typeface="Microsoft JhengHei"/>
                        </a:defRPr>
                      </a:pPr>
                      <a:r>
                        <a:t>Mixture of Experts</a:t>
                      </a:r>
                    </a:p>
                  </a:txBody>
                  <a:tcPr anchor="ctr">
                    <a:solidFill>
                      <a:srgbClr val="FDFCFA"/>
                    </a:solidFill>
                  </a:tcPr>
                </a:tc>
                <a:tc>
                  <a:txBody>
                    <a:bodyPr/>
                    <a:lstStyle/>
                    <a:p>
                      <a:pPr algn="l">
                        <a:defRPr sz="750">
                          <a:solidFill>
                            <a:srgbClr val="4A5568"/>
                          </a:solidFill>
                          <a:latin typeface="Microsoft JhengHei"/>
                        </a:defRPr>
                      </a:pPr>
                      <a:r>
                        <a:t>混合專家架構。將模型參數拆分為多個專家網絡，每次推論僅稀疏激活 (Active) 部分參數，大幅降低算力負擔。</a:t>
                      </a:r>
                    </a:p>
                  </a:txBody>
                  <a:tcPr anchor="ctr">
                    <a:solidFill>
                      <a:srgbClr val="FDFCFA"/>
                    </a:solidFill>
                  </a:tcPr>
                </a:tc>
                <a:tc>
                  <a:txBody>
                    <a:bodyPr/>
                    <a:lstStyle/>
                    <a:p>
                      <a:pPr algn="ctr">
                        <a:defRPr sz="750">
                          <a:solidFill>
                            <a:srgbClr val="4A5568"/>
                          </a:solidFill>
                          <a:latin typeface="Microsoft JhengHei"/>
                        </a:defRPr>
                      </a:pPr>
                      <a:r>
                        <a:t>模型架構 (P8, P10)</a:t>
                      </a:r>
                    </a:p>
                  </a:txBody>
                  <a:tcPr anchor="ctr">
                    <a:solidFill>
                      <a:srgbClr val="FDFCFA"/>
                    </a:solidFill>
                  </a:tcPr>
                </a:tc>
              </a:tr>
              <a:tr h="304800">
                <a:tc>
                  <a:txBody>
                    <a:bodyPr/>
                    <a:lstStyle/>
                    <a:p>
                      <a:pPr algn="l">
                        <a:defRPr sz="750" b="1">
                          <a:solidFill>
                            <a:srgbClr val="232D38"/>
                          </a:solidFill>
                          <a:latin typeface="Microsoft JhengHei"/>
                        </a:defRPr>
                      </a:pPr>
                      <a:r>
                        <a:t>VRAM</a:t>
                      </a:r>
                    </a:p>
                  </a:txBody>
                  <a:tcPr anchor="ctr">
                    <a:solidFill>
                      <a:srgbClr val="F7F4ED"/>
                    </a:solidFill>
                  </a:tcPr>
                </a:tc>
                <a:tc>
                  <a:txBody>
                    <a:bodyPr/>
                    <a:lstStyle/>
                    <a:p>
                      <a:pPr algn="l">
                        <a:defRPr sz="750">
                          <a:solidFill>
                            <a:srgbClr val="4A5568"/>
                          </a:solidFill>
                          <a:latin typeface="Microsoft JhengHei"/>
                        </a:defRPr>
                      </a:pPr>
                      <a:r>
                        <a:t>Video Random Access Memory</a:t>
                      </a:r>
                    </a:p>
                  </a:txBody>
                  <a:tcPr anchor="ctr">
                    <a:solidFill>
                      <a:srgbClr val="F7F4ED"/>
                    </a:solidFill>
                  </a:tcPr>
                </a:tc>
                <a:tc>
                  <a:txBody>
                    <a:bodyPr/>
                    <a:lstStyle/>
                    <a:p>
                      <a:pPr algn="l">
                        <a:defRPr sz="750">
                          <a:solidFill>
                            <a:srgbClr val="4A5568"/>
                          </a:solidFill>
                          <a:latin typeface="Microsoft JhengHei"/>
                        </a:defRPr>
                      </a:pPr>
                      <a:r>
                        <a:t>顯存 / 視訊記憶體。GPU 載入模型權重與計算 KV Cache 所需的高速記憶體，決定地端模型部署規模硬體門檻。</a:t>
                      </a:r>
                    </a:p>
                  </a:txBody>
                  <a:tcPr anchor="ctr">
                    <a:solidFill>
                      <a:srgbClr val="F7F4ED"/>
                    </a:solidFill>
                  </a:tcPr>
                </a:tc>
                <a:tc>
                  <a:txBody>
                    <a:bodyPr/>
                    <a:lstStyle/>
                    <a:p>
                      <a:pPr algn="ctr">
                        <a:defRPr sz="750">
                          <a:solidFill>
                            <a:srgbClr val="4A5568"/>
                          </a:solidFill>
                          <a:latin typeface="Microsoft JhengHei"/>
                        </a:defRPr>
                      </a:pPr>
                      <a:r>
                        <a:t>硬體 ROI (P8, P9, P15)</a:t>
                      </a:r>
                    </a:p>
                  </a:txBody>
                  <a:tcPr anchor="ctr">
                    <a:solidFill>
                      <a:srgbClr val="F7F4ED"/>
                    </a:solidFill>
                  </a:tcPr>
                </a:tc>
              </a:tr>
              <a:tr h="304800">
                <a:tc>
                  <a:txBody>
                    <a:bodyPr/>
                    <a:lstStyle/>
                    <a:p>
                      <a:pPr algn="l">
                        <a:defRPr sz="750" b="1">
                          <a:solidFill>
                            <a:srgbClr val="232D38"/>
                          </a:solidFill>
                          <a:latin typeface="Microsoft JhengHei"/>
                        </a:defRPr>
                      </a:pPr>
                      <a:r>
                        <a:t>SWE-bench</a:t>
                      </a:r>
                    </a:p>
                  </a:txBody>
                  <a:tcPr anchor="ctr">
                    <a:solidFill>
                      <a:srgbClr val="FDFCFA"/>
                    </a:solidFill>
                  </a:tcPr>
                </a:tc>
                <a:tc>
                  <a:txBody>
                    <a:bodyPr/>
                    <a:lstStyle/>
                    <a:p>
                      <a:pPr algn="l">
                        <a:defRPr sz="750">
                          <a:solidFill>
                            <a:srgbClr val="4A5568"/>
                          </a:solidFill>
                          <a:latin typeface="Microsoft JhengHei"/>
                        </a:defRPr>
                      </a:pPr>
                      <a:r>
                        <a:t>Software Engineering Benchmark</a:t>
                      </a:r>
                    </a:p>
                  </a:txBody>
                  <a:tcPr anchor="ctr">
                    <a:solidFill>
                      <a:srgbClr val="FDFCFA"/>
                    </a:solidFill>
                  </a:tcPr>
                </a:tc>
                <a:tc>
                  <a:txBody>
                    <a:bodyPr/>
                    <a:lstStyle/>
                    <a:p>
                      <a:pPr algn="l">
                        <a:defRPr sz="750">
                          <a:solidFill>
                            <a:srgbClr val="4A5568"/>
                          </a:solidFill>
                          <a:latin typeface="Microsoft JhengHei"/>
                        </a:defRPr>
                      </a:pPr>
                      <a:r>
                        <a:t>由普林斯頓等提出的真實軟體工程評測基準，考核 Agent 解決真實 GitHub Issue 並生成有效 Git Patch 的能力。</a:t>
                      </a:r>
                    </a:p>
                  </a:txBody>
                  <a:tcPr anchor="ctr">
                    <a:solidFill>
                      <a:srgbClr val="FDFCFA"/>
                    </a:solidFill>
                  </a:tcPr>
                </a:tc>
                <a:tc>
                  <a:txBody>
                    <a:bodyPr/>
                    <a:lstStyle/>
                    <a:p>
                      <a:pPr algn="ctr">
                        <a:defRPr sz="750">
                          <a:solidFill>
                            <a:srgbClr val="4A5568"/>
                          </a:solidFill>
                          <a:latin typeface="Microsoft JhengHei"/>
                        </a:defRPr>
                      </a:pPr>
                      <a:r>
                        <a:t>能力評測 (P3, P16)</a:t>
                      </a:r>
                    </a:p>
                  </a:txBody>
                  <a:tcPr anchor="ctr">
                    <a:solidFill>
                      <a:srgbClr val="FDFCFA"/>
                    </a:solidFill>
                  </a:tcPr>
                </a:tc>
              </a:tr>
              <a:tr h="304800">
                <a:tc>
                  <a:txBody>
                    <a:bodyPr/>
                    <a:lstStyle/>
                    <a:p>
                      <a:pPr algn="l">
                        <a:defRPr sz="750" b="1">
                          <a:solidFill>
                            <a:srgbClr val="232D38"/>
                          </a:solidFill>
                          <a:latin typeface="Microsoft JhengHei"/>
                        </a:defRPr>
                      </a:pPr>
                      <a:r>
                        <a:t>Terminal-Bench</a:t>
                      </a:r>
                    </a:p>
                  </a:txBody>
                  <a:tcPr anchor="ctr">
                    <a:solidFill>
                      <a:srgbClr val="F7F4ED"/>
                    </a:solidFill>
                  </a:tcPr>
                </a:tc>
                <a:tc>
                  <a:txBody>
                    <a:bodyPr/>
                    <a:lstStyle/>
                    <a:p>
                      <a:pPr algn="l">
                        <a:defRPr sz="750">
                          <a:solidFill>
                            <a:srgbClr val="4A5568"/>
                          </a:solidFill>
                          <a:latin typeface="Microsoft JhengHei"/>
                        </a:defRPr>
                      </a:pPr>
                      <a:r>
                        <a:t>Terminal Benchmark (運維終端評測)</a:t>
                      </a:r>
                    </a:p>
                  </a:txBody>
                  <a:tcPr anchor="ctr">
                    <a:solidFill>
                      <a:srgbClr val="F7F4ED"/>
                    </a:solidFill>
                  </a:tcPr>
                </a:tc>
                <a:tc>
                  <a:txBody>
                    <a:bodyPr/>
                    <a:lstStyle/>
                    <a:p>
                      <a:pPr algn="l">
                        <a:defRPr sz="750">
                          <a:solidFill>
                            <a:srgbClr val="4A5568"/>
                          </a:solidFill>
                          <a:latin typeface="Microsoft JhengHei"/>
                        </a:defRPr>
                      </a:pPr>
                      <a:r>
                        <a:t>將 Agent 置於封閉沙盒 Linux 終端環境，考核其安裝套件、除錯排錯、終端運維與多步指令執行的動態綜合能力。</a:t>
                      </a:r>
                    </a:p>
                  </a:txBody>
                  <a:tcPr anchor="ctr">
                    <a:solidFill>
                      <a:srgbClr val="F7F4ED"/>
                    </a:solidFill>
                  </a:tcPr>
                </a:tc>
                <a:tc>
                  <a:txBody>
                    <a:bodyPr/>
                    <a:lstStyle/>
                    <a:p>
                      <a:pPr algn="ctr">
                        <a:defRPr sz="750">
                          <a:solidFill>
                            <a:srgbClr val="4A5568"/>
                          </a:solidFill>
                          <a:latin typeface="Microsoft JhengHei"/>
                        </a:defRPr>
                      </a:pPr>
                      <a:r>
                        <a:t>基準革新 (P10, P16)</a:t>
                      </a:r>
                    </a:p>
                  </a:txBody>
                  <a:tcPr anchor="ctr">
                    <a:solidFill>
                      <a:srgbClr val="F7F4ED"/>
                    </a:solidFill>
                  </a:tcPr>
                </a:tc>
              </a:tr>
              <a:tr h="304800">
                <a:tc>
                  <a:txBody>
                    <a:bodyPr/>
                    <a:lstStyle/>
                    <a:p>
                      <a:pPr algn="l">
                        <a:defRPr sz="750" b="1">
                          <a:solidFill>
                            <a:srgbClr val="232D38"/>
                          </a:solidFill>
                          <a:latin typeface="Microsoft JhengHei"/>
                        </a:defRPr>
                      </a:pPr>
                      <a:r>
                        <a:t>ReAct</a:t>
                      </a:r>
                    </a:p>
                  </a:txBody>
                  <a:tcPr anchor="ctr">
                    <a:solidFill>
                      <a:srgbClr val="FDFCFA"/>
                    </a:solidFill>
                  </a:tcPr>
                </a:tc>
                <a:tc>
                  <a:txBody>
                    <a:bodyPr/>
                    <a:lstStyle/>
                    <a:p>
                      <a:pPr algn="l">
                        <a:defRPr sz="750">
                          <a:solidFill>
                            <a:srgbClr val="4A5568"/>
                          </a:solidFill>
                          <a:latin typeface="Microsoft JhengHei"/>
                        </a:defRPr>
                      </a:pPr>
                      <a:r>
                        <a:t>Reasoning + Acting (推理與行動循環)</a:t>
                      </a:r>
                    </a:p>
                  </a:txBody>
                  <a:tcPr anchor="ctr">
                    <a:solidFill>
                      <a:srgbClr val="FDFCFA"/>
                    </a:solidFill>
                  </a:tcPr>
                </a:tc>
                <a:tc>
                  <a:txBody>
                    <a:bodyPr/>
                    <a:lstStyle/>
                    <a:p>
                      <a:pPr algn="l">
                        <a:defRPr sz="750">
                          <a:solidFill>
                            <a:srgbClr val="4A5568"/>
                          </a:solidFill>
                          <a:latin typeface="Microsoft JhengHei"/>
                        </a:defRPr>
                      </a:pPr>
                      <a:r>
                        <a:t>Agent 經典決策範式：透過『思考 (Thought) → 行動 (Action) → 觀察 (Observation)』三步狀態機自主迭代解決問題。</a:t>
                      </a:r>
                    </a:p>
                  </a:txBody>
                  <a:tcPr anchor="ctr">
                    <a:solidFill>
                      <a:srgbClr val="FDFCFA"/>
                    </a:solidFill>
                  </a:tcPr>
                </a:tc>
                <a:tc>
                  <a:txBody>
                    <a:bodyPr/>
                    <a:lstStyle/>
                    <a:p>
                      <a:pPr algn="ctr">
                        <a:defRPr sz="750">
                          <a:solidFill>
                            <a:srgbClr val="4A5568"/>
                          </a:solidFill>
                          <a:latin typeface="Microsoft JhengHei"/>
                        </a:defRPr>
                      </a:pPr>
                      <a:r>
                        <a:t>核心機制 (P11, P12, P22)</a:t>
                      </a:r>
                    </a:p>
                  </a:txBody>
                  <a:tcPr anchor="ctr">
                    <a:solidFill>
                      <a:srgbClr val="FDFCFA"/>
                    </a:solidFill>
                  </a:tcPr>
                </a:tc>
              </a:tr>
              <a:tr h="304800">
                <a:tc>
                  <a:txBody>
                    <a:bodyPr/>
                    <a:lstStyle/>
                    <a:p>
                      <a:pPr algn="l">
                        <a:defRPr sz="750" b="1">
                          <a:solidFill>
                            <a:srgbClr val="232D38"/>
                          </a:solidFill>
                          <a:latin typeface="Microsoft JhengHei"/>
                        </a:defRPr>
                      </a:pPr>
                      <a:r>
                        <a:t>MCP</a:t>
                      </a:r>
                    </a:p>
                  </a:txBody>
                  <a:tcPr anchor="ctr">
                    <a:solidFill>
                      <a:srgbClr val="F7F4ED"/>
                    </a:solidFill>
                  </a:tcPr>
                </a:tc>
                <a:tc>
                  <a:txBody>
                    <a:bodyPr/>
                    <a:lstStyle/>
                    <a:p>
                      <a:pPr algn="l">
                        <a:defRPr sz="750">
                          <a:solidFill>
                            <a:srgbClr val="4A5568"/>
                          </a:solidFill>
                          <a:latin typeface="Microsoft JhengHei"/>
                        </a:defRPr>
                      </a:pPr>
                      <a:r>
                        <a:t>Model Context Protocol</a:t>
                      </a:r>
                    </a:p>
                  </a:txBody>
                  <a:tcPr anchor="ctr">
                    <a:solidFill>
                      <a:srgbClr val="F7F4ED"/>
                    </a:solidFill>
                  </a:tcPr>
                </a:tc>
                <a:tc>
                  <a:txBody>
                    <a:bodyPr/>
                    <a:lstStyle/>
                    <a:p>
                      <a:pPr algn="l">
                        <a:defRPr sz="750">
                          <a:solidFill>
                            <a:srgbClr val="4A5568"/>
                          </a:solidFill>
                          <a:latin typeface="Microsoft JhengHei"/>
                        </a:defRPr>
                      </a:pPr>
                      <a:r>
                        <a:t>Anthropic 提出之開放標準通訊協議，標準化 Client 與各類本機/遠端工具、資料來源之間的上下文安全連線。</a:t>
                      </a:r>
                    </a:p>
                  </a:txBody>
                  <a:tcPr anchor="ctr">
                    <a:solidFill>
                      <a:srgbClr val="F7F4ED"/>
                    </a:solidFill>
                  </a:tcPr>
                </a:tc>
                <a:tc>
                  <a:txBody>
                    <a:bodyPr/>
                    <a:lstStyle/>
                    <a:p>
                      <a:pPr algn="ctr">
                        <a:defRPr sz="750">
                          <a:solidFill>
                            <a:srgbClr val="4A5568"/>
                          </a:solidFill>
                          <a:latin typeface="Microsoft JhengHei"/>
                        </a:defRPr>
                      </a:pPr>
                      <a:r>
                        <a:t>工具標準 (P4, P12, P24)</a:t>
                      </a:r>
                    </a:p>
                  </a:txBody>
                  <a:tcPr anchor="ctr">
                    <a:solidFill>
                      <a:srgbClr val="F7F4ED"/>
                    </a:solidFill>
                  </a:tcPr>
                </a:tc>
              </a:tr>
              <a:tr h="304800">
                <a:tc>
                  <a:txBody>
                    <a:bodyPr/>
                    <a:lstStyle/>
                    <a:p>
                      <a:pPr algn="l">
                        <a:defRPr sz="750" b="1">
                          <a:solidFill>
                            <a:srgbClr val="232D38"/>
                          </a:solidFill>
                          <a:latin typeface="Microsoft JhengHei"/>
                        </a:defRPr>
                      </a:pPr>
                      <a:r>
                        <a:t>BYOK</a:t>
                      </a:r>
                    </a:p>
                  </a:txBody>
                  <a:tcPr anchor="ctr">
                    <a:solidFill>
                      <a:srgbClr val="FDFCFA"/>
                    </a:solidFill>
                  </a:tcPr>
                </a:tc>
                <a:tc>
                  <a:txBody>
                    <a:bodyPr/>
                    <a:lstStyle/>
                    <a:p>
                      <a:pPr algn="l">
                        <a:defRPr sz="750">
                          <a:solidFill>
                            <a:srgbClr val="4A5568"/>
                          </a:solidFill>
                          <a:latin typeface="Microsoft JhengHei"/>
                        </a:defRPr>
                      </a:pPr>
                      <a:r>
                        <a:t>Bring Your Own Key</a:t>
                      </a:r>
                    </a:p>
                  </a:txBody>
                  <a:tcPr anchor="ctr">
                    <a:solidFill>
                      <a:srgbClr val="FDFCFA"/>
                    </a:solidFill>
                  </a:tcPr>
                </a:tc>
                <a:tc>
                  <a:txBody>
                    <a:bodyPr/>
                    <a:lstStyle/>
                    <a:p>
                      <a:pPr algn="l">
                        <a:defRPr sz="750" b="1">
                          <a:solidFill>
                            <a:srgbClr val="9E5A38"/>
                          </a:solidFill>
                          <a:latin typeface="Microsoft JhengHei"/>
                        </a:defRPr>
                      </a:pPr>
                      <a:r>
                        <a:t>自備 API 金鑰架構。用戶自購 Anthropic/OpenAI/本地 API Key，開源框架僅負責客戶端調度，保障商業隱私與自主控管。</a:t>
                      </a:r>
                    </a:p>
                  </a:txBody>
                  <a:tcPr anchor="ctr">
                    <a:solidFill>
                      <a:srgbClr val="FDFCFA"/>
                    </a:solidFill>
                  </a:tcPr>
                </a:tc>
                <a:tc>
                  <a:txBody>
                    <a:bodyPr/>
                    <a:lstStyle/>
                    <a:p>
                      <a:pPr algn="ctr">
                        <a:defRPr sz="750">
                          <a:solidFill>
                            <a:srgbClr val="4A5568"/>
                          </a:solidFill>
                          <a:latin typeface="Microsoft JhengHei"/>
                        </a:defRPr>
                      </a:pPr>
                      <a:r>
                        <a:t>商模架構 (P3, P14)</a:t>
                      </a:r>
                    </a:p>
                  </a:txBody>
                  <a:tcPr anchor="ctr">
                    <a:solidFill>
                      <a:srgbClr val="FDFCFA"/>
                    </a:solidFill>
                  </a:tcPr>
                </a:tc>
              </a:tr>
              <a:tr h="304800">
                <a:tc>
                  <a:txBody>
                    <a:bodyPr/>
                    <a:lstStyle/>
                    <a:p>
                      <a:pPr algn="l">
                        <a:defRPr sz="750" b="1">
                          <a:solidFill>
                            <a:srgbClr val="232D38"/>
                          </a:solidFill>
                          <a:latin typeface="Microsoft JhengHei"/>
                        </a:defRPr>
                      </a:pPr>
                      <a:r>
                        <a:t>Air-gapped</a:t>
                      </a:r>
                    </a:p>
                  </a:txBody>
                  <a:tcPr anchor="ctr">
                    <a:solidFill>
                      <a:srgbClr val="F7F4ED"/>
                    </a:solidFill>
                  </a:tcPr>
                </a:tc>
                <a:tc>
                  <a:txBody>
                    <a:bodyPr/>
                    <a:lstStyle/>
                    <a:p>
                      <a:pPr algn="l">
                        <a:defRPr sz="750">
                          <a:solidFill>
                            <a:srgbClr val="4A5568"/>
                          </a:solidFill>
                          <a:latin typeface="Microsoft JhengHei"/>
                        </a:defRPr>
                      </a:pPr>
                      <a:r>
                        <a:t>Physical Air-Gap Isolation</a:t>
                      </a:r>
                    </a:p>
                  </a:txBody>
                  <a:tcPr anchor="ctr">
                    <a:solidFill>
                      <a:srgbClr val="F7F4ED"/>
                    </a:solidFill>
                  </a:tcPr>
                </a:tc>
                <a:tc>
                  <a:txBody>
                    <a:bodyPr/>
                    <a:lstStyle/>
                    <a:p>
                      <a:pPr algn="l">
                        <a:defRPr sz="750">
                          <a:solidFill>
                            <a:srgbClr val="4A5568"/>
                          </a:solidFill>
                          <a:latin typeface="Microsoft JhengHei"/>
                        </a:defRPr>
                      </a:pPr>
                      <a:r>
                        <a:t>實體隔離 / 無網路環境。斷開所有外部網際網路物理連線，專用於國防、半導體晶圓廠等涉密機敏專用環境。</a:t>
                      </a:r>
                    </a:p>
                  </a:txBody>
                  <a:tcPr anchor="ctr">
                    <a:solidFill>
                      <a:srgbClr val="F7F4ED"/>
                    </a:solidFill>
                  </a:tcPr>
                </a:tc>
                <a:tc>
                  <a:txBody>
                    <a:bodyPr/>
                    <a:lstStyle/>
                    <a:p>
                      <a:pPr algn="ctr">
                        <a:defRPr sz="750">
                          <a:solidFill>
                            <a:srgbClr val="4A5568"/>
                          </a:solidFill>
                          <a:latin typeface="Microsoft JhengHei"/>
                        </a:defRPr>
                      </a:pPr>
                      <a:r>
                        <a:t>機敏部署 (P7, P14, P15)</a:t>
                      </a:r>
                    </a:p>
                  </a:txBody>
                  <a:tcPr anchor="ctr">
                    <a:solidFill>
                      <a:srgbClr val="F7F4ED"/>
                    </a:solidFill>
                  </a:tcPr>
                </a:tc>
              </a:tr>
              <a:tr h="304800">
                <a:tc>
                  <a:txBody>
                    <a:bodyPr/>
                    <a:lstStyle/>
                    <a:p>
                      <a:pPr algn="l">
                        <a:defRPr sz="750" b="1">
                          <a:solidFill>
                            <a:srgbClr val="232D38"/>
                          </a:solidFill>
                          <a:latin typeface="Microsoft JhengHei"/>
                        </a:defRPr>
                      </a:pPr>
                      <a:r>
                        <a:t>CED</a:t>
                      </a:r>
                    </a:p>
                  </a:txBody>
                  <a:tcPr anchor="ctr">
                    <a:solidFill>
                      <a:srgbClr val="FDFCFA"/>
                    </a:solidFill>
                  </a:tcPr>
                </a:tc>
                <a:tc>
                  <a:txBody>
                    <a:bodyPr/>
                    <a:lstStyle/>
                    <a:p>
                      <a:pPr algn="l">
                        <a:defRPr sz="750">
                          <a:solidFill>
                            <a:srgbClr val="4A5568"/>
                          </a:solidFill>
                          <a:latin typeface="Microsoft JhengHei"/>
                        </a:defRPr>
                      </a:pPr>
                      <a:r>
                        <a:t>Context Elastic Distill (上下文彈性蒸餾)</a:t>
                      </a:r>
                    </a:p>
                  </a:txBody>
                  <a:tcPr anchor="ctr">
                    <a:solidFill>
                      <a:srgbClr val="FDFCFA"/>
                    </a:solidFill>
                  </a:tcPr>
                </a:tc>
                <a:tc>
                  <a:txBody>
                    <a:bodyPr/>
                    <a:lstStyle/>
                    <a:p>
                      <a:pPr algn="l">
                        <a:defRPr sz="750">
                          <a:solidFill>
                            <a:srgbClr val="4A5568"/>
                          </a:solidFill>
                          <a:latin typeface="Microsoft JhengHei"/>
                        </a:defRPr>
                      </a:pPr>
                      <a:r>
                        <a:t>DeepSeek 專利動態壓縮技術，依任務複雜度彈性壓縮上下文 Token，在極長對話中大幅降低顯存開銷與推理延遲。</a:t>
                      </a:r>
                    </a:p>
                  </a:txBody>
                  <a:tcPr anchor="ctr">
                    <a:solidFill>
                      <a:srgbClr val="FDFCFA"/>
                    </a:solidFill>
                  </a:tcPr>
                </a:tc>
                <a:tc>
                  <a:txBody>
                    <a:bodyPr/>
                    <a:lstStyle/>
                    <a:p>
                      <a:pPr algn="ctr">
                        <a:defRPr sz="750">
                          <a:solidFill>
                            <a:srgbClr val="4A5568"/>
                          </a:solidFill>
                          <a:latin typeface="Microsoft JhengHei"/>
                        </a:defRPr>
                      </a:pPr>
                      <a:r>
                        <a:t>底層技術 (P10)</a:t>
                      </a:r>
                    </a:p>
                  </a:txBody>
                  <a:tcPr anchor="ctr">
                    <a:solidFill>
                      <a:srgbClr val="FDFCFA"/>
                    </a:solidFill>
                  </a:tcPr>
                </a:tc>
              </a:tr>
              <a:tr h="304800">
                <a:tc>
                  <a:txBody>
                    <a:bodyPr/>
                    <a:lstStyle/>
                    <a:p>
                      <a:pPr algn="l">
                        <a:defRPr sz="750" b="1">
                          <a:solidFill>
                            <a:srgbClr val="232D38"/>
                          </a:solidFill>
                          <a:latin typeface="Microsoft JhengHei"/>
                        </a:defRPr>
                      </a:pPr>
                      <a:r>
                        <a:t>AIMS</a:t>
                      </a:r>
                    </a:p>
                  </a:txBody>
                  <a:tcPr anchor="ctr">
                    <a:solidFill>
                      <a:srgbClr val="F7F4ED"/>
                    </a:solidFill>
                  </a:tcPr>
                </a:tc>
                <a:tc>
                  <a:txBody>
                    <a:bodyPr/>
                    <a:lstStyle/>
                    <a:p>
                      <a:pPr algn="l">
                        <a:defRPr sz="750">
                          <a:solidFill>
                            <a:srgbClr val="4A5568"/>
                          </a:solidFill>
                          <a:latin typeface="Microsoft JhengHei"/>
                        </a:defRPr>
                      </a:pPr>
                      <a:r>
                        <a:t>Artificial Intelligence Management System</a:t>
                      </a:r>
                    </a:p>
                  </a:txBody>
                  <a:tcPr anchor="ctr">
                    <a:solidFill>
                      <a:srgbClr val="F7F4ED"/>
                    </a:solidFill>
                  </a:tcPr>
                </a:tc>
                <a:tc>
                  <a:txBody>
                    <a:bodyPr/>
                    <a:lstStyle/>
                    <a:p>
                      <a:pPr algn="l">
                        <a:defRPr sz="750">
                          <a:solidFill>
                            <a:srgbClr val="4A5568"/>
                          </a:solidFill>
                          <a:latin typeface="Microsoft JhengHei"/>
                        </a:defRPr>
                      </a:pPr>
                      <a:r>
                        <a:t>ISO/IEC 42001 人工智慧管理系統國際標準，規範企業部署 AI 系統時之風險治理、安全邊界與生命週期合規。</a:t>
                      </a:r>
                    </a:p>
                  </a:txBody>
                  <a:tcPr anchor="ctr">
                    <a:solidFill>
                      <a:srgbClr val="F7F4ED"/>
                    </a:solidFill>
                  </a:tcPr>
                </a:tc>
                <a:tc>
                  <a:txBody>
                    <a:bodyPr/>
                    <a:lstStyle/>
                    <a:p>
                      <a:pPr algn="ctr">
                        <a:defRPr sz="750">
                          <a:solidFill>
                            <a:srgbClr val="4A5568"/>
                          </a:solidFill>
                          <a:latin typeface="Microsoft JhengHei"/>
                        </a:defRPr>
                      </a:pPr>
                      <a:r>
                        <a:t>合規標準 (P1, P14)</a:t>
                      </a:r>
                    </a:p>
                  </a:txBody>
                  <a:tcPr anchor="ctr">
                    <a:solidFill>
                      <a:srgbClr val="F7F4ED"/>
                    </a:solidFill>
                  </a:tcPr>
                </a:tc>
              </a:tr>
              <a:tr h="304800">
                <a:tc>
                  <a:txBody>
                    <a:bodyPr/>
                    <a:lstStyle/>
                    <a:p>
                      <a:pPr algn="l">
                        <a:defRPr sz="750" b="1">
                          <a:solidFill>
                            <a:srgbClr val="232D38"/>
                          </a:solidFill>
                          <a:latin typeface="Microsoft JhengHei"/>
                        </a:defRPr>
                      </a:pPr>
                      <a:r>
                        <a:t>AI RMF</a:t>
                      </a:r>
                    </a:p>
                  </a:txBody>
                  <a:tcPr anchor="ctr">
                    <a:solidFill>
                      <a:srgbClr val="FDFCFA"/>
                    </a:solidFill>
                  </a:tcPr>
                </a:tc>
                <a:tc>
                  <a:txBody>
                    <a:bodyPr/>
                    <a:lstStyle/>
                    <a:p>
                      <a:pPr algn="l">
                        <a:defRPr sz="750">
                          <a:solidFill>
                            <a:srgbClr val="4A5568"/>
                          </a:solidFill>
                          <a:latin typeface="Microsoft JhengHei"/>
                        </a:defRPr>
                      </a:pPr>
                      <a:r>
                        <a:t>AI Risk Management Framework</a:t>
                      </a:r>
                    </a:p>
                  </a:txBody>
                  <a:tcPr anchor="ctr">
                    <a:solidFill>
                      <a:srgbClr val="FDFCFA"/>
                    </a:solidFill>
                  </a:tcPr>
                </a:tc>
                <a:tc>
                  <a:txBody>
                    <a:bodyPr/>
                    <a:lstStyle/>
                    <a:p>
                      <a:pPr algn="l">
                        <a:defRPr sz="750">
                          <a:solidFill>
                            <a:srgbClr val="4A5568"/>
                          </a:solidFill>
                          <a:latin typeface="Microsoft JhengHei"/>
                        </a:defRPr>
                      </a:pPr>
                      <a:r>
                        <a:t>美國國家標準暨技術研究院 (NIST) 發布之 AI 風險管理框架，涵蓋治理 (Govern)、映射 (Map)、量測 (Measure) 與管理 (Manage)。</a:t>
                      </a:r>
                    </a:p>
                  </a:txBody>
                  <a:tcPr anchor="ctr">
                    <a:solidFill>
                      <a:srgbClr val="FDFCFA"/>
                    </a:solidFill>
                  </a:tcPr>
                </a:tc>
                <a:tc>
                  <a:txBody>
                    <a:bodyPr/>
                    <a:lstStyle/>
                    <a:p>
                      <a:pPr algn="ctr">
                        <a:defRPr sz="750">
                          <a:solidFill>
                            <a:srgbClr val="4A5568"/>
                          </a:solidFill>
                          <a:latin typeface="Microsoft JhengHei"/>
                        </a:defRPr>
                      </a:pPr>
                      <a:r>
                        <a:t>安全法規 (P1, P14)</a:t>
                      </a:r>
                    </a:p>
                  </a:txBody>
                  <a:tcPr anchor="ctr">
                    <a:solidFill>
                      <a:srgbClr val="FDFCFA"/>
                    </a:solidFill>
                  </a:tcPr>
                </a:tc>
              </a:tr>
              <a:tr h="304800">
                <a:tc>
                  <a:txBody>
                    <a:bodyPr/>
                    <a:lstStyle/>
                    <a:p>
                      <a:pPr algn="l">
                        <a:defRPr sz="750" b="1">
                          <a:solidFill>
                            <a:srgbClr val="232D38"/>
                          </a:solidFill>
                          <a:latin typeface="Microsoft JhengHei"/>
                        </a:defRPr>
                      </a:pPr>
                      <a:r>
                        <a:t>OWASP Top 10</a:t>
                      </a:r>
                    </a:p>
                  </a:txBody>
                  <a:tcPr anchor="ctr">
                    <a:solidFill>
                      <a:srgbClr val="F7F4ED"/>
                    </a:solidFill>
                  </a:tcPr>
                </a:tc>
                <a:tc>
                  <a:txBody>
                    <a:bodyPr/>
                    <a:lstStyle/>
                    <a:p>
                      <a:pPr algn="l">
                        <a:defRPr sz="750">
                          <a:solidFill>
                            <a:srgbClr val="4A5568"/>
                          </a:solidFill>
                          <a:latin typeface="Microsoft JhengHei"/>
                        </a:defRPr>
                      </a:pPr>
                      <a:r>
                        <a:t>Agentic AI Top 10 Risks</a:t>
                      </a:r>
                    </a:p>
                  </a:txBody>
                  <a:tcPr anchor="ctr">
                    <a:solidFill>
                      <a:srgbClr val="F7F4ED"/>
                    </a:solidFill>
                  </a:tcPr>
                </a:tc>
                <a:tc>
                  <a:txBody>
                    <a:bodyPr/>
                    <a:lstStyle/>
                    <a:p>
                      <a:pPr algn="l">
                        <a:defRPr sz="750">
                          <a:solidFill>
                            <a:srgbClr val="4A5568"/>
                          </a:solidFill>
                          <a:latin typeface="Microsoft JhengHei"/>
                        </a:defRPr>
                      </a:pPr>
                      <a:r>
                        <a:t>OWASP 組織針對自主 AI 代理制定的十大關鍵安全風險防禦指南（如提示注入、不安全工具授權、死循環失控等）。</a:t>
                      </a:r>
                    </a:p>
                  </a:txBody>
                  <a:tcPr anchor="ctr">
                    <a:solidFill>
                      <a:srgbClr val="F7F4ED"/>
                    </a:solidFill>
                  </a:tcPr>
                </a:tc>
                <a:tc>
                  <a:txBody>
                    <a:bodyPr/>
                    <a:lstStyle/>
                    <a:p>
                      <a:pPr algn="ctr">
                        <a:defRPr sz="750">
                          <a:solidFill>
                            <a:srgbClr val="4A5568"/>
                          </a:solidFill>
                          <a:latin typeface="Microsoft JhengHei"/>
                        </a:defRPr>
                      </a:pPr>
                      <a:r>
                        <a:t>資安防禦 (P1, P14, P24)</a:t>
                      </a:r>
                    </a:p>
                  </a:txBody>
                  <a:tcPr anchor="ctr">
                    <a:solidFill>
                      <a:srgbClr val="F7F4ED"/>
                    </a:solidFill>
                  </a:tcPr>
                </a:tc>
              </a:tr>
            </a:tbl>
          </a:graphicData>
        </a:graphic>
      </p:graphicFrame>
      <p:sp>
        <p:nvSpPr>
          <p:cNvPr id="9" name="TextBox 8"/>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10" name="TextBox 9"/>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術語精解</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名詞對照表 (二)：代理治理、安全防護與前沿工程範式全解</a:t>
            </a:r>
          </a:p>
          <a:p>
            <a:pPr>
              <a:spcBef>
                <a:spcPts val="300"/>
              </a:spcBef>
            </a:pPr>
            <a:r>
              <a:rPr sz="950">
                <a:solidFill>
                  <a:srgbClr val="7C8695"/>
                </a:solidFill>
                <a:latin typeface="Microsoft JhengHei"/>
              </a:rPr>
              <a:t>涵蓋軟體工廠生產線、記憶外生化、人機安全閘門與主流治理架構之深層術語透視</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54480"/>
            <a:ext cx="10728655" cy="475488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841248" y="1645920"/>
          <a:ext cx="10509198" cy="4572000"/>
        </p:xfrm>
        <a:graphic>
          <a:graphicData uri="http://schemas.openxmlformats.org/drawingml/2006/table">
            <a:tbl>
              <a:tblPr firstRow="1" bandRow="1">
                <a:tableStyleId>{5C22544A-7EE6-4342-B048-85BDC9FD1C3A}</a:tableStyleId>
              </a:tblPr>
              <a:tblGrid>
                <a:gridCol w="1537931"/>
                <a:gridCol w="2136016"/>
                <a:gridCol w="4955557"/>
                <a:gridCol w="1879694"/>
              </a:tblGrid>
              <a:tr h="304800">
                <a:tc>
                  <a:txBody>
                    <a:bodyPr/>
                    <a:lstStyle/>
                    <a:p>
                      <a:pPr algn="l">
                        <a:defRPr sz="800" b="1">
                          <a:solidFill>
                            <a:srgbClr val="232D38"/>
                          </a:solidFill>
                          <a:latin typeface="Microsoft JhengHei"/>
                        </a:defRPr>
                      </a:pPr>
                      <a:r>
                        <a:t>縮寫 / 關鍵字</a:t>
                      </a:r>
                    </a:p>
                  </a:txBody>
                  <a:tcPr anchor="ctr">
                    <a:solidFill>
                      <a:srgbClr val="EAE4D8"/>
                    </a:solidFill>
                  </a:tcPr>
                </a:tc>
                <a:tc>
                  <a:txBody>
                    <a:bodyPr/>
                    <a:lstStyle/>
                    <a:p>
                      <a:pPr algn="l">
                        <a:defRPr sz="800" b="1">
                          <a:solidFill>
                            <a:srgbClr val="232D38"/>
                          </a:solidFill>
                          <a:latin typeface="Microsoft JhengHei"/>
                        </a:defRPr>
                      </a:pPr>
                      <a:r>
                        <a:t>英文全稱 / 概念原型</a:t>
                      </a:r>
                    </a:p>
                  </a:txBody>
                  <a:tcPr anchor="ctr">
                    <a:solidFill>
                      <a:srgbClr val="EAE4D8"/>
                    </a:solidFill>
                  </a:tcPr>
                </a:tc>
                <a:tc>
                  <a:txBody>
                    <a:bodyPr/>
                    <a:lstStyle/>
                    <a:p>
                      <a:pPr algn="l">
                        <a:defRPr sz="800" b="1">
                          <a:solidFill>
                            <a:srgbClr val="232D38"/>
                          </a:solidFill>
                          <a:latin typeface="Microsoft JhengHei"/>
                        </a:defRPr>
                      </a:pPr>
                      <a:r>
                        <a:t>核心意涵與工程定位</a:t>
                      </a:r>
                    </a:p>
                  </a:txBody>
                  <a:tcPr anchor="ctr">
                    <a:solidFill>
                      <a:srgbClr val="EAE4D8"/>
                    </a:solidFill>
                  </a:tcPr>
                </a:tc>
                <a:tc>
                  <a:txBody>
                    <a:bodyPr/>
                    <a:lstStyle/>
                    <a:p>
                      <a:pPr algn="ctr">
                        <a:defRPr sz="800" b="1">
                          <a:solidFill>
                            <a:srgbClr val="232D38"/>
                          </a:solidFill>
                          <a:latin typeface="Microsoft JhengHei"/>
                        </a:defRPr>
                      </a:pPr>
                      <a:r>
                        <a:t>關鍵出處 / 報告對應頁</a:t>
                      </a:r>
                    </a:p>
                  </a:txBody>
                  <a:tcPr anchor="ctr">
                    <a:solidFill>
                      <a:srgbClr val="EAE4D8"/>
                    </a:solidFill>
                  </a:tcPr>
                </a:tc>
              </a:tr>
              <a:tr h="304800">
                <a:tc>
                  <a:txBody>
                    <a:bodyPr/>
                    <a:lstStyle/>
                    <a:p>
                      <a:pPr algn="l">
                        <a:defRPr sz="750" b="1">
                          <a:solidFill>
                            <a:srgbClr val="232D38"/>
                          </a:solidFill>
                          <a:latin typeface="Microsoft JhengHei"/>
                        </a:defRPr>
                      </a:pPr>
                      <a:r>
                        <a:t>AC/DC</a:t>
                      </a:r>
                    </a:p>
                  </a:txBody>
                  <a:tcPr anchor="ctr">
                    <a:solidFill>
                      <a:srgbClr val="FDFCFA"/>
                    </a:solidFill>
                  </a:tcPr>
                </a:tc>
                <a:tc>
                  <a:txBody>
                    <a:bodyPr/>
                    <a:lstStyle/>
                    <a:p>
                      <a:pPr algn="l">
                        <a:defRPr sz="750">
                          <a:solidFill>
                            <a:srgbClr val="4A5568"/>
                          </a:solidFill>
                          <a:latin typeface="Microsoft JhengHei"/>
                        </a:defRPr>
                      </a:pPr>
                      <a:r>
                        <a:t>Agent-Centric / Developer-Constrained</a:t>
                      </a:r>
                    </a:p>
                  </a:txBody>
                  <a:tcPr anchor="ctr">
                    <a:solidFill>
                      <a:srgbClr val="FDFCFA"/>
                    </a:solidFill>
                  </a:tcPr>
                </a:tc>
                <a:tc>
                  <a:txBody>
                    <a:bodyPr/>
                    <a:lstStyle/>
                    <a:p>
                      <a:pPr algn="l">
                        <a:defRPr sz="750">
                          <a:solidFill>
                            <a:srgbClr val="4A5568"/>
                          </a:solidFill>
                          <a:latin typeface="Microsoft JhengHei"/>
                        </a:defRPr>
                      </a:pPr>
                      <a:r>
                        <a:t>OpenAI 前沿範式：引導 (Guide) → 生成 (Generate) → 驗證 (Verify) → 修復 (Solve) 封閉流水線，達成百萬行零手寫交付。</a:t>
                      </a:r>
                    </a:p>
                  </a:txBody>
                  <a:tcPr anchor="ctr">
                    <a:solidFill>
                      <a:srgbClr val="FDFCFA"/>
                    </a:solidFill>
                  </a:tcPr>
                </a:tc>
                <a:tc>
                  <a:txBody>
                    <a:bodyPr/>
                    <a:lstStyle/>
                    <a:p>
                      <a:pPr algn="ctr">
                        <a:defRPr sz="750">
                          <a:solidFill>
                            <a:srgbClr val="4A5568"/>
                          </a:solidFill>
                          <a:latin typeface="Microsoft JhengHei"/>
                        </a:defRPr>
                      </a:pPr>
                      <a:r>
                        <a:t>前沿範式 (P17, P21)</a:t>
                      </a:r>
                    </a:p>
                  </a:txBody>
                  <a:tcPr anchor="ctr">
                    <a:solidFill>
                      <a:srgbClr val="FDFCFA"/>
                    </a:solidFill>
                  </a:tcPr>
                </a:tc>
              </a:tr>
              <a:tr h="304800">
                <a:tc>
                  <a:txBody>
                    <a:bodyPr/>
                    <a:lstStyle/>
                    <a:p>
                      <a:pPr algn="l">
                        <a:defRPr sz="750" b="1">
                          <a:solidFill>
                            <a:srgbClr val="232D38"/>
                          </a:solidFill>
                          <a:latin typeface="Microsoft JhengHei"/>
                        </a:defRPr>
                      </a:pPr>
                      <a:r>
                        <a:t>HITL</a:t>
                      </a:r>
                    </a:p>
                  </a:txBody>
                  <a:tcPr anchor="ctr">
                    <a:solidFill>
                      <a:srgbClr val="F7F4ED"/>
                    </a:solidFill>
                  </a:tcPr>
                </a:tc>
                <a:tc>
                  <a:txBody>
                    <a:bodyPr/>
                    <a:lstStyle/>
                    <a:p>
                      <a:pPr algn="l">
                        <a:defRPr sz="750">
                          <a:solidFill>
                            <a:srgbClr val="4A5568"/>
                          </a:solidFill>
                          <a:latin typeface="Microsoft JhengHei"/>
                        </a:defRPr>
                      </a:pPr>
                      <a:r>
                        <a:t>Human-in-the-Loop (人機在環審批)</a:t>
                      </a:r>
                    </a:p>
                  </a:txBody>
                  <a:tcPr anchor="ctr">
                    <a:solidFill>
                      <a:srgbClr val="F7F4ED"/>
                    </a:solidFill>
                  </a:tcPr>
                </a:tc>
                <a:tc>
                  <a:txBody>
                    <a:bodyPr/>
                    <a:lstStyle/>
                    <a:p>
                      <a:pPr algn="l">
                        <a:defRPr sz="750">
                          <a:solidFill>
                            <a:srgbClr val="4A5568"/>
                          </a:solidFill>
                          <a:latin typeface="Microsoft JhengHei"/>
                        </a:defRPr>
                      </a:pPr>
                      <a:r>
                        <a:t>安全關鍵控制原則。所有危險命令（如 rm -rf、git push、存取機敏庫）必須經工程師實名授權核准方可放行。</a:t>
                      </a:r>
                    </a:p>
                  </a:txBody>
                  <a:tcPr anchor="ctr">
                    <a:solidFill>
                      <a:srgbClr val="F7F4ED"/>
                    </a:solidFill>
                  </a:tcPr>
                </a:tc>
                <a:tc>
                  <a:txBody>
                    <a:bodyPr/>
                    <a:lstStyle/>
                    <a:p>
                      <a:pPr algn="ctr">
                        <a:defRPr sz="750">
                          <a:solidFill>
                            <a:srgbClr val="4A5568"/>
                          </a:solidFill>
                          <a:latin typeface="Microsoft JhengHei"/>
                        </a:defRPr>
                      </a:pPr>
                      <a:r>
                        <a:t>安全治理 (P12, P14, P23)</a:t>
                      </a:r>
                    </a:p>
                  </a:txBody>
                  <a:tcPr anchor="ctr">
                    <a:solidFill>
                      <a:srgbClr val="F7F4ED"/>
                    </a:solidFill>
                  </a:tcPr>
                </a:tc>
              </a:tr>
              <a:tr h="304800">
                <a:tc>
                  <a:txBody>
                    <a:bodyPr/>
                    <a:lstStyle/>
                    <a:p>
                      <a:pPr algn="l">
                        <a:defRPr sz="750" b="1">
                          <a:solidFill>
                            <a:srgbClr val="232D38"/>
                          </a:solidFill>
                          <a:latin typeface="Microsoft JhengHei"/>
                        </a:defRPr>
                      </a:pPr>
                      <a:r>
                        <a:t>SAST / SCA</a:t>
                      </a:r>
                    </a:p>
                  </a:txBody>
                  <a:tcPr anchor="ctr">
                    <a:solidFill>
                      <a:srgbClr val="FDFCFA"/>
                    </a:solidFill>
                  </a:tcPr>
                </a:tc>
                <a:tc>
                  <a:txBody>
                    <a:bodyPr/>
                    <a:lstStyle/>
                    <a:p>
                      <a:pPr algn="l">
                        <a:defRPr sz="750">
                          <a:solidFill>
                            <a:srgbClr val="4A5568"/>
                          </a:solidFill>
                          <a:latin typeface="Microsoft JhengHei"/>
                        </a:defRPr>
                      </a:pPr>
                      <a:r>
                        <a:t>Static Application Security Testing / SCA</a:t>
                      </a:r>
                    </a:p>
                  </a:txBody>
                  <a:tcPr anchor="ctr">
                    <a:solidFill>
                      <a:srgbClr val="FDFCFA"/>
                    </a:solidFill>
                  </a:tcPr>
                </a:tc>
                <a:tc>
                  <a:txBody>
                    <a:bodyPr/>
                    <a:lstStyle/>
                    <a:p>
                      <a:pPr algn="l">
                        <a:defRPr sz="750" b="1">
                          <a:solidFill>
                            <a:srgbClr val="3B6E58"/>
                          </a:solidFill>
                          <a:latin typeface="Microsoft JhengHei"/>
                        </a:defRPr>
                      </a:pPr>
                      <a:r>
                        <a:t>靜態應用程式安全測試與軟體成分分析。外掛於 Agent 外部之客觀安檢門，防止代碼存在安全漏洞或開源授權衝突。</a:t>
                      </a:r>
                    </a:p>
                  </a:txBody>
                  <a:tcPr anchor="ctr">
                    <a:solidFill>
                      <a:srgbClr val="FDFCFA"/>
                    </a:solidFill>
                  </a:tcPr>
                </a:tc>
                <a:tc>
                  <a:txBody>
                    <a:bodyPr/>
                    <a:lstStyle/>
                    <a:p>
                      <a:pPr algn="ctr">
                        <a:defRPr sz="750">
                          <a:solidFill>
                            <a:srgbClr val="4A5568"/>
                          </a:solidFill>
                          <a:latin typeface="Microsoft JhengHei"/>
                        </a:defRPr>
                      </a:pPr>
                      <a:r>
                        <a:t>防禦閘門 (P5, P17, P21)</a:t>
                      </a:r>
                    </a:p>
                  </a:txBody>
                  <a:tcPr anchor="ctr">
                    <a:solidFill>
                      <a:srgbClr val="FDFCFA"/>
                    </a:solidFill>
                  </a:tcPr>
                </a:tc>
              </a:tr>
              <a:tr h="304800">
                <a:tc>
                  <a:txBody>
                    <a:bodyPr/>
                    <a:lstStyle/>
                    <a:p>
                      <a:pPr algn="l">
                        <a:defRPr sz="750" b="1">
                          <a:solidFill>
                            <a:srgbClr val="232D38"/>
                          </a:solidFill>
                          <a:latin typeface="Microsoft JhengHei"/>
                        </a:defRPr>
                      </a:pPr>
                      <a:r>
                        <a:t>CCI</a:t>
                      </a:r>
                    </a:p>
                  </a:txBody>
                  <a:tcPr anchor="ctr">
                    <a:solidFill>
                      <a:srgbClr val="F7F4ED"/>
                    </a:solidFill>
                  </a:tcPr>
                </a:tc>
                <a:tc>
                  <a:txBody>
                    <a:bodyPr/>
                    <a:lstStyle/>
                    <a:p>
                      <a:pPr algn="l">
                        <a:defRPr sz="750">
                          <a:solidFill>
                            <a:srgbClr val="4A5568"/>
                          </a:solidFill>
                          <a:latin typeface="Microsoft JhengHei"/>
                        </a:defRPr>
                      </a:pPr>
                      <a:r>
                        <a:t>Continuous Context Integration</a:t>
                      </a:r>
                    </a:p>
                  </a:txBody>
                  <a:tcPr anchor="ctr">
                    <a:solidFill>
                      <a:srgbClr val="F7F4ED"/>
                    </a:solidFill>
                  </a:tcPr>
                </a:tc>
                <a:tc>
                  <a:txBody>
                    <a:bodyPr/>
                    <a:lstStyle/>
                    <a:p>
                      <a:pPr algn="l">
                        <a:defRPr sz="750">
                          <a:solidFill>
                            <a:srgbClr val="4A5568"/>
                          </a:solidFill>
                          <a:latin typeface="Microsoft JhengHei"/>
                        </a:defRPr>
                      </a:pPr>
                      <a:r>
                        <a:t>持續上下文整合架構。強制將專案狀態序列化為硬碟 JSON 與 Git 歷史（外生化記憶），徹底根治長對話注意力失憶症。</a:t>
                      </a:r>
                    </a:p>
                  </a:txBody>
                  <a:tcPr anchor="ctr">
                    <a:solidFill>
                      <a:srgbClr val="F7F4ED"/>
                    </a:solidFill>
                  </a:tcPr>
                </a:tc>
                <a:tc>
                  <a:txBody>
                    <a:bodyPr/>
                    <a:lstStyle/>
                    <a:p>
                      <a:pPr algn="ctr">
                        <a:defRPr sz="750">
                          <a:solidFill>
                            <a:srgbClr val="4A5568"/>
                          </a:solidFill>
                          <a:latin typeface="Microsoft JhengHei"/>
                        </a:defRPr>
                      </a:pPr>
                      <a:r>
                        <a:t>記憶架構 (P17, P20)</a:t>
                      </a:r>
                    </a:p>
                  </a:txBody>
                  <a:tcPr anchor="ctr">
                    <a:solidFill>
                      <a:srgbClr val="F7F4ED"/>
                    </a:solidFill>
                  </a:tcPr>
                </a:tc>
              </a:tr>
              <a:tr h="304800">
                <a:tc>
                  <a:txBody>
                    <a:bodyPr/>
                    <a:lstStyle/>
                    <a:p>
                      <a:pPr algn="l">
                        <a:defRPr sz="750" b="1">
                          <a:solidFill>
                            <a:srgbClr val="232D38"/>
                          </a:solidFill>
                          <a:latin typeface="Microsoft JhengHei"/>
                        </a:defRPr>
                      </a:pPr>
                      <a:r>
                        <a:t>Spec-Driven</a:t>
                      </a:r>
                    </a:p>
                  </a:txBody>
                  <a:tcPr anchor="ctr">
                    <a:solidFill>
                      <a:srgbClr val="FDFCFA"/>
                    </a:solidFill>
                  </a:tcPr>
                </a:tc>
                <a:tc>
                  <a:txBody>
                    <a:bodyPr/>
                    <a:lstStyle/>
                    <a:p>
                      <a:pPr algn="l">
                        <a:defRPr sz="750">
                          <a:solidFill>
                            <a:srgbClr val="4A5568"/>
                          </a:solidFill>
                          <a:latin typeface="Microsoft JhengHei"/>
                        </a:defRPr>
                      </a:pPr>
                      <a:r>
                        <a:t>Specification-Driven Development</a:t>
                      </a:r>
                    </a:p>
                  </a:txBody>
                  <a:tcPr anchor="ctr">
                    <a:solidFill>
                      <a:srgbClr val="FDFCFA"/>
                    </a:solidFill>
                  </a:tcPr>
                </a:tc>
                <a:tc>
                  <a:txBody>
                    <a:bodyPr/>
                    <a:lstStyle/>
                    <a:p>
                      <a:pPr algn="l">
                        <a:defRPr sz="750">
                          <a:solidFill>
                            <a:srgbClr val="4A5568"/>
                          </a:solidFill>
                          <a:latin typeface="Microsoft JhengHei"/>
                        </a:defRPr>
                      </a:pPr>
                      <a:r>
                        <a:t>規格驅動開發。告別碰運氣的 Vibe Coding，由工程師撰寫嚴謹需求藍圖 (CLAUDE.md / AGENTS.md)，以契約硬性約束 Agent。</a:t>
                      </a:r>
                    </a:p>
                  </a:txBody>
                  <a:tcPr anchor="ctr">
                    <a:solidFill>
                      <a:srgbClr val="FDFCFA"/>
                    </a:solidFill>
                  </a:tcPr>
                </a:tc>
                <a:tc>
                  <a:txBody>
                    <a:bodyPr/>
                    <a:lstStyle/>
                    <a:p>
                      <a:pPr algn="ctr">
                        <a:defRPr sz="750">
                          <a:solidFill>
                            <a:srgbClr val="4A5568"/>
                          </a:solidFill>
                          <a:latin typeface="Microsoft JhengHei"/>
                        </a:defRPr>
                      </a:pPr>
                      <a:r>
                        <a:t>工程哲學 (P4, P5, P20)</a:t>
                      </a:r>
                    </a:p>
                  </a:txBody>
                  <a:tcPr anchor="ctr">
                    <a:solidFill>
                      <a:srgbClr val="FDFCFA"/>
                    </a:solidFill>
                  </a:tcPr>
                </a:tc>
              </a:tr>
              <a:tr h="304800">
                <a:tc>
                  <a:txBody>
                    <a:bodyPr/>
                    <a:lstStyle/>
                    <a:p>
                      <a:pPr algn="l">
                        <a:defRPr sz="750" b="1">
                          <a:solidFill>
                            <a:srgbClr val="232D38"/>
                          </a:solidFill>
                          <a:latin typeface="Microsoft JhengHei"/>
                        </a:defRPr>
                      </a:pPr>
                      <a:r>
                        <a:t>ADK</a:t>
                      </a:r>
                    </a:p>
                  </a:txBody>
                  <a:tcPr anchor="ctr">
                    <a:solidFill>
                      <a:srgbClr val="F7F4ED"/>
                    </a:solidFill>
                  </a:tcPr>
                </a:tc>
                <a:tc>
                  <a:txBody>
                    <a:bodyPr/>
                    <a:lstStyle/>
                    <a:p>
                      <a:pPr algn="l">
                        <a:defRPr sz="750">
                          <a:solidFill>
                            <a:srgbClr val="4A5568"/>
                          </a:solidFill>
                          <a:latin typeface="Microsoft JhengHei"/>
                        </a:defRPr>
                      </a:pPr>
                      <a:r>
                        <a:t>Agent Development Kit</a:t>
                      </a:r>
                    </a:p>
                  </a:txBody>
                  <a:tcPr anchor="ctr">
                    <a:solidFill>
                      <a:srgbClr val="F7F4ED"/>
                    </a:solidFill>
                  </a:tcPr>
                </a:tc>
                <a:tc>
                  <a:txBody>
                    <a:bodyPr/>
                    <a:lstStyle/>
                    <a:p>
                      <a:pPr algn="l">
                        <a:defRPr sz="750" b="1">
                          <a:solidFill>
                            <a:srgbClr val="3B6E58"/>
                          </a:solidFill>
                          <a:latin typeface="Microsoft JhengHei"/>
                        </a:defRPr>
                      </a:pPr>
                      <a:r>
                        <a:t>Google 推出的開源 Agent 開發工具套件，主打 Code-First 混合編排，分離機率推論與確定性工作流執行。</a:t>
                      </a:r>
                    </a:p>
                  </a:txBody>
                  <a:tcPr anchor="ctr">
                    <a:solidFill>
                      <a:srgbClr val="F7F4ED"/>
                    </a:solidFill>
                  </a:tcPr>
                </a:tc>
                <a:tc>
                  <a:txBody>
                    <a:bodyPr/>
                    <a:lstStyle/>
                    <a:p>
                      <a:pPr algn="ctr">
                        <a:defRPr sz="750">
                          <a:solidFill>
                            <a:srgbClr val="4A5568"/>
                          </a:solidFill>
                          <a:latin typeface="Microsoft JhengHei"/>
                        </a:defRPr>
                      </a:pPr>
                      <a:r>
                        <a:t>框架生態 (P2, P18)</a:t>
                      </a:r>
                    </a:p>
                  </a:txBody>
                  <a:tcPr anchor="ctr">
                    <a:solidFill>
                      <a:srgbClr val="F7F4ED"/>
                    </a:solidFill>
                  </a:tcPr>
                </a:tc>
              </a:tr>
              <a:tr h="304800">
                <a:tc>
                  <a:txBody>
                    <a:bodyPr/>
                    <a:lstStyle/>
                    <a:p>
                      <a:pPr algn="l">
                        <a:defRPr sz="750" b="1">
                          <a:solidFill>
                            <a:srgbClr val="232D38"/>
                          </a:solidFill>
                          <a:latin typeface="Microsoft JhengHei"/>
                        </a:defRPr>
                      </a:pPr>
                      <a:r>
                        <a:t>FTS5</a:t>
                      </a:r>
                    </a:p>
                  </a:txBody>
                  <a:tcPr anchor="ctr">
                    <a:solidFill>
                      <a:srgbClr val="FDFCFA"/>
                    </a:solidFill>
                  </a:tcPr>
                </a:tc>
                <a:tc>
                  <a:txBody>
                    <a:bodyPr/>
                    <a:lstStyle/>
                    <a:p>
                      <a:pPr algn="l">
                        <a:defRPr sz="750">
                          <a:solidFill>
                            <a:srgbClr val="4A5568"/>
                          </a:solidFill>
                          <a:latin typeface="Microsoft JhengHei"/>
                        </a:defRPr>
                      </a:pPr>
                      <a:r>
                        <a:t>Full-Text Search 5 (SQLite 引擎)</a:t>
                      </a:r>
                    </a:p>
                  </a:txBody>
                  <a:tcPr anchor="ctr">
                    <a:solidFill>
                      <a:srgbClr val="FDFCFA"/>
                    </a:solidFill>
                  </a:tcPr>
                </a:tc>
                <a:tc>
                  <a:txBody>
                    <a:bodyPr/>
                    <a:lstStyle/>
                    <a:p>
                      <a:pPr algn="l">
                        <a:defRPr sz="750">
                          <a:solidFill>
                            <a:srgbClr val="4A5568"/>
                          </a:solidFill>
                          <a:latin typeface="Microsoft JhengHei"/>
                        </a:defRPr>
                      </a:pPr>
                      <a:r>
                        <a:t>嵌入於 SQLite 內部的高效全文檢索擴充模組，Hermes 等框架利用其於完全離線無網環境下實現零依賴長期向量記憶檢索。</a:t>
                      </a:r>
                    </a:p>
                  </a:txBody>
                  <a:tcPr anchor="ctr">
                    <a:solidFill>
                      <a:srgbClr val="FDFCFA"/>
                    </a:solidFill>
                  </a:tcPr>
                </a:tc>
                <a:tc>
                  <a:txBody>
                    <a:bodyPr/>
                    <a:lstStyle/>
                    <a:p>
                      <a:pPr algn="ctr">
                        <a:defRPr sz="750">
                          <a:solidFill>
                            <a:srgbClr val="4A5568"/>
                          </a:solidFill>
                          <a:latin typeface="Microsoft JhengHei"/>
                        </a:defRPr>
                      </a:pPr>
                      <a:r>
                        <a:t>離線技術 (P12, P13)</a:t>
                      </a:r>
                    </a:p>
                  </a:txBody>
                  <a:tcPr anchor="ctr">
                    <a:solidFill>
                      <a:srgbClr val="FDFCFA"/>
                    </a:solidFill>
                  </a:tcPr>
                </a:tc>
              </a:tr>
              <a:tr h="304800">
                <a:tc>
                  <a:txBody>
                    <a:bodyPr/>
                    <a:lstStyle/>
                    <a:p>
                      <a:pPr algn="l">
                        <a:defRPr sz="750" b="1">
                          <a:solidFill>
                            <a:srgbClr val="232D38"/>
                          </a:solidFill>
                          <a:latin typeface="Microsoft JhengHei"/>
                        </a:defRPr>
                      </a:pPr>
                      <a:r>
                        <a:t>KV-Cache</a:t>
                      </a:r>
                    </a:p>
                  </a:txBody>
                  <a:tcPr anchor="ctr">
                    <a:solidFill>
                      <a:srgbClr val="F7F4ED"/>
                    </a:solidFill>
                  </a:tcPr>
                </a:tc>
                <a:tc>
                  <a:txBody>
                    <a:bodyPr/>
                    <a:lstStyle/>
                    <a:p>
                      <a:pPr algn="l">
                        <a:defRPr sz="750">
                          <a:solidFill>
                            <a:srgbClr val="4A5568"/>
                          </a:solidFill>
                          <a:latin typeface="Microsoft JhengHei"/>
                        </a:defRPr>
                      </a:pPr>
                      <a:r>
                        <a:t>Key-Value Cache</a:t>
                      </a:r>
                    </a:p>
                  </a:txBody>
                  <a:tcPr anchor="ctr">
                    <a:solidFill>
                      <a:srgbClr val="F7F4ED"/>
                    </a:solidFill>
                  </a:tcPr>
                </a:tc>
                <a:tc>
                  <a:txBody>
                    <a:bodyPr/>
                    <a:lstStyle/>
                    <a:p>
                      <a:pPr algn="l">
                        <a:defRPr sz="750">
                          <a:solidFill>
                            <a:srgbClr val="4A5568"/>
                          </a:solidFill>
                          <a:latin typeface="Microsoft JhengHei"/>
                        </a:defRPr>
                      </a:pPr>
                      <a:r>
                        <a:t>大模型注意力矩陣暫存機制。框架透過 Prompt Caching 命中快取，大幅縮短多輪對話回應延遲並節省高達 80% Token 費用。</a:t>
                      </a:r>
                    </a:p>
                  </a:txBody>
                  <a:tcPr anchor="ctr">
                    <a:solidFill>
                      <a:srgbClr val="F7F4ED"/>
                    </a:solidFill>
                  </a:tcPr>
                </a:tc>
                <a:tc>
                  <a:txBody>
                    <a:bodyPr/>
                    <a:lstStyle/>
                    <a:p>
                      <a:pPr algn="ctr">
                        <a:defRPr sz="750">
                          <a:solidFill>
                            <a:srgbClr val="4A5568"/>
                          </a:solidFill>
                          <a:latin typeface="Microsoft JhengHei"/>
                        </a:defRPr>
                      </a:pPr>
                      <a:r>
                        <a:t>成本優化 (P12)</a:t>
                      </a:r>
                    </a:p>
                  </a:txBody>
                  <a:tcPr anchor="ctr">
                    <a:solidFill>
                      <a:srgbClr val="F7F4ED"/>
                    </a:solidFill>
                  </a:tcPr>
                </a:tc>
              </a:tr>
              <a:tr h="304800">
                <a:tc>
                  <a:txBody>
                    <a:bodyPr/>
                    <a:lstStyle/>
                    <a:p>
                      <a:pPr algn="l">
                        <a:defRPr sz="750" b="1">
                          <a:solidFill>
                            <a:srgbClr val="232D38"/>
                          </a:solidFill>
                          <a:latin typeface="Microsoft JhengHei"/>
                        </a:defRPr>
                      </a:pPr>
                      <a:r>
                        <a:t>IAM / RBAC</a:t>
                      </a:r>
                    </a:p>
                  </a:txBody>
                  <a:tcPr anchor="ctr">
                    <a:solidFill>
                      <a:srgbClr val="FDFCFA"/>
                    </a:solidFill>
                  </a:tcPr>
                </a:tc>
                <a:tc>
                  <a:txBody>
                    <a:bodyPr/>
                    <a:lstStyle/>
                    <a:p>
                      <a:pPr algn="l">
                        <a:defRPr sz="750">
                          <a:solidFill>
                            <a:srgbClr val="4A5568"/>
                          </a:solidFill>
                          <a:latin typeface="Microsoft JhengHei"/>
                        </a:defRPr>
                      </a:pPr>
                      <a:r>
                        <a:t>Identity &amp; Access / Role-Based Access Control</a:t>
                      </a:r>
                    </a:p>
                  </a:txBody>
                  <a:tcPr anchor="ctr">
                    <a:solidFill>
                      <a:srgbClr val="FDFCFA"/>
                    </a:solidFill>
                  </a:tcPr>
                </a:tc>
                <a:tc>
                  <a:txBody>
                    <a:bodyPr/>
                    <a:lstStyle/>
                    <a:p>
                      <a:pPr algn="l">
                        <a:defRPr sz="750">
                          <a:solidFill>
                            <a:srgbClr val="4A5568"/>
                          </a:solidFill>
                          <a:latin typeface="Microsoft JhengHei"/>
                        </a:defRPr>
                      </a:pPr>
                      <a:r>
                        <a:t>身份認證與基於角色的權限存取控制。限制各 Agent 節點僅能存取最小必要之工具、資料庫與文件，防止特權擴散。</a:t>
                      </a:r>
                    </a:p>
                  </a:txBody>
                  <a:tcPr anchor="ctr">
                    <a:solidFill>
                      <a:srgbClr val="FDFCFA"/>
                    </a:solidFill>
                  </a:tcPr>
                </a:tc>
                <a:tc>
                  <a:txBody>
                    <a:bodyPr/>
                    <a:lstStyle/>
                    <a:p>
                      <a:pPr algn="ctr">
                        <a:defRPr sz="750">
                          <a:solidFill>
                            <a:srgbClr val="4A5568"/>
                          </a:solidFill>
                          <a:latin typeface="Microsoft JhengHei"/>
                        </a:defRPr>
                      </a:pPr>
                      <a:r>
                        <a:t>資安標準 (P14, P18, P22)</a:t>
                      </a:r>
                    </a:p>
                  </a:txBody>
                  <a:tcPr anchor="ctr">
                    <a:solidFill>
                      <a:srgbClr val="FDFCFA"/>
                    </a:solidFill>
                  </a:tcPr>
                </a:tc>
              </a:tr>
              <a:tr h="304800">
                <a:tc>
                  <a:txBody>
                    <a:bodyPr/>
                    <a:lstStyle/>
                    <a:p>
                      <a:pPr algn="l">
                        <a:defRPr sz="750" b="1">
                          <a:solidFill>
                            <a:srgbClr val="232D38"/>
                          </a:solidFill>
                          <a:latin typeface="Microsoft JhengHei"/>
                        </a:defRPr>
                      </a:pPr>
                      <a:r>
                        <a:t>Swarm</a:t>
                      </a:r>
                    </a:p>
                  </a:txBody>
                  <a:tcPr anchor="ctr">
                    <a:solidFill>
                      <a:srgbClr val="F7F4ED"/>
                    </a:solidFill>
                  </a:tcPr>
                </a:tc>
                <a:tc>
                  <a:txBody>
                    <a:bodyPr/>
                    <a:lstStyle/>
                    <a:p>
                      <a:pPr algn="l">
                        <a:defRPr sz="750">
                          <a:solidFill>
                            <a:srgbClr val="4A5568"/>
                          </a:solidFill>
                          <a:latin typeface="Microsoft JhengHei"/>
                        </a:defRPr>
                      </a:pPr>
                      <a:r>
                        <a:t>Multi-Agent Swarm (多代理蜂群)</a:t>
                      </a:r>
                    </a:p>
                  </a:txBody>
                  <a:tcPr anchor="ctr">
                    <a:solidFill>
                      <a:srgbClr val="F7F4ED"/>
                    </a:solidFill>
                  </a:tcPr>
                </a:tc>
                <a:tc>
                  <a:txBody>
                    <a:bodyPr/>
                    <a:lstStyle/>
                    <a:p>
                      <a:pPr algn="l">
                        <a:defRPr sz="750">
                          <a:solidFill>
                            <a:srgbClr val="4A5568"/>
                          </a:solidFill>
                          <a:latin typeface="Microsoft JhengHei"/>
                        </a:defRPr>
                      </a:pPr>
                      <a:r>
                        <a:t>多個輕量化專業子代理依拓撲結構非同步協同分工（如調研、架構、編碼、驗收），大幅提升長程複雜系統交付吞吐率。</a:t>
                      </a:r>
                    </a:p>
                  </a:txBody>
                  <a:tcPr anchor="ctr">
                    <a:solidFill>
                      <a:srgbClr val="F7F4ED"/>
                    </a:solidFill>
                  </a:tcPr>
                </a:tc>
                <a:tc>
                  <a:txBody>
                    <a:bodyPr/>
                    <a:lstStyle/>
                    <a:p>
                      <a:pPr algn="ctr">
                        <a:defRPr sz="750">
                          <a:solidFill>
                            <a:srgbClr val="4A5568"/>
                          </a:solidFill>
                          <a:latin typeface="Microsoft JhengHei"/>
                        </a:defRPr>
                      </a:pPr>
                      <a:r>
                        <a:t>協同架構 (P3, P6, P12)</a:t>
                      </a:r>
                    </a:p>
                  </a:txBody>
                  <a:tcPr anchor="ctr">
                    <a:solidFill>
                      <a:srgbClr val="F7F4ED"/>
                    </a:solidFill>
                  </a:tcPr>
                </a:tc>
              </a:tr>
              <a:tr h="304800">
                <a:tc>
                  <a:txBody>
                    <a:bodyPr/>
                    <a:lstStyle/>
                    <a:p>
                      <a:pPr algn="l">
                        <a:defRPr sz="750" b="1">
                          <a:solidFill>
                            <a:srgbClr val="232D38"/>
                          </a:solidFill>
                          <a:latin typeface="Microsoft JhengHei"/>
                        </a:defRPr>
                      </a:pPr>
                      <a:r>
                        <a:t>Governor</a:t>
                      </a:r>
                    </a:p>
                  </a:txBody>
                  <a:tcPr anchor="ctr">
                    <a:solidFill>
                      <a:srgbClr val="FDFCFA"/>
                    </a:solidFill>
                  </a:tcPr>
                </a:tc>
                <a:tc>
                  <a:txBody>
                    <a:bodyPr/>
                    <a:lstStyle/>
                    <a:p>
                      <a:pPr algn="l">
                        <a:defRPr sz="750">
                          <a:solidFill>
                            <a:srgbClr val="4A5568"/>
                          </a:solidFill>
                          <a:latin typeface="Microsoft JhengHei"/>
                        </a:defRPr>
                      </a:pPr>
                      <a:r>
                        <a:t>System Governor (系統治理者)</a:t>
                      </a:r>
                    </a:p>
                  </a:txBody>
                  <a:tcPr anchor="ctr">
                    <a:solidFill>
                      <a:srgbClr val="FDFCFA"/>
                    </a:solidFill>
                  </a:tcPr>
                </a:tc>
                <a:tc>
                  <a:txBody>
                    <a:bodyPr/>
                    <a:lstStyle/>
                    <a:p>
                      <a:pPr algn="l">
                        <a:defRPr sz="750">
                          <a:solidFill>
                            <a:srgbClr val="4A5568"/>
                          </a:solidFill>
                          <a:latin typeface="Microsoft JhengHei"/>
                        </a:defRPr>
                      </a:pPr>
                      <a:r>
                        <a:t>工程師在 AI 時代的全新身分定義：不再手動敲打每一行代碼，而是專注於制定規則邊界、設計沙盒與審批驗收的架構掌控者。</a:t>
                      </a:r>
                    </a:p>
                  </a:txBody>
                  <a:tcPr anchor="ctr">
                    <a:solidFill>
                      <a:srgbClr val="FDFCFA"/>
                    </a:solidFill>
                  </a:tcPr>
                </a:tc>
                <a:tc>
                  <a:txBody>
                    <a:bodyPr/>
                    <a:lstStyle/>
                    <a:p>
                      <a:pPr algn="ctr">
                        <a:defRPr sz="750">
                          <a:solidFill>
                            <a:srgbClr val="4A5568"/>
                          </a:solidFill>
                          <a:latin typeface="Microsoft JhengHei"/>
                        </a:defRPr>
                      </a:pPr>
                      <a:r>
                        <a:t>角色演進 (P17, P21, P24)</a:t>
                      </a:r>
                    </a:p>
                  </a:txBody>
                  <a:tcPr anchor="ctr">
                    <a:solidFill>
                      <a:srgbClr val="FDFCFA"/>
                    </a:solidFill>
                  </a:tcPr>
                </a:tc>
              </a:tr>
              <a:tr h="304800">
                <a:tc>
                  <a:txBody>
                    <a:bodyPr/>
                    <a:lstStyle/>
                    <a:p>
                      <a:pPr algn="l">
                        <a:defRPr sz="750" b="1">
                          <a:solidFill>
                            <a:srgbClr val="232D38"/>
                          </a:solidFill>
                          <a:latin typeface="Microsoft JhengHei"/>
                        </a:defRPr>
                      </a:pPr>
                      <a:r>
                        <a:t>Hard Scaffolding</a:t>
                      </a:r>
                    </a:p>
                  </a:txBody>
                  <a:tcPr anchor="ctr">
                    <a:solidFill>
                      <a:srgbClr val="F7F4ED"/>
                    </a:solidFill>
                  </a:tcPr>
                </a:tc>
                <a:tc>
                  <a:txBody>
                    <a:bodyPr/>
                    <a:lstStyle/>
                    <a:p>
                      <a:pPr algn="l">
                        <a:defRPr sz="750">
                          <a:solidFill>
                            <a:srgbClr val="4A5568"/>
                          </a:solidFill>
                          <a:latin typeface="Microsoft JhengHei"/>
                        </a:defRPr>
                      </a:pPr>
                      <a:r>
                        <a:t>硬鷹架 (確定性物理防線)</a:t>
                      </a:r>
                    </a:p>
                  </a:txBody>
                  <a:tcPr anchor="ctr">
                    <a:solidFill>
                      <a:srgbClr val="F7F4ED"/>
                    </a:solidFill>
                  </a:tcPr>
                </a:tc>
                <a:tc>
                  <a:txBody>
                    <a:bodyPr/>
                    <a:lstStyle/>
                    <a:p>
                      <a:pPr algn="l">
                        <a:defRPr sz="750">
                          <a:solidFill>
                            <a:srgbClr val="4A5568"/>
                          </a:solidFill>
                          <a:latin typeface="Microsoft JhengHei"/>
                        </a:defRPr>
                      </a:pPr>
                      <a:r>
                        <a:t>包括 OS 沙盒、IAM 鑑權、實體測試、Git 版本庫等不可被大模型吸收的外部物理安全與治理基礎設施。</a:t>
                      </a:r>
                    </a:p>
                  </a:txBody>
                  <a:tcPr anchor="ctr">
                    <a:solidFill>
                      <a:srgbClr val="F7F4ED"/>
                    </a:solidFill>
                  </a:tcPr>
                </a:tc>
                <a:tc>
                  <a:txBody>
                    <a:bodyPr/>
                    <a:lstStyle/>
                    <a:p>
                      <a:pPr algn="ctr">
                        <a:defRPr sz="750">
                          <a:solidFill>
                            <a:srgbClr val="4A5568"/>
                          </a:solidFill>
                          <a:latin typeface="Microsoft JhengHei"/>
                        </a:defRPr>
                      </a:pPr>
                      <a:r>
                        <a:t>終局戰略 (P18, P22, P23)</a:t>
                      </a:r>
                    </a:p>
                  </a:txBody>
                  <a:tcPr anchor="ctr">
                    <a:solidFill>
                      <a:srgbClr val="F7F4ED"/>
                    </a:solidFill>
                  </a:tcPr>
                </a:tc>
              </a:tr>
              <a:tr h="304800">
                <a:tc>
                  <a:txBody>
                    <a:bodyPr/>
                    <a:lstStyle/>
                    <a:p>
                      <a:pPr algn="l">
                        <a:defRPr sz="750" b="1">
                          <a:solidFill>
                            <a:srgbClr val="232D38"/>
                          </a:solidFill>
                          <a:latin typeface="Microsoft JhengHei"/>
                        </a:defRPr>
                      </a:pPr>
                      <a:r>
                        <a:t>Soft Scaffolding</a:t>
                      </a:r>
                    </a:p>
                  </a:txBody>
                  <a:tcPr anchor="ctr">
                    <a:solidFill>
                      <a:srgbClr val="FDFCFA"/>
                    </a:solidFill>
                  </a:tcPr>
                </a:tc>
                <a:tc>
                  <a:txBody>
                    <a:bodyPr/>
                    <a:lstStyle/>
                    <a:p>
                      <a:pPr algn="l">
                        <a:defRPr sz="750">
                          <a:solidFill>
                            <a:srgbClr val="4A5568"/>
                          </a:solidFill>
                          <a:latin typeface="Microsoft JhengHei"/>
                        </a:defRPr>
                      </a:pPr>
                      <a:r>
                        <a:t>軟鷹架 (過渡性提示工程)</a:t>
                      </a:r>
                    </a:p>
                  </a:txBody>
                  <a:tcPr anchor="ctr">
                    <a:solidFill>
                      <a:srgbClr val="FDFCFA"/>
                    </a:solidFill>
                  </a:tcPr>
                </a:tc>
                <a:tc>
                  <a:txBody>
                    <a:bodyPr/>
                    <a:lstStyle/>
                    <a:p>
                      <a:pPr algn="l">
                        <a:defRPr sz="750">
                          <a:solidFill>
                            <a:srgbClr val="4A5568"/>
                          </a:solidFill>
                          <a:latin typeface="Microsoft JhengHei"/>
                        </a:defRPr>
                      </a:pPr>
                      <a:r>
                        <a:t>包括 Prompt 模板、陽春 ReAct 循環與單純重試包裝等過渡層，隨著基礎模型推理本能成熟將注定被模型原生吸收淘汰。</a:t>
                      </a:r>
                    </a:p>
                  </a:txBody>
                  <a:tcPr anchor="ctr">
                    <a:solidFill>
                      <a:srgbClr val="FDFCFA"/>
                    </a:solidFill>
                  </a:tcPr>
                </a:tc>
                <a:tc>
                  <a:txBody>
                    <a:bodyPr/>
                    <a:lstStyle/>
                    <a:p>
                      <a:pPr algn="ctr">
                        <a:defRPr sz="750">
                          <a:solidFill>
                            <a:srgbClr val="4A5568"/>
                          </a:solidFill>
                          <a:latin typeface="Microsoft JhengHei"/>
                        </a:defRPr>
                      </a:pPr>
                      <a:r>
                        <a:t>終局戰略 (P18, P22)</a:t>
                      </a:r>
                    </a:p>
                  </a:txBody>
                  <a:tcPr anchor="ctr">
                    <a:solidFill>
                      <a:srgbClr val="FDFCFA"/>
                    </a:solidFill>
                  </a:tcPr>
                </a:tc>
              </a:tr>
              <a:tr h="304800">
                <a:tc>
                  <a:txBody>
                    <a:bodyPr/>
                    <a:lstStyle/>
                    <a:p>
                      <a:pPr algn="l">
                        <a:defRPr sz="750" b="1">
                          <a:solidFill>
                            <a:srgbClr val="232D38"/>
                          </a:solidFill>
                          <a:latin typeface="Microsoft JhengHei"/>
                        </a:defRPr>
                      </a:pPr>
                      <a:r>
                        <a:t>Self-Scaffolding</a:t>
                      </a:r>
                    </a:p>
                  </a:txBody>
                  <a:tcPr anchor="ctr">
                    <a:solidFill>
                      <a:srgbClr val="F7F4ED"/>
                    </a:solidFill>
                  </a:tcPr>
                </a:tc>
                <a:tc>
                  <a:txBody>
                    <a:bodyPr/>
                    <a:lstStyle/>
                    <a:p>
                      <a:pPr algn="l">
                        <a:defRPr sz="750">
                          <a:solidFill>
                            <a:srgbClr val="4A5568"/>
                          </a:solidFill>
                          <a:latin typeface="Microsoft JhengHei"/>
                        </a:defRPr>
                      </a:pPr>
                      <a:r>
                        <a:t>自鷹架 RL 訓練</a:t>
                      </a:r>
                    </a:p>
                  </a:txBody>
                  <a:tcPr anchor="ctr">
                    <a:solidFill>
                      <a:srgbClr val="F7F4ED"/>
                    </a:solidFill>
                  </a:tcPr>
                </a:tc>
                <a:tc>
                  <a:txBody>
                    <a:bodyPr/>
                    <a:lstStyle/>
                    <a:p>
                      <a:pPr algn="l">
                        <a:defRPr sz="750">
                          <a:solidFill>
                            <a:srgbClr val="4A5568"/>
                          </a:solidFill>
                          <a:latin typeface="Microsoft JhengHei"/>
                        </a:defRPr>
                      </a:pPr>
                      <a:r>
                        <a:t>模型透過自我對弈與強化學習自主生成思考鷹架（如 Ornith-1.5），在少依賴外部複雜框架的前提下展現極高終端運維能力。</a:t>
                      </a:r>
                    </a:p>
                  </a:txBody>
                  <a:tcPr anchor="ctr">
                    <a:solidFill>
                      <a:srgbClr val="F7F4ED"/>
                    </a:solidFill>
                  </a:tcPr>
                </a:tc>
                <a:tc>
                  <a:txBody>
                    <a:bodyPr/>
                    <a:lstStyle/>
                    <a:p>
                      <a:pPr algn="ctr">
                        <a:defRPr sz="750">
                          <a:solidFill>
                            <a:srgbClr val="4A5568"/>
                          </a:solidFill>
                          <a:latin typeface="Microsoft JhengHei"/>
                        </a:defRPr>
                      </a:pPr>
                      <a:r>
                        <a:t>前沿技術 (P11, P16)</a:t>
                      </a:r>
                    </a:p>
                  </a:txBody>
                  <a:tcPr anchor="ctr">
                    <a:solidFill>
                      <a:srgbClr val="F7F4ED"/>
                    </a:solidFill>
                  </a:tcPr>
                </a:tc>
              </a:tr>
            </a:tbl>
          </a:graphicData>
        </a:graphic>
      </p:graphicFrame>
      <p:sp>
        <p:nvSpPr>
          <p:cNvPr id="9" name="TextBox 8"/>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10" name="TextBox 9"/>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術語精解</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名詞對照表 (三)：國防機敏、資安合規與硬體基建全解</a:t>
            </a:r>
          </a:p>
          <a:p>
            <a:pPr>
              <a:spcBef>
                <a:spcPts val="300"/>
              </a:spcBef>
            </a:pPr>
            <a:r>
              <a:rPr sz="950">
                <a:solidFill>
                  <a:srgbClr val="7C8695"/>
                </a:solidFill>
                <a:latin typeface="Microsoft JhengHei"/>
              </a:rPr>
              <a:t>聚焦實體隔離、國防密鑰硬體防護、安全合規等級與私有推理引擎之關鍵術語透視</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54480"/>
            <a:ext cx="10728655" cy="475488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841248" y="1645920"/>
          <a:ext cx="10509198" cy="4572000"/>
        </p:xfrm>
        <a:graphic>
          <a:graphicData uri="http://schemas.openxmlformats.org/drawingml/2006/table">
            <a:tbl>
              <a:tblPr firstRow="1" bandRow="1">
                <a:tableStyleId>{5C22544A-7EE6-4342-B048-85BDC9FD1C3A}</a:tableStyleId>
              </a:tblPr>
              <a:tblGrid>
                <a:gridCol w="1537931"/>
                <a:gridCol w="2136016"/>
                <a:gridCol w="4955557"/>
                <a:gridCol w="1879694"/>
              </a:tblGrid>
              <a:tr h="304800">
                <a:tc>
                  <a:txBody>
                    <a:bodyPr/>
                    <a:lstStyle/>
                    <a:p>
                      <a:pPr algn="l">
                        <a:defRPr sz="800" b="1">
                          <a:solidFill>
                            <a:srgbClr val="232D38"/>
                          </a:solidFill>
                          <a:latin typeface="Microsoft JhengHei"/>
                        </a:defRPr>
                      </a:pPr>
                      <a:r>
                        <a:t>縮寫 / 關鍵字</a:t>
                      </a:r>
                    </a:p>
                  </a:txBody>
                  <a:tcPr anchor="ctr">
                    <a:solidFill>
                      <a:srgbClr val="EAE4D8"/>
                    </a:solidFill>
                  </a:tcPr>
                </a:tc>
                <a:tc>
                  <a:txBody>
                    <a:bodyPr/>
                    <a:lstStyle/>
                    <a:p>
                      <a:pPr algn="l">
                        <a:defRPr sz="800" b="1">
                          <a:solidFill>
                            <a:srgbClr val="232D38"/>
                          </a:solidFill>
                          <a:latin typeface="Microsoft JhengHei"/>
                        </a:defRPr>
                      </a:pPr>
                      <a:r>
                        <a:t>英文全稱 / 概念原型</a:t>
                      </a:r>
                    </a:p>
                  </a:txBody>
                  <a:tcPr anchor="ctr">
                    <a:solidFill>
                      <a:srgbClr val="EAE4D8"/>
                    </a:solidFill>
                  </a:tcPr>
                </a:tc>
                <a:tc>
                  <a:txBody>
                    <a:bodyPr/>
                    <a:lstStyle/>
                    <a:p>
                      <a:pPr algn="l">
                        <a:defRPr sz="800" b="1">
                          <a:solidFill>
                            <a:srgbClr val="232D38"/>
                          </a:solidFill>
                          <a:latin typeface="Microsoft JhengHei"/>
                        </a:defRPr>
                      </a:pPr>
                      <a:r>
                        <a:t>核心意涵與工程定位</a:t>
                      </a:r>
                    </a:p>
                  </a:txBody>
                  <a:tcPr anchor="ctr">
                    <a:solidFill>
                      <a:srgbClr val="EAE4D8"/>
                    </a:solidFill>
                  </a:tcPr>
                </a:tc>
                <a:tc>
                  <a:txBody>
                    <a:bodyPr/>
                    <a:lstStyle/>
                    <a:p>
                      <a:pPr algn="ctr">
                        <a:defRPr sz="800" b="1">
                          <a:solidFill>
                            <a:srgbClr val="232D38"/>
                          </a:solidFill>
                          <a:latin typeface="Microsoft JhengHei"/>
                        </a:defRPr>
                      </a:pPr>
                      <a:r>
                        <a:t>關鍵出處 / 報告對應頁</a:t>
                      </a:r>
                    </a:p>
                  </a:txBody>
                  <a:tcPr anchor="ctr">
                    <a:solidFill>
                      <a:srgbClr val="EAE4D8"/>
                    </a:solidFill>
                  </a:tcPr>
                </a:tc>
              </a:tr>
              <a:tr h="304800">
                <a:tc>
                  <a:txBody>
                    <a:bodyPr/>
                    <a:lstStyle/>
                    <a:p>
                      <a:pPr algn="l">
                        <a:defRPr sz="750" b="1">
                          <a:solidFill>
                            <a:srgbClr val="232D38"/>
                          </a:solidFill>
                          <a:latin typeface="Microsoft JhengHei"/>
                        </a:defRPr>
                      </a:pPr>
                      <a:r>
                        <a:t>VLAN</a:t>
                      </a:r>
                    </a:p>
                  </a:txBody>
                  <a:tcPr anchor="ctr">
                    <a:solidFill>
                      <a:srgbClr val="FDFCFA"/>
                    </a:solidFill>
                  </a:tcPr>
                </a:tc>
                <a:tc>
                  <a:txBody>
                    <a:bodyPr/>
                    <a:lstStyle/>
                    <a:p>
                      <a:pPr algn="l">
                        <a:defRPr sz="750">
                          <a:solidFill>
                            <a:srgbClr val="4A5568"/>
                          </a:solidFill>
                          <a:latin typeface="Microsoft JhengHei"/>
                        </a:defRPr>
                      </a:pPr>
                      <a:r>
                        <a:t>Virtual Local Area Network</a:t>
                      </a:r>
                    </a:p>
                  </a:txBody>
                  <a:tcPr anchor="ctr">
                    <a:solidFill>
                      <a:srgbClr val="FDFCFA"/>
                    </a:solidFill>
                  </a:tcPr>
                </a:tc>
                <a:tc>
                  <a:txBody>
                    <a:bodyPr/>
                    <a:lstStyle/>
                    <a:p>
                      <a:pPr algn="l">
                        <a:defRPr sz="750">
                          <a:solidFill>
                            <a:srgbClr val="4A5568"/>
                          </a:solidFill>
                          <a:latin typeface="Microsoft JhengHei"/>
                        </a:defRPr>
                      </a:pPr>
                      <a:r>
                        <a:t>虛擬區域網路。用於將內部 Agent 節點、向量庫與管理控制台劃分於獨立廣播域，實施微隔離。</a:t>
                      </a:r>
                    </a:p>
                  </a:txBody>
                  <a:tcPr anchor="ctr">
                    <a:solidFill>
                      <a:srgbClr val="FDFCFA"/>
                    </a:solidFill>
                  </a:tcPr>
                </a:tc>
                <a:tc>
                  <a:txBody>
                    <a:bodyPr/>
                    <a:lstStyle/>
                    <a:p>
                      <a:pPr algn="ctr">
                        <a:defRPr sz="750">
                          <a:solidFill>
                            <a:srgbClr val="4A5568"/>
                          </a:solidFill>
                          <a:latin typeface="Microsoft JhengHei"/>
                        </a:defRPr>
                      </a:pPr>
                      <a:r>
                        <a:t>網路架構 (P14)</a:t>
                      </a:r>
                    </a:p>
                  </a:txBody>
                  <a:tcPr anchor="ctr">
                    <a:solidFill>
                      <a:srgbClr val="FDFCFA"/>
                    </a:solidFill>
                  </a:tcPr>
                </a:tc>
              </a:tr>
              <a:tr h="304800">
                <a:tc>
                  <a:txBody>
                    <a:bodyPr/>
                    <a:lstStyle/>
                    <a:p>
                      <a:pPr algn="l">
                        <a:defRPr sz="750" b="1">
                          <a:solidFill>
                            <a:srgbClr val="232D38"/>
                          </a:solidFill>
                          <a:latin typeface="Microsoft JhengHei"/>
                        </a:defRPr>
                      </a:pPr>
                      <a:r>
                        <a:t>SED</a:t>
                      </a:r>
                    </a:p>
                  </a:txBody>
                  <a:tcPr anchor="ctr">
                    <a:solidFill>
                      <a:srgbClr val="F7F4ED"/>
                    </a:solidFill>
                  </a:tcPr>
                </a:tc>
                <a:tc>
                  <a:txBody>
                    <a:bodyPr/>
                    <a:lstStyle/>
                    <a:p>
                      <a:pPr algn="l">
                        <a:defRPr sz="750">
                          <a:solidFill>
                            <a:srgbClr val="4A5568"/>
                          </a:solidFill>
                          <a:latin typeface="Microsoft JhengHei"/>
                        </a:defRPr>
                      </a:pPr>
                      <a:r>
                        <a:t>Self-Encrypting Drive (自我加密硬碟)</a:t>
                      </a:r>
                    </a:p>
                  </a:txBody>
                  <a:tcPr anchor="ctr">
                    <a:solidFill>
                      <a:srgbClr val="F7F4ED"/>
                    </a:solidFill>
                  </a:tcPr>
                </a:tc>
                <a:tc>
                  <a:txBody>
                    <a:bodyPr/>
                    <a:lstStyle/>
                    <a:p>
                      <a:pPr algn="l">
                        <a:defRPr sz="750">
                          <a:solidFill>
                            <a:srgbClr val="4A5568"/>
                          </a:solidFill>
                          <a:latin typeface="Microsoft JhengHei"/>
                        </a:defRPr>
                      </a:pPr>
                      <a:r>
                        <a:t>控制器層級內建 AES 硬體加密之儲存裝置，確保未授權物理拔除硬碟時機敏代碼與權重無法被還原。</a:t>
                      </a:r>
                    </a:p>
                  </a:txBody>
                  <a:tcPr anchor="ctr">
                    <a:solidFill>
                      <a:srgbClr val="F7F4ED"/>
                    </a:solidFill>
                  </a:tcPr>
                </a:tc>
                <a:tc>
                  <a:txBody>
                    <a:bodyPr/>
                    <a:lstStyle/>
                    <a:p>
                      <a:pPr algn="ctr">
                        <a:defRPr sz="750">
                          <a:solidFill>
                            <a:srgbClr val="4A5568"/>
                          </a:solidFill>
                          <a:latin typeface="Microsoft JhengHei"/>
                        </a:defRPr>
                      </a:pPr>
                      <a:r>
                        <a:t>硬體資安 (P14)</a:t>
                      </a:r>
                    </a:p>
                  </a:txBody>
                  <a:tcPr anchor="ctr">
                    <a:solidFill>
                      <a:srgbClr val="F7F4ED"/>
                    </a:solidFill>
                  </a:tcPr>
                </a:tc>
              </a:tr>
              <a:tr h="304800">
                <a:tc>
                  <a:txBody>
                    <a:bodyPr/>
                    <a:lstStyle/>
                    <a:p>
                      <a:pPr algn="l">
                        <a:defRPr sz="750" b="1">
                          <a:solidFill>
                            <a:srgbClr val="232D38"/>
                          </a:solidFill>
                          <a:latin typeface="Microsoft JhengHei"/>
                        </a:defRPr>
                      </a:pPr>
                      <a:r>
                        <a:t>TPM 2.0</a:t>
                      </a:r>
                    </a:p>
                  </a:txBody>
                  <a:tcPr anchor="ctr">
                    <a:solidFill>
                      <a:srgbClr val="FDFCFA"/>
                    </a:solidFill>
                  </a:tcPr>
                </a:tc>
                <a:tc>
                  <a:txBody>
                    <a:bodyPr/>
                    <a:lstStyle/>
                    <a:p>
                      <a:pPr algn="l">
                        <a:defRPr sz="750">
                          <a:solidFill>
                            <a:srgbClr val="4A5568"/>
                          </a:solidFill>
                          <a:latin typeface="Microsoft JhengHei"/>
                        </a:defRPr>
                      </a:pPr>
                      <a:r>
                        <a:t>Trusted Platform Module 2.0</a:t>
                      </a:r>
                    </a:p>
                  </a:txBody>
                  <a:tcPr anchor="ctr">
                    <a:solidFill>
                      <a:srgbClr val="FDFCFA"/>
                    </a:solidFill>
                  </a:tcPr>
                </a:tc>
                <a:tc>
                  <a:txBody>
                    <a:bodyPr/>
                    <a:lstStyle/>
                    <a:p>
                      <a:pPr algn="l">
                        <a:defRPr sz="750">
                          <a:solidFill>
                            <a:srgbClr val="4A5568"/>
                          </a:solidFill>
                          <a:latin typeface="Microsoft JhengHei"/>
                        </a:defRPr>
                      </a:pPr>
                      <a:r>
                        <a:t>信賴平台模組。主機板硬體安全晶片，負責安全開機度量 (Measured Boot) 與硬體級密鑰密封 (Sealing)。</a:t>
                      </a:r>
                    </a:p>
                  </a:txBody>
                  <a:tcPr anchor="ctr">
                    <a:solidFill>
                      <a:srgbClr val="FDFCFA"/>
                    </a:solidFill>
                  </a:tcPr>
                </a:tc>
                <a:tc>
                  <a:txBody>
                    <a:bodyPr/>
                    <a:lstStyle/>
                    <a:p>
                      <a:pPr algn="ctr">
                        <a:defRPr sz="750">
                          <a:solidFill>
                            <a:srgbClr val="4A5568"/>
                          </a:solidFill>
                          <a:latin typeface="Microsoft JhengHei"/>
                        </a:defRPr>
                      </a:pPr>
                      <a:r>
                        <a:t>硬體密碼 (P14)</a:t>
                      </a:r>
                    </a:p>
                  </a:txBody>
                  <a:tcPr anchor="ctr">
                    <a:solidFill>
                      <a:srgbClr val="FDFCFA"/>
                    </a:solidFill>
                  </a:tcPr>
                </a:tc>
              </a:tr>
              <a:tr h="304800">
                <a:tc>
                  <a:txBody>
                    <a:bodyPr/>
                    <a:lstStyle/>
                    <a:p>
                      <a:pPr algn="l">
                        <a:defRPr sz="750" b="1">
                          <a:solidFill>
                            <a:srgbClr val="232D38"/>
                          </a:solidFill>
                          <a:latin typeface="Microsoft JhengHei"/>
                        </a:defRPr>
                      </a:pPr>
                      <a:r>
                        <a:t>NVIDIA NIM</a:t>
                      </a:r>
                    </a:p>
                  </a:txBody>
                  <a:tcPr anchor="ctr">
                    <a:solidFill>
                      <a:srgbClr val="F7F4ED"/>
                    </a:solidFill>
                  </a:tcPr>
                </a:tc>
                <a:tc>
                  <a:txBody>
                    <a:bodyPr/>
                    <a:lstStyle/>
                    <a:p>
                      <a:pPr algn="l">
                        <a:defRPr sz="750">
                          <a:solidFill>
                            <a:srgbClr val="4A5568"/>
                          </a:solidFill>
                          <a:latin typeface="Microsoft JhengHei"/>
                        </a:defRPr>
                      </a:pPr>
                      <a:r>
                        <a:t>NVIDIA Inference Microservice</a:t>
                      </a:r>
                    </a:p>
                  </a:txBody>
                  <a:tcPr anchor="ctr">
                    <a:solidFill>
                      <a:srgbClr val="F7F4ED"/>
                    </a:solidFill>
                  </a:tcPr>
                </a:tc>
                <a:tc>
                  <a:txBody>
                    <a:bodyPr/>
                    <a:lstStyle/>
                    <a:p>
                      <a:pPr algn="l">
                        <a:defRPr sz="750">
                          <a:solidFill>
                            <a:srgbClr val="4A5568"/>
                          </a:solidFill>
                          <a:latin typeface="Microsoft JhengHei"/>
                        </a:defRPr>
                      </a:pPr>
                      <a:r>
                        <a:t>NVIDIA 推出的標準化推論微服務容器，整合 TensorRT-LLM 與 vLLM，支援開箱即用之企業私有部署。</a:t>
                      </a:r>
                    </a:p>
                  </a:txBody>
                  <a:tcPr anchor="ctr">
                    <a:solidFill>
                      <a:srgbClr val="F7F4ED"/>
                    </a:solidFill>
                  </a:tcPr>
                </a:tc>
                <a:tc>
                  <a:txBody>
                    <a:bodyPr/>
                    <a:lstStyle/>
                    <a:p>
                      <a:pPr algn="ctr">
                        <a:defRPr sz="750">
                          <a:solidFill>
                            <a:srgbClr val="4A5568"/>
                          </a:solidFill>
                          <a:latin typeface="Microsoft JhengHei"/>
                        </a:defRPr>
                      </a:pPr>
                      <a:r>
                        <a:t>地端推論 (P14)</a:t>
                      </a:r>
                    </a:p>
                  </a:txBody>
                  <a:tcPr anchor="ctr">
                    <a:solidFill>
                      <a:srgbClr val="F7F4ED"/>
                    </a:solidFill>
                  </a:tcPr>
                </a:tc>
              </a:tr>
              <a:tr h="304800">
                <a:tc>
                  <a:txBody>
                    <a:bodyPr/>
                    <a:lstStyle/>
                    <a:p>
                      <a:pPr algn="l">
                        <a:defRPr sz="750" b="1">
                          <a:solidFill>
                            <a:srgbClr val="232D38"/>
                          </a:solidFill>
                          <a:latin typeface="Microsoft JhengHei"/>
                        </a:defRPr>
                      </a:pPr>
                      <a:r>
                        <a:t>vLLM</a:t>
                      </a:r>
                    </a:p>
                  </a:txBody>
                  <a:tcPr anchor="ctr">
                    <a:solidFill>
                      <a:srgbClr val="FDFCFA"/>
                    </a:solidFill>
                  </a:tcPr>
                </a:tc>
                <a:tc>
                  <a:txBody>
                    <a:bodyPr/>
                    <a:lstStyle/>
                    <a:p>
                      <a:pPr algn="l">
                        <a:defRPr sz="750">
                          <a:solidFill>
                            <a:srgbClr val="4A5568"/>
                          </a:solidFill>
                          <a:latin typeface="Microsoft JhengHei"/>
                        </a:defRPr>
                      </a:pPr>
                      <a:r>
                        <a:t>Virtual Large Language Model Engine</a:t>
                      </a:r>
                    </a:p>
                  </a:txBody>
                  <a:tcPr anchor="ctr">
                    <a:solidFill>
                      <a:srgbClr val="FDFCFA"/>
                    </a:solidFill>
                  </a:tcPr>
                </a:tc>
                <a:tc>
                  <a:txBody>
                    <a:bodyPr/>
                    <a:lstStyle/>
                    <a:p>
                      <a:pPr algn="l">
                        <a:defRPr sz="750" b="1">
                          <a:solidFill>
                            <a:srgbClr val="3B6E58"/>
                          </a:solidFill>
                          <a:latin typeface="Microsoft JhengHei"/>
                        </a:defRPr>
                      </a:pPr>
                      <a:r>
                        <a:t>高吞吐量開源 LLM 推論與服務引擎，以 PagedAttention 演算法大幅降低 KV-Cache 顯存碎片率。</a:t>
                      </a:r>
                    </a:p>
                  </a:txBody>
                  <a:tcPr anchor="ctr">
                    <a:solidFill>
                      <a:srgbClr val="FDFCFA"/>
                    </a:solidFill>
                  </a:tcPr>
                </a:tc>
                <a:tc>
                  <a:txBody>
                    <a:bodyPr/>
                    <a:lstStyle/>
                    <a:p>
                      <a:pPr algn="ctr">
                        <a:defRPr sz="750">
                          <a:solidFill>
                            <a:srgbClr val="4A5568"/>
                          </a:solidFill>
                          <a:latin typeface="Microsoft JhengHei"/>
                        </a:defRPr>
                      </a:pPr>
                      <a:r>
                        <a:t>地端推論 (P7, P14)</a:t>
                      </a:r>
                    </a:p>
                  </a:txBody>
                  <a:tcPr anchor="ctr">
                    <a:solidFill>
                      <a:srgbClr val="FDFCFA"/>
                    </a:solidFill>
                  </a:tcPr>
                </a:tc>
              </a:tr>
              <a:tr h="304800">
                <a:tc>
                  <a:txBody>
                    <a:bodyPr/>
                    <a:lstStyle/>
                    <a:p>
                      <a:pPr algn="l">
                        <a:defRPr sz="750" b="1">
                          <a:solidFill>
                            <a:srgbClr val="232D38"/>
                          </a:solidFill>
                          <a:latin typeface="Microsoft JhengHei"/>
                        </a:defRPr>
                      </a:pPr>
                      <a:r>
                        <a:t>CMMC 2.0</a:t>
                      </a:r>
                    </a:p>
                  </a:txBody>
                  <a:tcPr anchor="ctr">
                    <a:solidFill>
                      <a:srgbClr val="F7F4ED"/>
                    </a:solidFill>
                  </a:tcPr>
                </a:tc>
                <a:tc>
                  <a:txBody>
                    <a:bodyPr/>
                    <a:lstStyle/>
                    <a:p>
                      <a:pPr algn="l">
                        <a:defRPr sz="750">
                          <a:solidFill>
                            <a:srgbClr val="4A5568"/>
                          </a:solidFill>
                          <a:latin typeface="Microsoft JhengHei"/>
                        </a:defRPr>
                      </a:pPr>
                      <a:r>
                        <a:t>Cybersecurity Maturity Model Certification</a:t>
                      </a:r>
                    </a:p>
                  </a:txBody>
                  <a:tcPr anchor="ctr">
                    <a:solidFill>
                      <a:srgbClr val="F7F4ED"/>
                    </a:solidFill>
                  </a:tcPr>
                </a:tc>
                <a:tc>
                  <a:txBody>
                    <a:bodyPr/>
                    <a:lstStyle/>
                    <a:p>
                      <a:pPr algn="l">
                        <a:defRPr sz="750">
                          <a:solidFill>
                            <a:srgbClr val="4A5568"/>
                          </a:solidFill>
                          <a:latin typeface="Microsoft JhengHei"/>
                        </a:defRPr>
                      </a:pPr>
                      <a:r>
                        <a:t>美國國防部網路安全成熟度模型認證 (Level 3 涵蓋最高等級受控未分類資訊 CUI 之嚴密防護)。</a:t>
                      </a:r>
                    </a:p>
                  </a:txBody>
                  <a:tcPr anchor="ctr">
                    <a:solidFill>
                      <a:srgbClr val="F7F4ED"/>
                    </a:solidFill>
                  </a:tcPr>
                </a:tc>
                <a:tc>
                  <a:txBody>
                    <a:bodyPr/>
                    <a:lstStyle/>
                    <a:p>
                      <a:pPr algn="ctr">
                        <a:defRPr sz="750">
                          <a:solidFill>
                            <a:srgbClr val="4A5568"/>
                          </a:solidFill>
                          <a:latin typeface="Microsoft JhengHei"/>
                        </a:defRPr>
                      </a:pPr>
                      <a:r>
                        <a:t>國防合規 (P14)</a:t>
                      </a:r>
                    </a:p>
                  </a:txBody>
                  <a:tcPr anchor="ctr">
                    <a:solidFill>
                      <a:srgbClr val="F7F4ED"/>
                    </a:solidFill>
                  </a:tcPr>
                </a:tc>
              </a:tr>
              <a:tr h="304800">
                <a:tc>
                  <a:txBody>
                    <a:bodyPr/>
                    <a:lstStyle/>
                    <a:p>
                      <a:pPr algn="l">
                        <a:defRPr sz="750" b="1">
                          <a:solidFill>
                            <a:srgbClr val="232D38"/>
                          </a:solidFill>
                          <a:latin typeface="Microsoft JhengHei"/>
                        </a:defRPr>
                      </a:pPr>
                      <a:r>
                        <a:t>DISA STIG</a:t>
                      </a:r>
                    </a:p>
                  </a:txBody>
                  <a:tcPr anchor="ctr">
                    <a:solidFill>
                      <a:srgbClr val="FDFCFA"/>
                    </a:solidFill>
                  </a:tcPr>
                </a:tc>
                <a:tc>
                  <a:txBody>
                    <a:bodyPr/>
                    <a:lstStyle/>
                    <a:p>
                      <a:pPr algn="l">
                        <a:defRPr sz="750">
                          <a:solidFill>
                            <a:srgbClr val="4A5568"/>
                          </a:solidFill>
                          <a:latin typeface="Microsoft JhengHei"/>
                        </a:defRPr>
                      </a:pPr>
                      <a:r>
                        <a:t>Defense Information Systems Agency STIG</a:t>
                      </a:r>
                    </a:p>
                  </a:txBody>
                  <a:tcPr anchor="ctr">
                    <a:solidFill>
                      <a:srgbClr val="FDFCFA"/>
                    </a:solidFill>
                  </a:tcPr>
                </a:tc>
                <a:tc>
                  <a:txBody>
                    <a:bodyPr/>
                    <a:lstStyle/>
                    <a:p>
                      <a:pPr algn="l">
                        <a:defRPr sz="750">
                          <a:solidFill>
                            <a:srgbClr val="4A5568"/>
                          </a:solidFill>
                          <a:latin typeface="Microsoft JhengHei"/>
                        </a:defRPr>
                      </a:pPr>
                      <a:r>
                        <a:t>美國國防資訊系統局發布之安全技術實施指南，規範伺服器、作業系統與容器之最高等級加固配置。</a:t>
                      </a:r>
                    </a:p>
                  </a:txBody>
                  <a:tcPr anchor="ctr">
                    <a:solidFill>
                      <a:srgbClr val="FDFCFA"/>
                    </a:solidFill>
                  </a:tcPr>
                </a:tc>
                <a:tc>
                  <a:txBody>
                    <a:bodyPr/>
                    <a:lstStyle/>
                    <a:p>
                      <a:pPr algn="ctr">
                        <a:defRPr sz="750">
                          <a:solidFill>
                            <a:srgbClr val="4A5568"/>
                          </a:solidFill>
                          <a:latin typeface="Microsoft JhengHei"/>
                        </a:defRPr>
                      </a:pPr>
                      <a:r>
                        <a:t>國防標準 (P14)</a:t>
                      </a:r>
                    </a:p>
                  </a:txBody>
                  <a:tcPr anchor="ctr">
                    <a:solidFill>
                      <a:srgbClr val="FDFCFA"/>
                    </a:solidFill>
                  </a:tcPr>
                </a:tc>
              </a:tr>
              <a:tr h="304800">
                <a:tc>
                  <a:txBody>
                    <a:bodyPr/>
                    <a:lstStyle/>
                    <a:p>
                      <a:pPr algn="l">
                        <a:defRPr sz="750" b="1">
                          <a:solidFill>
                            <a:srgbClr val="232D38"/>
                          </a:solidFill>
                          <a:latin typeface="Microsoft JhengHei"/>
                        </a:defRPr>
                      </a:pPr>
                      <a:r>
                        <a:t>NIST SP 800-53</a:t>
                      </a:r>
                    </a:p>
                  </a:txBody>
                  <a:tcPr anchor="ctr">
                    <a:solidFill>
                      <a:srgbClr val="F7F4ED"/>
                    </a:solidFill>
                  </a:tcPr>
                </a:tc>
                <a:tc>
                  <a:txBody>
                    <a:bodyPr/>
                    <a:lstStyle/>
                    <a:p>
                      <a:pPr algn="l">
                        <a:defRPr sz="750">
                          <a:solidFill>
                            <a:srgbClr val="4A5568"/>
                          </a:solidFill>
                          <a:latin typeface="Microsoft JhengHei"/>
                        </a:defRPr>
                      </a:pPr>
                      <a:r>
                        <a:t>Security &amp; Privacy Controls for Info Systems</a:t>
                      </a:r>
                    </a:p>
                  </a:txBody>
                  <a:tcPr anchor="ctr">
                    <a:solidFill>
                      <a:srgbClr val="F7F4ED"/>
                    </a:solidFill>
                  </a:tcPr>
                </a:tc>
                <a:tc>
                  <a:txBody>
                    <a:bodyPr/>
                    <a:lstStyle/>
                    <a:p>
                      <a:pPr algn="l">
                        <a:defRPr sz="750">
                          <a:solidFill>
                            <a:srgbClr val="4A5568"/>
                          </a:solidFill>
                          <a:latin typeface="Microsoft JhengHei"/>
                        </a:defRPr>
                      </a:pPr>
                      <a:r>
                        <a:t>美國聯邦資訊系統安全與隱私控制標準 (Rev 5)，國防與政府機關實體隔離系統之基礎合規指引。</a:t>
                      </a:r>
                    </a:p>
                  </a:txBody>
                  <a:tcPr anchor="ctr">
                    <a:solidFill>
                      <a:srgbClr val="F7F4ED"/>
                    </a:solidFill>
                  </a:tcPr>
                </a:tc>
                <a:tc>
                  <a:txBody>
                    <a:bodyPr/>
                    <a:lstStyle/>
                    <a:p>
                      <a:pPr algn="ctr">
                        <a:defRPr sz="750">
                          <a:solidFill>
                            <a:srgbClr val="4A5568"/>
                          </a:solidFill>
                          <a:latin typeface="Microsoft JhengHei"/>
                        </a:defRPr>
                      </a:pPr>
                      <a:r>
                        <a:t>合規法規 (P14)</a:t>
                      </a:r>
                    </a:p>
                  </a:txBody>
                  <a:tcPr anchor="ctr">
                    <a:solidFill>
                      <a:srgbClr val="F7F4ED"/>
                    </a:solidFill>
                  </a:tcPr>
                </a:tc>
              </a:tr>
              <a:tr h="304800">
                <a:tc>
                  <a:txBody>
                    <a:bodyPr/>
                    <a:lstStyle/>
                    <a:p>
                      <a:pPr algn="l">
                        <a:defRPr sz="750" b="1">
                          <a:solidFill>
                            <a:srgbClr val="232D38"/>
                          </a:solidFill>
                          <a:latin typeface="Microsoft JhengHei"/>
                        </a:defRPr>
                      </a:pPr>
                      <a:r>
                        <a:t>FedRAMP</a:t>
                      </a:r>
                    </a:p>
                  </a:txBody>
                  <a:tcPr anchor="ctr">
                    <a:solidFill>
                      <a:srgbClr val="FDFCFA"/>
                    </a:solidFill>
                  </a:tcPr>
                </a:tc>
                <a:tc>
                  <a:txBody>
                    <a:bodyPr/>
                    <a:lstStyle/>
                    <a:p>
                      <a:pPr algn="l">
                        <a:defRPr sz="750">
                          <a:solidFill>
                            <a:srgbClr val="4A5568"/>
                          </a:solidFill>
                          <a:latin typeface="Microsoft JhengHei"/>
                        </a:defRPr>
                      </a:pPr>
                      <a:r>
                        <a:t>Federal Risk &amp; Authorization Management Program</a:t>
                      </a:r>
                    </a:p>
                  </a:txBody>
                  <a:tcPr anchor="ctr">
                    <a:solidFill>
                      <a:srgbClr val="FDFCFA"/>
                    </a:solidFill>
                  </a:tcPr>
                </a:tc>
                <a:tc>
                  <a:txBody>
                    <a:bodyPr/>
                    <a:lstStyle/>
                    <a:p>
                      <a:pPr algn="l">
                        <a:defRPr sz="750">
                          <a:solidFill>
                            <a:srgbClr val="4A5568"/>
                          </a:solidFill>
                          <a:latin typeface="Microsoft JhengHei"/>
                        </a:defRPr>
                      </a:pPr>
                      <a:r>
                        <a:t>美國聯邦風險與授權管理計畫 (Moderate+ 代表具備處理敏感非密級資料之雲端/地端權限)。</a:t>
                      </a:r>
                    </a:p>
                  </a:txBody>
                  <a:tcPr anchor="ctr">
                    <a:solidFill>
                      <a:srgbClr val="FDFCFA"/>
                    </a:solidFill>
                  </a:tcPr>
                </a:tc>
                <a:tc>
                  <a:txBody>
                    <a:bodyPr/>
                    <a:lstStyle/>
                    <a:p>
                      <a:pPr algn="ctr">
                        <a:defRPr sz="750">
                          <a:solidFill>
                            <a:srgbClr val="4A5568"/>
                          </a:solidFill>
                          <a:latin typeface="Microsoft JhengHei"/>
                        </a:defRPr>
                      </a:pPr>
                      <a:r>
                        <a:t>政府合規 (P14)</a:t>
                      </a:r>
                    </a:p>
                  </a:txBody>
                  <a:tcPr anchor="ctr">
                    <a:solidFill>
                      <a:srgbClr val="FDFCFA"/>
                    </a:solidFill>
                  </a:tcPr>
                </a:tc>
              </a:tr>
              <a:tr h="304800">
                <a:tc>
                  <a:txBody>
                    <a:bodyPr/>
                    <a:lstStyle/>
                    <a:p>
                      <a:pPr algn="l">
                        <a:defRPr sz="750" b="1">
                          <a:solidFill>
                            <a:srgbClr val="232D38"/>
                          </a:solidFill>
                          <a:latin typeface="Microsoft JhengHei"/>
                        </a:defRPr>
                      </a:pPr>
                      <a:r>
                        <a:t>SHA-256</a:t>
                      </a:r>
                    </a:p>
                  </a:txBody>
                  <a:tcPr anchor="ctr">
                    <a:solidFill>
                      <a:srgbClr val="F7F4ED"/>
                    </a:solidFill>
                  </a:tcPr>
                </a:tc>
                <a:tc>
                  <a:txBody>
                    <a:bodyPr/>
                    <a:lstStyle/>
                    <a:p>
                      <a:pPr algn="l">
                        <a:defRPr sz="750">
                          <a:solidFill>
                            <a:srgbClr val="4A5568"/>
                          </a:solidFill>
                          <a:latin typeface="Microsoft JhengHei"/>
                        </a:defRPr>
                      </a:pPr>
                      <a:r>
                        <a:t>Secure Hash Algorithm 256-bit</a:t>
                      </a:r>
                    </a:p>
                  </a:txBody>
                  <a:tcPr anchor="ctr">
                    <a:solidFill>
                      <a:srgbClr val="F7F4ED"/>
                    </a:solidFill>
                  </a:tcPr>
                </a:tc>
                <a:tc>
                  <a:txBody>
                    <a:bodyPr/>
                    <a:lstStyle/>
                    <a:p>
                      <a:pPr algn="l">
                        <a:defRPr sz="750">
                          <a:solidFill>
                            <a:srgbClr val="4A5568"/>
                          </a:solidFill>
                          <a:latin typeface="Microsoft JhengHei"/>
                        </a:defRPr>
                      </a:pPr>
                      <a:r>
                        <a:t>用於模型權重與外掛代碼完整性校驗之安全雜湊演算法，防止模型供應鏈遭植入後門或權重篡改。</a:t>
                      </a:r>
                    </a:p>
                  </a:txBody>
                  <a:tcPr anchor="ctr">
                    <a:solidFill>
                      <a:srgbClr val="F7F4ED"/>
                    </a:solidFill>
                  </a:tcPr>
                </a:tc>
                <a:tc>
                  <a:txBody>
                    <a:bodyPr/>
                    <a:lstStyle/>
                    <a:p>
                      <a:pPr algn="ctr">
                        <a:defRPr sz="750">
                          <a:solidFill>
                            <a:srgbClr val="4A5568"/>
                          </a:solidFill>
                          <a:latin typeface="Microsoft JhengHei"/>
                        </a:defRPr>
                      </a:pPr>
                      <a:r>
                        <a:t>模型安全 (P14)</a:t>
                      </a:r>
                    </a:p>
                  </a:txBody>
                  <a:tcPr anchor="ctr">
                    <a:solidFill>
                      <a:srgbClr val="F7F4ED"/>
                    </a:solidFill>
                  </a:tcPr>
                </a:tc>
              </a:tr>
              <a:tr h="304800">
                <a:tc>
                  <a:txBody>
                    <a:bodyPr/>
                    <a:lstStyle/>
                    <a:p>
                      <a:pPr algn="l">
                        <a:defRPr sz="750" b="1">
                          <a:solidFill>
                            <a:srgbClr val="232D38"/>
                          </a:solidFill>
                          <a:latin typeface="Microsoft JhengHei"/>
                        </a:defRPr>
                      </a:pPr>
                      <a:r>
                        <a:t>H100 / RTX</a:t>
                      </a:r>
                    </a:p>
                  </a:txBody>
                  <a:tcPr anchor="ctr">
                    <a:solidFill>
                      <a:srgbClr val="FDFCFA"/>
                    </a:solidFill>
                  </a:tcPr>
                </a:tc>
                <a:tc>
                  <a:txBody>
                    <a:bodyPr/>
                    <a:lstStyle/>
                    <a:p>
                      <a:pPr algn="l">
                        <a:defRPr sz="750">
                          <a:solidFill>
                            <a:srgbClr val="4A5568"/>
                          </a:solidFill>
                          <a:latin typeface="Microsoft JhengHei"/>
                        </a:defRPr>
                      </a:pPr>
                      <a:r>
                        <a:t>NVIDIA Hopper H100 / GeForce RTX</a:t>
                      </a:r>
                    </a:p>
                  </a:txBody>
                  <a:tcPr anchor="ctr">
                    <a:solidFill>
                      <a:srgbClr val="FDFCFA"/>
                    </a:solidFill>
                  </a:tcPr>
                </a:tc>
                <a:tc>
                  <a:txBody>
                    <a:bodyPr/>
                    <a:lstStyle/>
                    <a:p>
                      <a:pPr algn="l">
                        <a:defRPr sz="750">
                          <a:solidFill>
                            <a:srgbClr val="4A5568"/>
                          </a:solidFill>
                          <a:latin typeface="Microsoft JhengHei"/>
                        </a:defRPr>
                      </a:pPr>
                      <a:r>
                        <a:t>企業叢集加速卡 (H100 80GB SXM) vs 工程師本地雙卡工作站 (RTX 4090 24GB)，構成兩級算力階梯。</a:t>
                      </a:r>
                    </a:p>
                  </a:txBody>
                  <a:tcPr anchor="ctr">
                    <a:solidFill>
                      <a:srgbClr val="FDFCFA"/>
                    </a:solidFill>
                  </a:tcPr>
                </a:tc>
                <a:tc>
                  <a:txBody>
                    <a:bodyPr/>
                    <a:lstStyle/>
                    <a:p>
                      <a:pPr algn="ctr">
                        <a:defRPr sz="750">
                          <a:solidFill>
                            <a:srgbClr val="4A5568"/>
                          </a:solidFill>
                          <a:latin typeface="Microsoft JhengHei"/>
                        </a:defRPr>
                      </a:pPr>
                      <a:r>
                        <a:t>硬體規格 (P9, P15)</a:t>
                      </a:r>
                    </a:p>
                  </a:txBody>
                  <a:tcPr anchor="ctr">
                    <a:solidFill>
                      <a:srgbClr val="FDFCFA"/>
                    </a:solidFill>
                  </a:tcPr>
                </a:tc>
              </a:tr>
              <a:tr h="304800">
                <a:tc>
                  <a:txBody>
                    <a:bodyPr/>
                    <a:lstStyle/>
                    <a:p>
                      <a:pPr algn="l">
                        <a:defRPr sz="750" b="1">
                          <a:solidFill>
                            <a:srgbClr val="232D38"/>
                          </a:solidFill>
                          <a:latin typeface="Microsoft JhengHei"/>
                        </a:defRPr>
                      </a:pPr>
                      <a:r>
                        <a:t>ROI</a:t>
                      </a:r>
                    </a:p>
                  </a:txBody>
                  <a:tcPr anchor="ctr">
                    <a:solidFill>
                      <a:srgbClr val="F7F4ED"/>
                    </a:solidFill>
                  </a:tcPr>
                </a:tc>
                <a:tc>
                  <a:txBody>
                    <a:bodyPr/>
                    <a:lstStyle/>
                    <a:p>
                      <a:pPr algn="l">
                        <a:defRPr sz="750">
                          <a:solidFill>
                            <a:srgbClr val="4A5568"/>
                          </a:solidFill>
                          <a:latin typeface="Microsoft JhengHei"/>
                        </a:defRPr>
                      </a:pPr>
                      <a:r>
                        <a:t>Return on Investment (投資報酬率)</a:t>
                      </a:r>
                    </a:p>
                  </a:txBody>
                  <a:tcPr anchor="ctr">
                    <a:solidFill>
                      <a:srgbClr val="F7F4ED"/>
                    </a:solidFill>
                  </a:tcPr>
                </a:tc>
                <a:tc>
                  <a:txBody>
                    <a:bodyPr/>
                    <a:lstStyle/>
                    <a:p>
                      <a:pPr algn="l">
                        <a:defRPr sz="750" b="1">
                          <a:solidFill>
                            <a:srgbClr val="3B6E58"/>
                          </a:solidFill>
                          <a:latin typeface="Microsoft JhengHei"/>
                        </a:defRPr>
                      </a:pPr>
                      <a:r>
                        <a:t>企業在 AI 算力與 Harness 基建投資中之產出效益比，強調以 30B 級開源模型創造逼近閉源之效能。</a:t>
                      </a:r>
                    </a:p>
                  </a:txBody>
                  <a:tcPr anchor="ctr">
                    <a:solidFill>
                      <a:srgbClr val="F7F4ED"/>
                    </a:solidFill>
                  </a:tcPr>
                </a:tc>
                <a:tc>
                  <a:txBody>
                    <a:bodyPr/>
                    <a:lstStyle/>
                    <a:p>
                      <a:pPr algn="ctr">
                        <a:defRPr sz="750" b="1">
                          <a:solidFill>
                            <a:srgbClr val="9E5A38"/>
                          </a:solidFill>
                          <a:latin typeface="Microsoft JhengHei"/>
                        </a:defRPr>
                      </a:pPr>
                      <a:r>
                        <a:t>商業決策 (P2, P9, P24)</a:t>
                      </a:r>
                    </a:p>
                  </a:txBody>
                  <a:tcPr anchor="ctr">
                    <a:solidFill>
                      <a:srgbClr val="F7F4ED"/>
                    </a:solidFill>
                  </a:tcPr>
                </a:tc>
              </a:tr>
              <a:tr h="304800">
                <a:tc>
                  <a:txBody>
                    <a:bodyPr/>
                    <a:lstStyle/>
                    <a:p>
                      <a:pPr algn="l">
                        <a:defRPr sz="750" b="1">
                          <a:solidFill>
                            <a:srgbClr val="232D38"/>
                          </a:solidFill>
                          <a:latin typeface="Microsoft JhengHei"/>
                        </a:defRPr>
                      </a:pPr>
                      <a:r>
                        <a:t>Active Params</a:t>
                      </a:r>
                    </a:p>
                  </a:txBody>
                  <a:tcPr anchor="ctr">
                    <a:solidFill>
                      <a:srgbClr val="FDFCFA"/>
                    </a:solidFill>
                  </a:tcPr>
                </a:tc>
                <a:tc>
                  <a:txBody>
                    <a:bodyPr/>
                    <a:lstStyle/>
                    <a:p>
                      <a:pPr algn="l">
                        <a:defRPr sz="750">
                          <a:solidFill>
                            <a:srgbClr val="4A5568"/>
                          </a:solidFill>
                          <a:latin typeface="Microsoft JhengHei"/>
                        </a:defRPr>
                      </a:pPr>
                      <a:r>
                        <a:t>MoE 活躍參數 (Activated Parameters)</a:t>
                      </a:r>
                    </a:p>
                  </a:txBody>
                  <a:tcPr anchor="ctr">
                    <a:solidFill>
                      <a:srgbClr val="FDFCFA"/>
                    </a:solidFill>
                  </a:tcPr>
                </a:tc>
                <a:tc>
                  <a:txBody>
                    <a:bodyPr/>
                    <a:lstStyle/>
                    <a:p>
                      <a:pPr algn="l">
                        <a:defRPr sz="750">
                          <a:solidFill>
                            <a:srgbClr val="4A5568"/>
                          </a:solidFill>
                          <a:latin typeface="Microsoft JhengHei"/>
                        </a:defRPr>
                      </a:pPr>
                      <a:r>
                        <a:t>MoE 架構中每次 Forward 通過所實際運算的參數量（例如 26B 總參數中僅運算 3.8B），大幅節省推論能耗。</a:t>
                      </a:r>
                    </a:p>
                  </a:txBody>
                  <a:tcPr anchor="ctr">
                    <a:solidFill>
                      <a:srgbClr val="FDFCFA"/>
                    </a:solidFill>
                  </a:tcPr>
                </a:tc>
                <a:tc>
                  <a:txBody>
                    <a:bodyPr/>
                    <a:lstStyle/>
                    <a:p>
                      <a:pPr algn="ctr">
                        <a:defRPr sz="750">
                          <a:solidFill>
                            <a:srgbClr val="4A5568"/>
                          </a:solidFill>
                          <a:latin typeface="Microsoft JhengHei"/>
                        </a:defRPr>
                      </a:pPr>
                      <a:r>
                        <a:t>模型架構 (P8, P9, P10)</a:t>
                      </a:r>
                    </a:p>
                  </a:txBody>
                  <a:tcPr anchor="ctr">
                    <a:solidFill>
                      <a:srgbClr val="FDFCFA"/>
                    </a:solidFill>
                  </a:tcPr>
                </a:tc>
              </a:tr>
              <a:tr h="304800">
                <a:tc>
                  <a:txBody>
                    <a:bodyPr/>
                    <a:lstStyle/>
                    <a:p>
                      <a:pPr algn="l">
                        <a:defRPr sz="750" b="1">
                          <a:solidFill>
                            <a:srgbClr val="232D38"/>
                          </a:solidFill>
                          <a:latin typeface="Microsoft JhengHei"/>
                        </a:defRPr>
                      </a:pPr>
                      <a:r>
                        <a:t>Dense Model</a:t>
                      </a:r>
                    </a:p>
                  </a:txBody>
                  <a:tcPr anchor="ctr">
                    <a:solidFill>
                      <a:srgbClr val="F7F4ED"/>
                    </a:solidFill>
                  </a:tcPr>
                </a:tc>
                <a:tc>
                  <a:txBody>
                    <a:bodyPr/>
                    <a:lstStyle/>
                    <a:p>
                      <a:pPr algn="l">
                        <a:defRPr sz="750">
                          <a:solidFill>
                            <a:srgbClr val="4A5568"/>
                          </a:solidFill>
                          <a:latin typeface="Microsoft JhengHei"/>
                        </a:defRPr>
                      </a:pPr>
                      <a:r>
                        <a:t>稠密模型 (全參數激活架構)</a:t>
                      </a:r>
                    </a:p>
                  </a:txBody>
                  <a:tcPr anchor="ctr">
                    <a:solidFill>
                      <a:srgbClr val="F7F4ED"/>
                    </a:solidFill>
                  </a:tcPr>
                </a:tc>
                <a:tc>
                  <a:txBody>
                    <a:bodyPr/>
                    <a:lstStyle/>
                    <a:p>
                      <a:pPr algn="l">
                        <a:defRPr sz="750">
                          <a:solidFill>
                            <a:srgbClr val="4A5568"/>
                          </a:solidFill>
                          <a:latin typeface="Microsoft JhengHei"/>
                        </a:defRPr>
                      </a:pPr>
                      <a:r>
                        <a:t>相對於 MoE 的傳統架構，推論時所有神經網絡權重均全數參與計算（如 Qwen3-Coder 72B/30B、Gemma 31B）。</a:t>
                      </a:r>
                    </a:p>
                  </a:txBody>
                  <a:tcPr anchor="ctr">
                    <a:solidFill>
                      <a:srgbClr val="F7F4ED"/>
                    </a:solidFill>
                  </a:tcPr>
                </a:tc>
                <a:tc>
                  <a:txBody>
                    <a:bodyPr/>
                    <a:lstStyle/>
                    <a:p>
                      <a:pPr algn="ctr">
                        <a:defRPr sz="750">
                          <a:solidFill>
                            <a:srgbClr val="4A5568"/>
                          </a:solidFill>
                          <a:latin typeface="Microsoft JhengHei"/>
                        </a:defRPr>
                      </a:pPr>
                      <a:r>
                        <a:t>模型架構 (P8, P9, P10)</a:t>
                      </a:r>
                    </a:p>
                  </a:txBody>
                  <a:tcPr anchor="ctr">
                    <a:solidFill>
                      <a:srgbClr val="F7F4ED"/>
                    </a:solidFill>
                  </a:tcPr>
                </a:tc>
              </a:tr>
            </a:tbl>
          </a:graphicData>
        </a:graphic>
      </p:graphicFrame>
      <p:sp>
        <p:nvSpPr>
          <p:cNvPr id="9" name="TextBox 8"/>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10" name="TextBox 9"/>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術語精解</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名詞對照表 (四)：提示工程、多代理協同與工程文化全解</a:t>
            </a:r>
          </a:p>
          <a:p>
            <a:pPr>
              <a:spcBef>
                <a:spcPts val="300"/>
              </a:spcBef>
            </a:pPr>
            <a:r>
              <a:rPr sz="950">
                <a:solidFill>
                  <a:srgbClr val="7C8695"/>
                </a:solidFill>
                <a:latin typeface="Microsoft JhengHei"/>
              </a:rPr>
              <a:t>涵蓋上下文工程、生命週期攔截、人機治理心態與軟體工程典範轉移之深層術語透視</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54480"/>
            <a:ext cx="10728655" cy="475488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841248" y="1645920"/>
          <a:ext cx="10509198" cy="4572000"/>
        </p:xfrm>
        <a:graphic>
          <a:graphicData uri="http://schemas.openxmlformats.org/drawingml/2006/table">
            <a:tbl>
              <a:tblPr firstRow="1" bandRow="1">
                <a:tableStyleId>{5C22544A-7EE6-4342-B048-85BDC9FD1C3A}</a:tableStyleId>
              </a:tblPr>
              <a:tblGrid>
                <a:gridCol w="1537931"/>
                <a:gridCol w="2136016"/>
                <a:gridCol w="4955557"/>
                <a:gridCol w="1879694"/>
              </a:tblGrid>
              <a:tr h="304800">
                <a:tc>
                  <a:txBody>
                    <a:bodyPr/>
                    <a:lstStyle/>
                    <a:p>
                      <a:pPr algn="l">
                        <a:defRPr sz="800" b="1">
                          <a:solidFill>
                            <a:srgbClr val="232D38"/>
                          </a:solidFill>
                          <a:latin typeface="Microsoft JhengHei"/>
                        </a:defRPr>
                      </a:pPr>
                      <a:r>
                        <a:t>縮寫 / 關鍵字</a:t>
                      </a:r>
                    </a:p>
                  </a:txBody>
                  <a:tcPr anchor="ctr">
                    <a:solidFill>
                      <a:srgbClr val="EAE4D8"/>
                    </a:solidFill>
                  </a:tcPr>
                </a:tc>
                <a:tc>
                  <a:txBody>
                    <a:bodyPr/>
                    <a:lstStyle/>
                    <a:p>
                      <a:pPr algn="l">
                        <a:defRPr sz="800" b="1">
                          <a:solidFill>
                            <a:srgbClr val="232D38"/>
                          </a:solidFill>
                          <a:latin typeface="Microsoft JhengHei"/>
                        </a:defRPr>
                      </a:pPr>
                      <a:r>
                        <a:t>英文全稱 / 概念原型</a:t>
                      </a:r>
                    </a:p>
                  </a:txBody>
                  <a:tcPr anchor="ctr">
                    <a:solidFill>
                      <a:srgbClr val="EAE4D8"/>
                    </a:solidFill>
                  </a:tcPr>
                </a:tc>
                <a:tc>
                  <a:txBody>
                    <a:bodyPr/>
                    <a:lstStyle/>
                    <a:p>
                      <a:pPr algn="l">
                        <a:defRPr sz="800" b="1">
                          <a:solidFill>
                            <a:srgbClr val="232D38"/>
                          </a:solidFill>
                          <a:latin typeface="Microsoft JhengHei"/>
                        </a:defRPr>
                      </a:pPr>
                      <a:r>
                        <a:t>核心意涵與工程定位</a:t>
                      </a:r>
                    </a:p>
                  </a:txBody>
                  <a:tcPr anchor="ctr">
                    <a:solidFill>
                      <a:srgbClr val="EAE4D8"/>
                    </a:solidFill>
                  </a:tcPr>
                </a:tc>
                <a:tc>
                  <a:txBody>
                    <a:bodyPr/>
                    <a:lstStyle/>
                    <a:p>
                      <a:pPr algn="ctr">
                        <a:defRPr sz="800" b="1">
                          <a:solidFill>
                            <a:srgbClr val="232D38"/>
                          </a:solidFill>
                          <a:latin typeface="Microsoft JhengHei"/>
                        </a:defRPr>
                      </a:pPr>
                      <a:r>
                        <a:t>關鍵出處 / 報告對應頁</a:t>
                      </a:r>
                    </a:p>
                  </a:txBody>
                  <a:tcPr anchor="ctr">
                    <a:solidFill>
                      <a:srgbClr val="EAE4D8"/>
                    </a:solidFill>
                  </a:tcPr>
                </a:tc>
              </a:tr>
              <a:tr h="304800">
                <a:tc>
                  <a:txBody>
                    <a:bodyPr/>
                    <a:lstStyle/>
                    <a:p>
                      <a:pPr algn="l">
                        <a:defRPr sz="750" b="1">
                          <a:solidFill>
                            <a:srgbClr val="232D38"/>
                          </a:solidFill>
                          <a:latin typeface="Microsoft JhengHei"/>
                        </a:defRPr>
                      </a:pPr>
                      <a:r>
                        <a:t>CI/CD</a:t>
                      </a:r>
                    </a:p>
                  </a:txBody>
                  <a:tcPr anchor="ctr">
                    <a:solidFill>
                      <a:srgbClr val="FDFCFA"/>
                    </a:solidFill>
                  </a:tcPr>
                </a:tc>
                <a:tc>
                  <a:txBody>
                    <a:bodyPr/>
                    <a:lstStyle/>
                    <a:p>
                      <a:pPr algn="l">
                        <a:defRPr sz="750">
                          <a:solidFill>
                            <a:srgbClr val="4A5568"/>
                          </a:solidFill>
                          <a:latin typeface="Microsoft JhengHei"/>
                        </a:defRPr>
                      </a:pPr>
                      <a:r>
                        <a:t>Continuous Integration / Continuous Deployment</a:t>
                      </a:r>
                    </a:p>
                  </a:txBody>
                  <a:tcPr anchor="ctr">
                    <a:solidFill>
                      <a:srgbClr val="FDFCFA"/>
                    </a:solidFill>
                  </a:tcPr>
                </a:tc>
                <a:tc>
                  <a:txBody>
                    <a:bodyPr/>
                    <a:lstStyle/>
                    <a:p>
                      <a:pPr algn="l">
                        <a:defRPr sz="750">
                          <a:solidFill>
                            <a:srgbClr val="4A5568"/>
                          </a:solidFill>
                          <a:latin typeface="Microsoft JhengHei"/>
                        </a:defRPr>
                      </a:pPr>
                      <a:r>
                        <a:t>持續整合與部署。現代 Harness 工程將 Prompts、Rules 與 Eval 測試腳本納入 CI/CD 流程自動化回歸。</a:t>
                      </a:r>
                    </a:p>
                  </a:txBody>
                  <a:tcPr anchor="ctr">
                    <a:solidFill>
                      <a:srgbClr val="FDFCFA"/>
                    </a:solidFill>
                  </a:tcPr>
                </a:tc>
                <a:tc>
                  <a:txBody>
                    <a:bodyPr/>
                    <a:lstStyle/>
                    <a:p>
                      <a:pPr algn="ctr">
                        <a:defRPr sz="750">
                          <a:solidFill>
                            <a:srgbClr val="4A5568"/>
                          </a:solidFill>
                          <a:latin typeface="Microsoft JhengHei"/>
                        </a:defRPr>
                      </a:pPr>
                      <a:r>
                        <a:t>研發工程 (P5, P14, P24)</a:t>
                      </a:r>
                    </a:p>
                  </a:txBody>
                  <a:tcPr anchor="ctr">
                    <a:solidFill>
                      <a:srgbClr val="FDFCFA"/>
                    </a:solidFill>
                  </a:tcPr>
                </a:tc>
              </a:tr>
              <a:tr h="304800">
                <a:tc>
                  <a:txBody>
                    <a:bodyPr/>
                    <a:lstStyle/>
                    <a:p>
                      <a:pPr algn="l">
                        <a:defRPr sz="750" b="1">
                          <a:solidFill>
                            <a:srgbClr val="232D38"/>
                          </a:solidFill>
                          <a:latin typeface="Microsoft JhengHei"/>
                        </a:defRPr>
                      </a:pPr>
                      <a:r>
                        <a:t>MAU / WAU</a:t>
                      </a:r>
                    </a:p>
                  </a:txBody>
                  <a:tcPr anchor="ctr">
                    <a:solidFill>
                      <a:srgbClr val="F7F4ED"/>
                    </a:solidFill>
                  </a:tcPr>
                </a:tc>
                <a:tc>
                  <a:txBody>
                    <a:bodyPr/>
                    <a:lstStyle/>
                    <a:p>
                      <a:pPr algn="l">
                        <a:defRPr sz="750">
                          <a:solidFill>
                            <a:srgbClr val="4A5568"/>
                          </a:solidFill>
                          <a:latin typeface="Microsoft JhengHei"/>
                        </a:defRPr>
                      </a:pPr>
                      <a:r>
                        <a:t>Monthly / Weekly Active Users</a:t>
                      </a:r>
                    </a:p>
                  </a:txBody>
                  <a:tcPr anchor="ctr">
                    <a:solidFill>
                      <a:srgbClr val="F7F4ED"/>
                    </a:solidFill>
                  </a:tcPr>
                </a:tc>
                <a:tc>
                  <a:txBody>
                    <a:bodyPr/>
                    <a:lstStyle/>
                    <a:p>
                      <a:pPr algn="l">
                        <a:defRPr sz="750" b="1">
                          <a:solidFill>
                            <a:srgbClr val="9E5A38"/>
                          </a:solidFill>
                          <a:latin typeface="Microsoft JhengHei"/>
                        </a:defRPr>
                      </a:pPr>
                      <a:r>
                        <a:t>月活躍用戶數 / 週活躍用戶數。衡量商業框架（如 ChatGPT 2.5億 WAU）與開源工具真實落地採納之關鍵規模指標。</a:t>
                      </a:r>
                    </a:p>
                  </a:txBody>
                  <a:tcPr anchor="ctr">
                    <a:solidFill>
                      <a:srgbClr val="F7F4ED"/>
                    </a:solidFill>
                  </a:tcPr>
                </a:tc>
                <a:tc>
                  <a:txBody>
                    <a:bodyPr/>
                    <a:lstStyle/>
                    <a:p>
                      <a:pPr algn="ctr">
                        <a:defRPr sz="750">
                          <a:solidFill>
                            <a:srgbClr val="4A5568"/>
                          </a:solidFill>
                          <a:latin typeface="Microsoft JhengHei"/>
                        </a:defRPr>
                      </a:pPr>
                      <a:r>
                        <a:t>市場數據 (P3)</a:t>
                      </a:r>
                    </a:p>
                  </a:txBody>
                  <a:tcPr anchor="ctr">
                    <a:solidFill>
                      <a:srgbClr val="F7F4ED"/>
                    </a:solidFill>
                  </a:tcPr>
                </a:tc>
              </a:tr>
              <a:tr h="304800">
                <a:tc>
                  <a:txBody>
                    <a:bodyPr/>
                    <a:lstStyle/>
                    <a:p>
                      <a:pPr algn="l">
                        <a:defRPr sz="750" b="1">
                          <a:solidFill>
                            <a:srgbClr val="232D38"/>
                          </a:solidFill>
                          <a:latin typeface="Microsoft JhengHei"/>
                        </a:defRPr>
                      </a:pPr>
                      <a:r>
                        <a:t>CLI / IDE</a:t>
                      </a:r>
                    </a:p>
                  </a:txBody>
                  <a:tcPr anchor="ctr">
                    <a:solidFill>
                      <a:srgbClr val="FDFCFA"/>
                    </a:solidFill>
                  </a:tcPr>
                </a:tc>
                <a:tc>
                  <a:txBody>
                    <a:bodyPr/>
                    <a:lstStyle/>
                    <a:p>
                      <a:pPr algn="l">
                        <a:defRPr sz="750">
                          <a:solidFill>
                            <a:srgbClr val="4A5568"/>
                          </a:solidFill>
                          <a:latin typeface="Microsoft JhengHei"/>
                        </a:defRPr>
                      </a:pPr>
                      <a:r>
                        <a:t>Command Line Interface / Integrated Dev Env</a:t>
                      </a:r>
                    </a:p>
                  </a:txBody>
                  <a:tcPr anchor="ctr">
                    <a:solidFill>
                      <a:srgbClr val="FDFCFA"/>
                    </a:solidFill>
                  </a:tcPr>
                </a:tc>
                <a:tc>
                  <a:txBody>
                    <a:bodyPr/>
                    <a:lstStyle/>
                    <a:p>
                      <a:pPr algn="l">
                        <a:defRPr sz="750">
                          <a:solidFill>
                            <a:srgbClr val="4A5568"/>
                          </a:solidFill>
                          <a:latin typeface="Microsoft JhengHei"/>
                        </a:defRPr>
                      </a:pPr>
                      <a:r>
                        <a:t>命令列終端 (如 Aider, Claude Code) 與整合開發環境 (如 Cursor, OpenCode)，為 Agent 兩大核心人機互動形態。</a:t>
                      </a:r>
                    </a:p>
                  </a:txBody>
                  <a:tcPr anchor="ctr">
                    <a:solidFill>
                      <a:srgbClr val="FDFCFA"/>
                    </a:solidFill>
                  </a:tcPr>
                </a:tc>
                <a:tc>
                  <a:txBody>
                    <a:bodyPr/>
                    <a:lstStyle/>
                    <a:p>
                      <a:pPr algn="ctr">
                        <a:defRPr sz="750">
                          <a:solidFill>
                            <a:srgbClr val="4A5568"/>
                          </a:solidFill>
                          <a:latin typeface="Microsoft JhengHei"/>
                        </a:defRPr>
                      </a:pPr>
                      <a:r>
                        <a:t>產品型態 (P3, P4, P8)</a:t>
                      </a:r>
                    </a:p>
                  </a:txBody>
                  <a:tcPr anchor="ctr">
                    <a:solidFill>
                      <a:srgbClr val="FDFCFA"/>
                    </a:solidFill>
                  </a:tcPr>
                </a:tc>
              </a:tr>
              <a:tr h="304800">
                <a:tc>
                  <a:txBody>
                    <a:bodyPr/>
                    <a:lstStyle/>
                    <a:p>
                      <a:pPr algn="l">
                        <a:defRPr sz="750" b="1">
                          <a:solidFill>
                            <a:srgbClr val="232D38"/>
                          </a:solidFill>
                          <a:latin typeface="Microsoft JhengHei"/>
                        </a:defRPr>
                      </a:pPr>
                      <a:r>
                        <a:t>Hooks</a:t>
                      </a:r>
                    </a:p>
                  </a:txBody>
                  <a:tcPr anchor="ctr">
                    <a:solidFill>
                      <a:srgbClr val="F7F4ED"/>
                    </a:solidFill>
                  </a:tcPr>
                </a:tc>
                <a:tc>
                  <a:txBody>
                    <a:bodyPr/>
                    <a:lstStyle/>
                    <a:p>
                      <a:pPr algn="l">
                        <a:defRPr sz="750">
                          <a:solidFill>
                            <a:srgbClr val="4A5568"/>
                          </a:solidFill>
                          <a:latin typeface="Microsoft JhengHei"/>
                        </a:defRPr>
                      </a:pPr>
                      <a:r>
                        <a:t>Lifecycle Hooks (生命週期攔截鉤子)</a:t>
                      </a:r>
                    </a:p>
                  </a:txBody>
                  <a:tcPr anchor="ctr">
                    <a:solidFill>
                      <a:srgbClr val="F7F4ED"/>
                    </a:solidFill>
                  </a:tcPr>
                </a:tc>
                <a:tc>
                  <a:txBody>
                    <a:bodyPr/>
                    <a:lstStyle/>
                    <a:p>
                      <a:pPr algn="l">
                        <a:defRPr sz="750">
                          <a:solidFill>
                            <a:srgbClr val="4A5568"/>
                          </a:solidFill>
                          <a:latin typeface="Microsoft JhengHei"/>
                        </a:defRPr>
                      </a:pPr>
                      <a:r>
                        <a:t>在 Prompt 送出前、工具執行前後、代碼寫入前觸發之自定義腳本，用於注入安全檢查與動態變數。</a:t>
                      </a:r>
                    </a:p>
                  </a:txBody>
                  <a:tcPr anchor="ctr">
                    <a:solidFill>
                      <a:srgbClr val="F7F4ED"/>
                    </a:solidFill>
                  </a:tcPr>
                </a:tc>
                <a:tc>
                  <a:txBody>
                    <a:bodyPr/>
                    <a:lstStyle/>
                    <a:p>
                      <a:pPr algn="ctr">
                        <a:defRPr sz="750">
                          <a:solidFill>
                            <a:srgbClr val="4A5568"/>
                          </a:solidFill>
                          <a:latin typeface="Microsoft JhengHei"/>
                        </a:defRPr>
                      </a:pPr>
                      <a:r>
                        <a:t>核心元素 (P2, P12, P13)</a:t>
                      </a:r>
                    </a:p>
                  </a:txBody>
                  <a:tcPr anchor="ctr">
                    <a:solidFill>
                      <a:srgbClr val="F7F4ED"/>
                    </a:solidFill>
                  </a:tcPr>
                </a:tc>
              </a:tr>
              <a:tr h="304800">
                <a:tc>
                  <a:txBody>
                    <a:bodyPr/>
                    <a:lstStyle/>
                    <a:p>
                      <a:pPr algn="l">
                        <a:defRPr sz="750" b="1">
                          <a:solidFill>
                            <a:srgbClr val="232D38"/>
                          </a:solidFill>
                          <a:latin typeface="Microsoft JhengHei"/>
                        </a:defRPr>
                      </a:pPr>
                      <a:r>
                        <a:t>Skills</a:t>
                      </a:r>
                    </a:p>
                  </a:txBody>
                  <a:tcPr anchor="ctr">
                    <a:solidFill>
                      <a:srgbClr val="FDFCFA"/>
                    </a:solidFill>
                  </a:tcPr>
                </a:tc>
                <a:tc>
                  <a:txBody>
                    <a:bodyPr/>
                    <a:lstStyle/>
                    <a:p>
                      <a:pPr algn="l">
                        <a:defRPr sz="750">
                          <a:solidFill>
                            <a:srgbClr val="4A5568"/>
                          </a:solidFill>
                          <a:latin typeface="Microsoft JhengHei"/>
                        </a:defRPr>
                      </a:pPr>
                      <a:r>
                        <a:t>Skills Architecture (動態技能模組)</a:t>
                      </a:r>
                    </a:p>
                  </a:txBody>
                  <a:tcPr anchor="ctr">
                    <a:solidFill>
                      <a:srgbClr val="FDFCFA"/>
                    </a:solidFill>
                  </a:tcPr>
                </a:tc>
                <a:tc>
                  <a:txBody>
                    <a:bodyPr/>
                    <a:lstStyle/>
                    <a:p>
                      <a:pPr algn="l">
                        <a:defRPr sz="750">
                          <a:solidFill>
                            <a:srgbClr val="4A5568"/>
                          </a:solidFill>
                          <a:latin typeface="Microsoft JhengHei"/>
                        </a:defRPr>
                      </a:pPr>
                      <a:r>
                        <a:t>將特定領域代碼標準、排錯腳本或外部 API 封裝為可重用、動態載入之 Markdown/腳本模組，大幅提升適應力。</a:t>
                      </a:r>
                    </a:p>
                  </a:txBody>
                  <a:tcPr anchor="ctr">
                    <a:solidFill>
                      <a:srgbClr val="FDFCFA"/>
                    </a:solidFill>
                  </a:tcPr>
                </a:tc>
                <a:tc>
                  <a:txBody>
                    <a:bodyPr/>
                    <a:lstStyle/>
                    <a:p>
                      <a:pPr algn="ctr">
                        <a:defRPr sz="750">
                          <a:solidFill>
                            <a:srgbClr val="4A5568"/>
                          </a:solidFill>
                          <a:latin typeface="Microsoft JhengHei"/>
                        </a:defRPr>
                      </a:pPr>
                      <a:r>
                        <a:t>核心元素 (P2, P12, P13)</a:t>
                      </a:r>
                    </a:p>
                  </a:txBody>
                  <a:tcPr anchor="ctr">
                    <a:solidFill>
                      <a:srgbClr val="FDFCFA"/>
                    </a:solidFill>
                  </a:tcPr>
                </a:tc>
              </a:tr>
              <a:tr h="304800">
                <a:tc>
                  <a:txBody>
                    <a:bodyPr/>
                    <a:lstStyle/>
                    <a:p>
                      <a:pPr algn="l">
                        <a:defRPr sz="750" b="1">
                          <a:solidFill>
                            <a:srgbClr val="232D38"/>
                          </a:solidFill>
                          <a:latin typeface="Microsoft JhengHei"/>
                        </a:defRPr>
                      </a:pPr>
                      <a:r>
                        <a:t>Compaction</a:t>
                      </a:r>
                    </a:p>
                  </a:txBody>
                  <a:tcPr anchor="ctr">
                    <a:solidFill>
                      <a:srgbClr val="F7F4ED"/>
                    </a:solidFill>
                  </a:tcPr>
                </a:tc>
                <a:tc>
                  <a:txBody>
                    <a:bodyPr/>
                    <a:lstStyle/>
                    <a:p>
                      <a:pPr algn="l">
                        <a:defRPr sz="750">
                          <a:solidFill>
                            <a:srgbClr val="4A5568"/>
                          </a:solidFill>
                          <a:latin typeface="Microsoft JhengHei"/>
                        </a:defRPr>
                      </a:pPr>
                      <a:r>
                        <a:t>Context Compaction (上下文動態壓縮)</a:t>
                      </a:r>
                    </a:p>
                  </a:txBody>
                  <a:tcPr anchor="ctr">
                    <a:solidFill>
                      <a:srgbClr val="F7F4ED"/>
                    </a:solidFill>
                  </a:tcPr>
                </a:tc>
                <a:tc>
                  <a:txBody>
                    <a:bodyPr/>
                    <a:lstStyle/>
                    <a:p>
                      <a:pPr algn="l">
                        <a:defRPr sz="750">
                          <a:solidFill>
                            <a:srgbClr val="4A5568"/>
                          </a:solidFill>
                          <a:latin typeface="Microsoft JhengHei"/>
                        </a:defRPr>
                      </a:pPr>
                      <a:r>
                        <a:t>在長程對話接近 Token 上限時，透過智能摘錄與關鍵事實保留，將歷史對話壓縮 70% 避免上下文溢出。</a:t>
                      </a:r>
                    </a:p>
                  </a:txBody>
                  <a:tcPr anchor="ctr">
                    <a:solidFill>
                      <a:srgbClr val="F7F4ED"/>
                    </a:solidFill>
                  </a:tcPr>
                </a:tc>
                <a:tc>
                  <a:txBody>
                    <a:bodyPr/>
                    <a:lstStyle/>
                    <a:p>
                      <a:pPr algn="ctr">
                        <a:defRPr sz="750">
                          <a:solidFill>
                            <a:srgbClr val="4A5568"/>
                          </a:solidFill>
                          <a:latin typeface="Microsoft JhengHei"/>
                        </a:defRPr>
                      </a:pPr>
                      <a:r>
                        <a:t>核心元素 (P12, P13)</a:t>
                      </a:r>
                    </a:p>
                  </a:txBody>
                  <a:tcPr anchor="ctr">
                    <a:solidFill>
                      <a:srgbClr val="F7F4ED"/>
                    </a:solidFill>
                  </a:tcPr>
                </a:tc>
              </a:tr>
              <a:tr h="304800">
                <a:tc>
                  <a:txBody>
                    <a:bodyPr/>
                    <a:lstStyle/>
                    <a:p>
                      <a:pPr algn="l">
                        <a:defRPr sz="750" b="1">
                          <a:solidFill>
                            <a:srgbClr val="232D38"/>
                          </a:solidFill>
                          <a:latin typeface="Microsoft JhengHei"/>
                        </a:defRPr>
                      </a:pPr>
                      <a:r>
                        <a:t>num_ctx</a:t>
                      </a:r>
                    </a:p>
                  </a:txBody>
                  <a:tcPr anchor="ctr">
                    <a:solidFill>
                      <a:srgbClr val="FDFCFA"/>
                    </a:solidFill>
                  </a:tcPr>
                </a:tc>
                <a:tc>
                  <a:txBody>
                    <a:bodyPr/>
                    <a:lstStyle/>
                    <a:p>
                      <a:pPr algn="l">
                        <a:defRPr sz="750">
                          <a:solidFill>
                            <a:srgbClr val="4A5568"/>
                          </a:solidFill>
                          <a:latin typeface="Microsoft JhengHei"/>
                        </a:defRPr>
                      </a:pPr>
                      <a:r>
                        <a:t>Number of Context Tokens (上下文窗口參數)</a:t>
                      </a:r>
                    </a:p>
                  </a:txBody>
                  <a:tcPr anchor="ctr">
                    <a:solidFill>
                      <a:srgbClr val="FDFCFA"/>
                    </a:solidFill>
                  </a:tcPr>
                </a:tc>
                <a:tc>
                  <a:txBody>
                    <a:bodyPr/>
                    <a:lstStyle/>
                    <a:p>
                      <a:pPr algn="l">
                        <a:defRPr sz="750">
                          <a:solidFill>
                            <a:srgbClr val="4A5568"/>
                          </a:solidFill>
                          <a:latin typeface="Microsoft JhengHei"/>
                        </a:defRPr>
                      </a:pPr>
                      <a:r>
                        <a:t>地端推論引擎（如 Ollama/vLLM）中配置之上下文 Token 上限參數，直接影響顯存佔用與注意力穩定度。</a:t>
                      </a:r>
                    </a:p>
                  </a:txBody>
                  <a:tcPr anchor="ctr">
                    <a:solidFill>
                      <a:srgbClr val="FDFCFA"/>
                    </a:solidFill>
                  </a:tcPr>
                </a:tc>
                <a:tc>
                  <a:txBody>
                    <a:bodyPr/>
                    <a:lstStyle/>
                    <a:p>
                      <a:pPr algn="ctr">
                        <a:defRPr sz="750">
                          <a:solidFill>
                            <a:srgbClr val="4A5568"/>
                          </a:solidFill>
                          <a:latin typeface="Microsoft JhengHei"/>
                        </a:defRPr>
                      </a:pPr>
                      <a:r>
                        <a:t>工程配置 (P11)</a:t>
                      </a:r>
                    </a:p>
                  </a:txBody>
                  <a:tcPr anchor="ctr">
                    <a:solidFill>
                      <a:srgbClr val="FDFCFA"/>
                    </a:solidFill>
                  </a:tcPr>
                </a:tc>
              </a:tr>
              <a:tr h="304800">
                <a:tc>
                  <a:txBody>
                    <a:bodyPr/>
                    <a:lstStyle/>
                    <a:p>
                      <a:pPr algn="l">
                        <a:defRPr sz="750" b="1">
                          <a:solidFill>
                            <a:srgbClr val="232D38"/>
                          </a:solidFill>
                          <a:latin typeface="Microsoft JhengHei"/>
                        </a:defRPr>
                      </a:pPr>
                      <a:r>
                        <a:t>Few-shot XML</a:t>
                      </a:r>
                    </a:p>
                  </a:txBody>
                  <a:tcPr anchor="ctr">
                    <a:solidFill>
                      <a:srgbClr val="F7F4ED"/>
                    </a:solidFill>
                  </a:tcPr>
                </a:tc>
                <a:tc>
                  <a:txBody>
                    <a:bodyPr/>
                    <a:lstStyle/>
                    <a:p>
                      <a:pPr algn="l">
                        <a:defRPr sz="750">
                          <a:solidFill>
                            <a:srgbClr val="4A5568"/>
                          </a:solidFill>
                          <a:latin typeface="Microsoft JhengHei"/>
                        </a:defRPr>
                      </a:pPr>
                      <a:r>
                        <a:t>XML-tagged Few-Shot Prompting</a:t>
                      </a:r>
                    </a:p>
                  </a:txBody>
                  <a:tcPr anchor="ctr">
                    <a:solidFill>
                      <a:srgbClr val="F7F4ED"/>
                    </a:solidFill>
                  </a:tcPr>
                </a:tc>
                <a:tc>
                  <a:txBody>
                    <a:bodyPr/>
                    <a:lstStyle/>
                    <a:p>
                      <a:pPr algn="l">
                        <a:defRPr sz="750" b="1">
                          <a:solidFill>
                            <a:srgbClr val="3B6E58"/>
                          </a:solidFill>
                          <a:latin typeface="Microsoft JhengHei"/>
                        </a:defRPr>
                      </a:pPr>
                      <a:r>
                        <a:t>利用 `&lt;example&gt;`、`&lt;tool_call&gt;` 等嚴謹 XML 標籤包裹範例提示詞，強制引導開源弱模型輸出結構化格式。</a:t>
                      </a:r>
                    </a:p>
                  </a:txBody>
                  <a:tcPr anchor="ctr">
                    <a:solidFill>
                      <a:srgbClr val="F7F4ED"/>
                    </a:solidFill>
                  </a:tcPr>
                </a:tc>
                <a:tc>
                  <a:txBody>
                    <a:bodyPr/>
                    <a:lstStyle/>
                    <a:p>
                      <a:pPr algn="ctr">
                        <a:defRPr sz="750">
                          <a:solidFill>
                            <a:srgbClr val="4A5568"/>
                          </a:solidFill>
                          <a:latin typeface="Microsoft JhengHei"/>
                        </a:defRPr>
                      </a:pPr>
                      <a:r>
                        <a:t>提示工程 (P11)</a:t>
                      </a:r>
                    </a:p>
                  </a:txBody>
                  <a:tcPr anchor="ctr">
                    <a:solidFill>
                      <a:srgbClr val="F7F4ED"/>
                    </a:solidFill>
                  </a:tcPr>
                </a:tc>
              </a:tr>
              <a:tr h="304800">
                <a:tc>
                  <a:txBody>
                    <a:bodyPr/>
                    <a:lstStyle/>
                    <a:p>
                      <a:pPr algn="l">
                        <a:defRPr sz="750" b="1">
                          <a:solidFill>
                            <a:srgbClr val="232D38"/>
                          </a:solidFill>
                          <a:latin typeface="Microsoft JhengHei"/>
                        </a:defRPr>
                      </a:pPr>
                      <a:r>
                        <a:t>Vibe Coding</a:t>
                      </a:r>
                    </a:p>
                  </a:txBody>
                  <a:tcPr anchor="ctr">
                    <a:solidFill>
                      <a:srgbClr val="FDFCFA"/>
                    </a:solidFill>
                  </a:tcPr>
                </a:tc>
                <a:tc>
                  <a:txBody>
                    <a:bodyPr/>
                    <a:lstStyle/>
                    <a:p>
                      <a:pPr algn="l">
                        <a:defRPr sz="750">
                          <a:solidFill>
                            <a:srgbClr val="4A5568"/>
                          </a:solidFill>
                          <a:latin typeface="Microsoft JhengHei"/>
                        </a:defRPr>
                      </a:pPr>
                      <a:r>
                        <a:t>隨性/憑感覺對話編程</a:t>
                      </a:r>
                    </a:p>
                  </a:txBody>
                  <a:tcPr anchor="ctr">
                    <a:solidFill>
                      <a:srgbClr val="FDFCFA"/>
                    </a:solidFill>
                  </a:tcPr>
                </a:tc>
                <a:tc>
                  <a:txBody>
                    <a:bodyPr/>
                    <a:lstStyle/>
                    <a:p>
                      <a:pPr algn="l">
                        <a:defRPr sz="750">
                          <a:solidFill>
                            <a:srgbClr val="4A5568"/>
                          </a:solidFill>
                          <a:latin typeface="Microsoft JhengHei"/>
                        </a:defRPr>
                      </a:pPr>
                      <a:r>
                        <a:t>指開發者不寫規格直接對 AI 隨性下指令的碰運氣模式；因缺乏邊界約束極易累積技術債，已被 Spec-Driven 取代。</a:t>
                      </a:r>
                    </a:p>
                  </a:txBody>
                  <a:tcPr anchor="ctr">
                    <a:solidFill>
                      <a:srgbClr val="FDFCFA"/>
                    </a:solidFill>
                  </a:tcPr>
                </a:tc>
                <a:tc>
                  <a:txBody>
                    <a:bodyPr/>
                    <a:lstStyle/>
                    <a:p>
                      <a:pPr algn="ctr">
                        <a:defRPr sz="750">
                          <a:solidFill>
                            <a:srgbClr val="4A5568"/>
                          </a:solidFill>
                          <a:latin typeface="Microsoft JhengHei"/>
                        </a:defRPr>
                      </a:pPr>
                      <a:r>
                        <a:t>工程文化 (P5, P20)</a:t>
                      </a:r>
                    </a:p>
                  </a:txBody>
                  <a:tcPr anchor="ctr">
                    <a:solidFill>
                      <a:srgbClr val="FDFCFA"/>
                    </a:solidFill>
                  </a:tcPr>
                </a:tc>
              </a:tr>
              <a:tr h="304800">
                <a:tc>
                  <a:txBody>
                    <a:bodyPr/>
                    <a:lstStyle/>
                    <a:p>
                      <a:pPr algn="l">
                        <a:defRPr sz="750" b="1">
                          <a:solidFill>
                            <a:srgbClr val="232D38"/>
                          </a:solidFill>
                          <a:latin typeface="Microsoft JhengHei"/>
                        </a:defRPr>
                      </a:pPr>
                      <a:r>
                        <a:t>AAIF</a:t>
                      </a:r>
                    </a:p>
                  </a:txBody>
                  <a:tcPr anchor="ctr">
                    <a:solidFill>
                      <a:srgbClr val="F7F4ED"/>
                    </a:solidFill>
                  </a:tcPr>
                </a:tc>
                <a:tc>
                  <a:txBody>
                    <a:bodyPr/>
                    <a:lstStyle/>
                    <a:p>
                      <a:pPr algn="l">
                        <a:defRPr sz="750">
                          <a:solidFill>
                            <a:srgbClr val="4A5568"/>
                          </a:solidFill>
                          <a:latin typeface="Microsoft JhengHei"/>
                        </a:defRPr>
                      </a:pPr>
                      <a:r>
                        <a:t>All-In-One AI Framework (Goose 等採用)</a:t>
                      </a:r>
                    </a:p>
                  </a:txBody>
                  <a:tcPr anchor="ctr">
                    <a:solidFill>
                      <a:srgbClr val="F7F4ED"/>
                    </a:solidFill>
                  </a:tcPr>
                </a:tc>
                <a:tc>
                  <a:txBody>
                    <a:bodyPr/>
                    <a:lstStyle/>
                    <a:p>
                      <a:pPr algn="l">
                        <a:defRPr sz="750">
                          <a:solidFill>
                            <a:srgbClr val="4A5568"/>
                          </a:solidFill>
                          <a:latin typeface="Microsoft JhengHei"/>
                        </a:defRPr>
                      </a:pPr>
                      <a:r>
                        <a:t>全功能模組化代理抽象介面標準，提供統一的 Tool 注入、Session 保持與外掛生態協議。</a:t>
                      </a:r>
                    </a:p>
                  </a:txBody>
                  <a:tcPr anchor="ctr">
                    <a:solidFill>
                      <a:srgbClr val="F7F4ED"/>
                    </a:solidFill>
                  </a:tcPr>
                </a:tc>
                <a:tc>
                  <a:txBody>
                    <a:bodyPr/>
                    <a:lstStyle/>
                    <a:p>
                      <a:pPr algn="ctr">
                        <a:defRPr sz="750">
                          <a:solidFill>
                            <a:srgbClr val="4A5568"/>
                          </a:solidFill>
                          <a:latin typeface="Microsoft JhengHei"/>
                        </a:defRPr>
                      </a:pPr>
                      <a:r>
                        <a:t>框架標準 (P3)</a:t>
                      </a:r>
                    </a:p>
                  </a:txBody>
                  <a:tcPr anchor="ctr">
                    <a:solidFill>
                      <a:srgbClr val="F7F4ED"/>
                    </a:solidFill>
                  </a:tcPr>
                </a:tc>
              </a:tr>
              <a:tr h="304800">
                <a:tc>
                  <a:txBody>
                    <a:bodyPr/>
                    <a:lstStyle/>
                    <a:p>
                      <a:pPr algn="l">
                        <a:defRPr sz="750" b="1">
                          <a:solidFill>
                            <a:srgbClr val="232D38"/>
                          </a:solidFill>
                          <a:latin typeface="Microsoft JhengHei"/>
                        </a:defRPr>
                      </a:pPr>
                      <a:r>
                        <a:t>ADC</a:t>
                      </a:r>
                    </a:p>
                  </a:txBody>
                  <a:tcPr anchor="ctr">
                    <a:solidFill>
                      <a:srgbClr val="FDFCFA"/>
                    </a:solidFill>
                  </a:tcPr>
                </a:tc>
                <a:tc>
                  <a:txBody>
                    <a:bodyPr/>
                    <a:lstStyle/>
                    <a:p>
                      <a:pPr algn="l">
                        <a:defRPr sz="750">
                          <a:solidFill>
                            <a:srgbClr val="4A5568"/>
                          </a:solidFill>
                          <a:latin typeface="Microsoft JhengHei"/>
                        </a:defRPr>
                      </a:pPr>
                      <a:r>
                        <a:t>Application Default Credentials</a:t>
                      </a:r>
                    </a:p>
                  </a:txBody>
                  <a:tcPr anchor="ctr">
                    <a:solidFill>
                      <a:srgbClr val="FDFCFA"/>
                    </a:solidFill>
                  </a:tcPr>
                </a:tc>
                <a:tc>
                  <a:txBody>
                    <a:bodyPr/>
                    <a:lstStyle/>
                    <a:p>
                      <a:pPr algn="l">
                        <a:defRPr sz="750">
                          <a:solidFill>
                            <a:srgbClr val="4A5568"/>
                          </a:solidFill>
                          <a:latin typeface="Microsoft JhengHei"/>
                        </a:defRPr>
                      </a:pPr>
                      <a:r>
                        <a:t>Google 雲端與 Antigravity 採用的應用程式預設憑證體系，支援無縫、安全的跨資源企業級 IAM 鑑權。</a:t>
                      </a:r>
                    </a:p>
                  </a:txBody>
                  <a:tcPr anchor="ctr">
                    <a:solidFill>
                      <a:srgbClr val="FDFCFA"/>
                    </a:solidFill>
                  </a:tcPr>
                </a:tc>
                <a:tc>
                  <a:txBody>
                    <a:bodyPr/>
                    <a:lstStyle/>
                    <a:p>
                      <a:pPr algn="ctr">
                        <a:defRPr sz="750">
                          <a:solidFill>
                            <a:srgbClr val="4A5568"/>
                          </a:solidFill>
                          <a:latin typeface="Microsoft JhengHei"/>
                        </a:defRPr>
                      </a:pPr>
                      <a:r>
                        <a:t>企業治理 (P18)</a:t>
                      </a:r>
                    </a:p>
                  </a:txBody>
                  <a:tcPr anchor="ctr">
                    <a:solidFill>
                      <a:srgbClr val="FDFCFA"/>
                    </a:solidFill>
                  </a:tcPr>
                </a:tc>
              </a:tr>
              <a:tr h="304800">
                <a:tc>
                  <a:txBody>
                    <a:bodyPr/>
                    <a:lstStyle/>
                    <a:p>
                      <a:pPr algn="l">
                        <a:defRPr sz="750" b="1">
                          <a:solidFill>
                            <a:srgbClr val="232D38"/>
                          </a:solidFill>
                          <a:latin typeface="Microsoft JhengHei"/>
                        </a:defRPr>
                      </a:pPr>
                      <a:r>
                        <a:t>Muon</a:t>
                      </a:r>
                    </a:p>
                  </a:txBody>
                  <a:tcPr anchor="ctr">
                    <a:solidFill>
                      <a:srgbClr val="F7F4ED"/>
                    </a:solidFill>
                  </a:tcPr>
                </a:tc>
                <a:tc>
                  <a:txBody>
                    <a:bodyPr/>
                    <a:lstStyle/>
                    <a:p>
                      <a:pPr algn="l">
                        <a:defRPr sz="750">
                          <a:solidFill>
                            <a:srgbClr val="4A5568"/>
                          </a:solidFill>
                          <a:latin typeface="Microsoft JhengHei"/>
                        </a:defRPr>
                      </a:pPr>
                      <a:r>
                        <a:t>Muon Optimizer (混合動量優化器)</a:t>
                      </a:r>
                    </a:p>
                  </a:txBody>
                  <a:tcPr anchor="ctr">
                    <a:solidFill>
                      <a:srgbClr val="F7F4ED"/>
                    </a:solidFill>
                  </a:tcPr>
                </a:tc>
                <a:tc>
                  <a:txBody>
                    <a:bodyPr/>
                    <a:lstStyle/>
                    <a:p>
                      <a:pPr algn="l">
                        <a:defRPr sz="750">
                          <a:solidFill>
                            <a:srgbClr val="4A5568"/>
                          </a:solidFill>
                          <a:latin typeface="Microsoft JhengHei"/>
                        </a:defRPr>
                      </a:pPr>
                      <a:r>
                        <a:t>Kimi K3 等前沿超大規模 MoE 模型採用之高效優化器演算法，大幅提升萬卡叢集訓練收斂效率與數值穩定性。</a:t>
                      </a:r>
                    </a:p>
                  </a:txBody>
                  <a:tcPr anchor="ctr">
                    <a:solidFill>
                      <a:srgbClr val="F7F4ED"/>
                    </a:solidFill>
                  </a:tcPr>
                </a:tc>
                <a:tc>
                  <a:txBody>
                    <a:bodyPr/>
                    <a:lstStyle/>
                    <a:p>
                      <a:pPr algn="ctr">
                        <a:defRPr sz="750">
                          <a:solidFill>
                            <a:srgbClr val="4A5568"/>
                          </a:solidFill>
                          <a:latin typeface="Microsoft JhengHei"/>
                        </a:defRPr>
                      </a:pPr>
                      <a:r>
                        <a:t>底層技術 (P10)</a:t>
                      </a:r>
                    </a:p>
                  </a:txBody>
                  <a:tcPr anchor="ctr">
                    <a:solidFill>
                      <a:srgbClr val="F7F4ED"/>
                    </a:solidFill>
                  </a:tcPr>
                </a:tc>
              </a:tr>
              <a:tr h="304800">
                <a:tc>
                  <a:txBody>
                    <a:bodyPr/>
                    <a:lstStyle/>
                    <a:p>
                      <a:pPr algn="l">
                        <a:defRPr sz="750" b="1">
                          <a:solidFill>
                            <a:srgbClr val="232D38"/>
                          </a:solidFill>
                          <a:latin typeface="Microsoft JhengHei"/>
                        </a:defRPr>
                      </a:pPr>
                      <a:r>
                        <a:t>IndexShare</a:t>
                      </a:r>
                    </a:p>
                  </a:txBody>
                  <a:tcPr anchor="ctr">
                    <a:solidFill>
                      <a:srgbClr val="FDFCFA"/>
                    </a:solidFill>
                  </a:tcPr>
                </a:tc>
                <a:tc>
                  <a:txBody>
                    <a:bodyPr/>
                    <a:lstStyle/>
                    <a:p>
                      <a:pPr algn="l">
                        <a:defRPr sz="750">
                          <a:solidFill>
                            <a:srgbClr val="4A5568"/>
                          </a:solidFill>
                          <a:latin typeface="Microsoft JhengHei"/>
                        </a:defRPr>
                      </a:pPr>
                      <a:r>
                        <a:t>Index-Shared Attention (共享索引注意力)</a:t>
                      </a:r>
                    </a:p>
                  </a:txBody>
                  <a:tcPr anchor="ctr">
                    <a:solidFill>
                      <a:srgbClr val="FDFCFA"/>
                    </a:solidFill>
                  </a:tcPr>
                </a:tc>
                <a:tc>
                  <a:txBody>
                    <a:bodyPr/>
                    <a:lstStyle/>
                    <a:p>
                      <a:pPr algn="l">
                        <a:defRPr sz="750">
                          <a:solidFill>
                            <a:srgbClr val="4A5568"/>
                          </a:solidFill>
                          <a:latin typeface="Microsoft JhengHei"/>
                        </a:defRPr>
                      </a:pPr>
                      <a:r>
                        <a:t>GLM-5.2 核心專利架構，透過跨層多頭注意力共享鍵值索引，顯著降低長文本推論之顯存頻寬消耗。</a:t>
                      </a:r>
                    </a:p>
                  </a:txBody>
                  <a:tcPr anchor="ctr">
                    <a:solidFill>
                      <a:srgbClr val="FDFCFA"/>
                    </a:solidFill>
                  </a:tcPr>
                </a:tc>
                <a:tc>
                  <a:txBody>
                    <a:bodyPr/>
                    <a:lstStyle/>
                    <a:p>
                      <a:pPr algn="ctr">
                        <a:defRPr sz="750">
                          <a:solidFill>
                            <a:srgbClr val="4A5568"/>
                          </a:solidFill>
                          <a:latin typeface="Microsoft JhengHei"/>
                        </a:defRPr>
                      </a:pPr>
                      <a:r>
                        <a:t>底層技術 (P10)</a:t>
                      </a:r>
                    </a:p>
                  </a:txBody>
                  <a:tcPr anchor="ctr">
                    <a:solidFill>
                      <a:srgbClr val="FDFCFA"/>
                    </a:solidFill>
                  </a:tcPr>
                </a:tc>
              </a:tr>
              <a:tr h="304800">
                <a:tc>
                  <a:txBody>
                    <a:bodyPr/>
                    <a:lstStyle/>
                    <a:p>
                      <a:pPr algn="l">
                        <a:defRPr sz="750" b="1">
                          <a:solidFill>
                            <a:srgbClr val="232D38"/>
                          </a:solidFill>
                          <a:latin typeface="Microsoft JhengHei"/>
                        </a:defRPr>
                      </a:pPr>
                      <a:r>
                        <a:t>Silent Failures</a:t>
                      </a:r>
                    </a:p>
                  </a:txBody>
                  <a:tcPr anchor="ctr">
                    <a:solidFill>
                      <a:srgbClr val="F7F4ED"/>
                    </a:solidFill>
                  </a:tcPr>
                </a:tc>
                <a:tc>
                  <a:txBody>
                    <a:bodyPr/>
                    <a:lstStyle/>
                    <a:p>
                      <a:pPr algn="l">
                        <a:defRPr sz="750">
                          <a:solidFill>
                            <a:srgbClr val="4A5568"/>
                          </a:solidFill>
                          <a:latin typeface="Microsoft JhengHei"/>
                        </a:defRPr>
                      </a:pPr>
                      <a:r>
                        <a:t>靜默失敗迴圈 (Silent Failure Loops)</a:t>
                      </a:r>
                    </a:p>
                  </a:txBody>
                  <a:tcPr anchor="ctr">
                    <a:solidFill>
                      <a:srgbClr val="F7F4ED"/>
                    </a:solidFill>
                  </a:tcPr>
                </a:tc>
                <a:tc>
                  <a:txBody>
                    <a:bodyPr/>
                    <a:lstStyle/>
                    <a:p>
                      <a:pPr algn="l">
                        <a:defRPr sz="750">
                          <a:solidFill>
                            <a:srgbClr val="4A5568"/>
                          </a:solidFill>
                          <a:latin typeface="Microsoft JhengHei"/>
                        </a:defRPr>
                      </a:pPr>
                      <a:r>
                        <a:t>Agent 在遇到錯誤時未拋出異常，而是在同一死胡同不斷重試無效操作、空轉燒光 Token 之典型故障現象。</a:t>
                      </a:r>
                    </a:p>
                  </a:txBody>
                  <a:tcPr anchor="ctr">
                    <a:solidFill>
                      <a:srgbClr val="F7F4ED"/>
                    </a:solidFill>
                  </a:tcPr>
                </a:tc>
                <a:tc>
                  <a:txBody>
                    <a:bodyPr/>
                    <a:lstStyle/>
                    <a:p>
                      <a:pPr algn="ctr">
                        <a:defRPr sz="750">
                          <a:solidFill>
                            <a:srgbClr val="4A5568"/>
                          </a:solidFill>
                          <a:latin typeface="Microsoft JhengHei"/>
                        </a:defRPr>
                      </a:pPr>
                      <a:r>
                        <a:t>專家洞察 (P23)</a:t>
                      </a:r>
                    </a:p>
                  </a:txBody>
                  <a:tcPr anchor="ctr">
                    <a:solidFill>
                      <a:srgbClr val="F7F4ED"/>
                    </a:solidFill>
                  </a:tcPr>
                </a:tc>
              </a:tr>
            </a:tbl>
          </a:graphicData>
        </a:graphic>
      </p:graphicFrame>
      <p:sp>
        <p:nvSpPr>
          <p:cNvPr id="9" name="TextBox 8"/>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10" name="TextBox 9"/>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2011680" cy="274320"/>
          </a:xfrm>
          <a:prstGeom prst="round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Microsoft JhengHei"/>
              </a:defRPr>
            </a:pPr>
            <a:r>
              <a:t>✦  資料溯源</a:t>
            </a:r>
          </a:p>
        </p:txBody>
      </p:sp>
      <p:sp>
        <p:nvSpPr>
          <p:cNvPr id="5" name="TextBox 4"/>
          <p:cNvSpPr txBox="1"/>
          <p:nvPr/>
        </p:nvSpPr>
        <p:spPr>
          <a:xfrm>
            <a:off x="731520" y="603504"/>
            <a:ext cx="10728655" cy="777240"/>
          </a:xfrm>
          <a:prstGeom prst="rect">
            <a:avLst/>
          </a:prstGeom>
          <a:noFill/>
        </p:spPr>
        <p:txBody>
          <a:bodyPr wrap="square" lIns="0" tIns="0" rIns="0" bIns="0">
            <a:spAutoFit/>
          </a:bodyPr>
          <a:lstStyle/>
          <a:p>
            <a:r>
              <a:rPr sz="2050" b="1">
                <a:solidFill>
                  <a:srgbClr val="232D38"/>
                </a:solidFill>
                <a:latin typeface="Microsoft JhengHei"/>
              </a:rPr>
              <a:t>圖表數據與文獻來源：全景研究方法學與資料溯源說明</a:t>
            </a:r>
          </a:p>
          <a:p>
            <a:pPr>
              <a:spcBef>
                <a:spcPts val="300"/>
              </a:spcBef>
            </a:pPr>
            <a:r>
              <a:rPr sz="950">
                <a:solidFill>
                  <a:srgbClr val="7C8695"/>
                </a:solidFill>
                <a:latin typeface="Microsoft JhengHei"/>
              </a:rPr>
              <a:t>詳列本報告所有量化評測、市場採用率、硬體規格與架構規範之權威數據來源與基準依據</a:t>
            </a:r>
          </a:p>
        </p:txBody>
      </p:sp>
      <p:sp>
        <p:nvSpPr>
          <p:cNvPr id="6" name="Rectangle 5"/>
          <p:cNvSpPr/>
          <p:nvPr/>
        </p:nvSpPr>
        <p:spPr>
          <a:xfrm>
            <a:off x="731520" y="1389888"/>
            <a:ext cx="10728655" cy="13716"/>
          </a:xfrm>
          <a:prstGeom prst="rect">
            <a:avLst/>
          </a:prstGeom>
          <a:solidFill>
            <a:srgbClr val="D6C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54480"/>
            <a:ext cx="10728655" cy="475488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841248" y="1645920"/>
          <a:ext cx="10509197" cy="4572000"/>
        </p:xfrm>
        <a:graphic>
          <a:graphicData uri="http://schemas.openxmlformats.org/drawingml/2006/table">
            <a:tbl>
              <a:tblPr firstRow="1" bandRow="1">
                <a:tableStyleId>{5C22544A-7EE6-4342-B048-85BDC9FD1C3A}</a:tableStyleId>
              </a:tblPr>
              <a:tblGrid>
                <a:gridCol w="1616799"/>
                <a:gridCol w="2335377"/>
                <a:gridCol w="4670755"/>
                <a:gridCol w="1886266"/>
              </a:tblGrid>
              <a:tr h="415636">
                <a:tc>
                  <a:txBody>
                    <a:bodyPr/>
                    <a:lstStyle/>
                    <a:p>
                      <a:pPr algn="l">
                        <a:defRPr sz="800" b="1">
                          <a:solidFill>
                            <a:srgbClr val="232D38"/>
                          </a:solidFill>
                          <a:latin typeface="Microsoft JhengHei"/>
                        </a:defRPr>
                      </a:pPr>
                      <a:r>
                        <a:t>圖表編號 / 模組</a:t>
                      </a:r>
                    </a:p>
                  </a:txBody>
                  <a:tcPr anchor="ctr">
                    <a:solidFill>
                      <a:srgbClr val="EAE4D8"/>
                    </a:solidFill>
                  </a:tcPr>
                </a:tc>
                <a:tc>
                  <a:txBody>
                    <a:bodyPr/>
                    <a:lstStyle/>
                    <a:p>
                      <a:pPr algn="l">
                        <a:defRPr sz="800" b="1">
                          <a:solidFill>
                            <a:srgbClr val="232D38"/>
                          </a:solidFill>
                          <a:latin typeface="Microsoft JhengHei"/>
                        </a:defRPr>
                      </a:pPr>
                      <a:r>
                        <a:t>圖表主題與評測面向</a:t>
                      </a:r>
                    </a:p>
                  </a:txBody>
                  <a:tcPr anchor="ctr">
                    <a:solidFill>
                      <a:srgbClr val="EAE4D8"/>
                    </a:solidFill>
                  </a:tcPr>
                </a:tc>
                <a:tc>
                  <a:txBody>
                    <a:bodyPr/>
                    <a:lstStyle/>
                    <a:p>
                      <a:pPr algn="l">
                        <a:defRPr sz="800" b="1">
                          <a:solidFill>
                            <a:srgbClr val="232D38"/>
                          </a:solidFill>
                          <a:latin typeface="Microsoft JhengHei"/>
                        </a:defRPr>
                      </a:pPr>
                      <a:r>
                        <a:t>核心數據來源與調研基準</a:t>
                      </a:r>
                    </a:p>
                  </a:txBody>
                  <a:tcPr anchor="ctr">
                    <a:solidFill>
                      <a:srgbClr val="EAE4D8"/>
                    </a:solidFill>
                  </a:tcPr>
                </a:tc>
                <a:tc>
                  <a:txBody>
                    <a:bodyPr/>
                    <a:lstStyle/>
                    <a:p>
                      <a:pPr algn="ctr">
                        <a:defRPr sz="800" b="1">
                          <a:solidFill>
                            <a:srgbClr val="232D38"/>
                          </a:solidFill>
                          <a:latin typeface="Microsoft JhengHei"/>
                        </a:defRPr>
                      </a:pPr>
                      <a:r>
                        <a:t>取樣區間 / 驗證標準</a:t>
                      </a:r>
                    </a:p>
                  </a:txBody>
                  <a:tcPr anchor="ctr">
                    <a:solidFill>
                      <a:srgbClr val="EAE4D8"/>
                    </a:solidFill>
                  </a:tcPr>
                </a:tc>
              </a:tr>
              <a:tr h="415636">
                <a:tc>
                  <a:txBody>
                    <a:bodyPr/>
                    <a:lstStyle/>
                    <a:p>
                      <a:pPr algn="l">
                        <a:defRPr sz="750" b="1">
                          <a:solidFill>
                            <a:srgbClr val="232D38"/>
                          </a:solidFill>
                          <a:latin typeface="Microsoft JhengHei"/>
                        </a:defRPr>
                      </a:pPr>
                      <a:r>
                        <a:t>表 1-1 &amp; 圖 1-1</a:t>
                      </a:r>
                    </a:p>
                  </a:txBody>
                  <a:tcPr anchor="ctr">
                    <a:solidFill>
                      <a:srgbClr val="FDFCFA"/>
                    </a:solidFill>
                  </a:tcPr>
                </a:tc>
                <a:tc>
                  <a:txBody>
                    <a:bodyPr/>
                    <a:lstStyle/>
                    <a:p>
                      <a:pPr algn="l">
                        <a:defRPr sz="750">
                          <a:solidFill>
                            <a:srgbClr val="4A5568"/>
                          </a:solidFill>
                          <a:latin typeface="Microsoft JhengHei"/>
                        </a:defRPr>
                      </a:pPr>
                      <a:r>
                        <a:t>15 款主流框架市場數據與 GitHub Stars</a:t>
                      </a:r>
                    </a:p>
                  </a:txBody>
                  <a:tcPr anchor="ctr">
                    <a:solidFill>
                      <a:srgbClr val="FDFCFA"/>
                    </a:solidFill>
                  </a:tcPr>
                </a:tc>
                <a:tc>
                  <a:txBody>
                    <a:bodyPr/>
                    <a:lstStyle/>
                    <a:p>
                      <a:pPr algn="l">
                        <a:defRPr sz="750">
                          <a:solidFill>
                            <a:srgbClr val="4A5568"/>
                          </a:solidFill>
                          <a:latin typeface="Microsoft JhengHei"/>
                        </a:defRPr>
                      </a:pPr>
                      <a:r>
                        <a:t>GitHub API (Stars/Forks)、PyPI 統計、VS Code Marketplace、Anthropic/OpenAI 官方公告</a:t>
                      </a:r>
                    </a:p>
                  </a:txBody>
                  <a:tcPr anchor="ctr">
                    <a:solidFill>
                      <a:srgbClr val="FDFCFA"/>
                    </a:solidFill>
                  </a:tcPr>
                </a:tc>
                <a:tc>
                  <a:txBody>
                    <a:bodyPr/>
                    <a:lstStyle/>
                    <a:p>
                      <a:pPr algn="ctr">
                        <a:defRPr sz="750" b="1">
                          <a:solidFill>
                            <a:srgbClr val="3B6E58"/>
                          </a:solidFill>
                          <a:latin typeface="Microsoft JhengHei"/>
                        </a:defRPr>
                      </a:pPr>
                      <a:r>
                        <a:t>2026 年 Q3 基準；含 MAU/WAU 與開源社群公開指標</a:t>
                      </a:r>
                    </a:p>
                  </a:txBody>
                  <a:tcPr anchor="ctr">
                    <a:solidFill>
                      <a:srgbClr val="FDFCFA"/>
                    </a:solidFill>
                  </a:tcPr>
                </a:tc>
              </a:tr>
              <a:tr h="415636">
                <a:tc>
                  <a:txBody>
                    <a:bodyPr/>
                    <a:lstStyle/>
                    <a:p>
                      <a:pPr algn="l">
                        <a:defRPr sz="750" b="1">
                          <a:solidFill>
                            <a:srgbClr val="232D38"/>
                          </a:solidFill>
                          <a:latin typeface="Microsoft JhengHei"/>
                        </a:defRPr>
                      </a:pPr>
                      <a:r>
                        <a:t>表 1-2 (P5)</a:t>
                      </a:r>
                    </a:p>
                  </a:txBody>
                  <a:tcPr anchor="ctr">
                    <a:solidFill>
                      <a:srgbClr val="F7F4ED"/>
                    </a:solidFill>
                  </a:tcPr>
                </a:tc>
                <a:tc>
                  <a:txBody>
                    <a:bodyPr/>
                    <a:lstStyle/>
                    <a:p>
                      <a:pPr algn="l">
                        <a:defRPr sz="750">
                          <a:solidFill>
                            <a:srgbClr val="4A5568"/>
                          </a:solidFill>
                          <a:latin typeface="Microsoft JhengHei"/>
                        </a:defRPr>
                      </a:pPr>
                      <a:r>
                        <a:t>開發者採用率激增 vs. 信任度鴻溝</a:t>
                      </a:r>
                    </a:p>
                  </a:txBody>
                  <a:tcPr anchor="ctr">
                    <a:solidFill>
                      <a:srgbClr val="F7F4ED"/>
                    </a:solidFill>
                  </a:tcPr>
                </a:tc>
                <a:tc>
                  <a:txBody>
                    <a:bodyPr/>
                    <a:lstStyle/>
                    <a:p>
                      <a:pPr algn="l">
                        <a:defRPr sz="750">
                          <a:solidFill>
                            <a:srgbClr val="4A5568"/>
                          </a:solidFill>
                          <a:latin typeface="Microsoft JhengHei"/>
                        </a:defRPr>
                      </a:pPr>
                      <a:r>
                        <a:t>Stack Overflow Annual Developer Survey (2024–2026)、GitHub Octoverse 報告</a:t>
                      </a:r>
                    </a:p>
                  </a:txBody>
                  <a:tcPr anchor="ctr">
                    <a:solidFill>
                      <a:srgbClr val="F7F4ED"/>
                    </a:solidFill>
                  </a:tcPr>
                </a:tc>
                <a:tc>
                  <a:txBody>
                    <a:bodyPr/>
                    <a:lstStyle/>
                    <a:p>
                      <a:pPr algn="ctr">
                        <a:defRPr sz="750">
                          <a:solidFill>
                            <a:srgbClr val="4A5568"/>
                          </a:solidFill>
                          <a:latin typeface="Microsoft JhengHei"/>
                        </a:defRPr>
                      </a:pPr>
                      <a:r>
                        <a:t>全球 &gt;65,000 名專業工程師問卷抽樣與代碼庫提交分析</a:t>
                      </a:r>
                    </a:p>
                  </a:txBody>
                  <a:tcPr anchor="ctr">
                    <a:solidFill>
                      <a:srgbClr val="F7F4ED"/>
                    </a:solidFill>
                  </a:tcPr>
                </a:tc>
              </a:tr>
              <a:tr h="415636">
                <a:tc>
                  <a:txBody>
                    <a:bodyPr/>
                    <a:lstStyle/>
                    <a:p>
                      <a:pPr algn="l">
                        <a:defRPr sz="750" b="1">
                          <a:solidFill>
                            <a:srgbClr val="232D38"/>
                          </a:solidFill>
                          <a:latin typeface="Microsoft JhengHei"/>
                        </a:defRPr>
                      </a:pPr>
                      <a:r>
                        <a:t>圖 1-2 &amp; 圖 1-3</a:t>
                      </a:r>
                    </a:p>
                  </a:txBody>
                  <a:tcPr anchor="ctr">
                    <a:solidFill>
                      <a:srgbClr val="FDFCFA"/>
                    </a:solidFill>
                  </a:tcPr>
                </a:tc>
                <a:tc>
                  <a:txBody>
                    <a:bodyPr/>
                    <a:lstStyle/>
                    <a:p>
                      <a:pPr algn="l">
                        <a:defRPr sz="750">
                          <a:solidFill>
                            <a:srgbClr val="4A5568"/>
                          </a:solidFill>
                          <a:latin typeface="Microsoft JhengHei"/>
                        </a:defRPr>
                      </a:pPr>
                      <a:r>
                        <a:t>六維核心能力量化雷達對比 (v1 &amp; v2)</a:t>
                      </a:r>
                    </a:p>
                  </a:txBody>
                  <a:tcPr anchor="ctr">
                    <a:solidFill>
                      <a:srgbClr val="FDFCFA"/>
                    </a:solidFill>
                  </a:tcPr>
                </a:tc>
                <a:tc>
                  <a:txBody>
                    <a:bodyPr/>
                    <a:lstStyle/>
                    <a:p>
                      <a:pPr algn="l">
                        <a:defRPr sz="750">
                          <a:solidFill>
                            <a:srgbClr val="4A5568"/>
                          </a:solidFill>
                          <a:latin typeface="Microsoft JhengHei"/>
                        </a:defRPr>
                      </a:pPr>
                      <a:r>
                        <a:t>AI Agent Harness Executive Working Group 基準測試、LangChain/Hermes 實測日誌</a:t>
                      </a:r>
                    </a:p>
                  </a:txBody>
                  <a:tcPr anchor="ctr">
                    <a:solidFill>
                      <a:srgbClr val="FDFCFA"/>
                    </a:solidFill>
                  </a:tcPr>
                </a:tc>
                <a:tc>
                  <a:txBody>
                    <a:bodyPr/>
                    <a:lstStyle/>
                    <a:p>
                      <a:pPr algn="ctr">
                        <a:defRPr sz="750">
                          <a:solidFill>
                            <a:srgbClr val="4A5568"/>
                          </a:solidFill>
                          <a:latin typeface="Microsoft JhengHei"/>
                        </a:defRPr>
                      </a:pPr>
                      <a:r>
                        <a:t>跨代碼生成、長程推理、離線耐受等 6 大維度 10 分制量化</a:t>
                      </a:r>
                    </a:p>
                  </a:txBody>
                  <a:tcPr anchor="ctr">
                    <a:solidFill>
                      <a:srgbClr val="FDFCFA"/>
                    </a:solidFill>
                  </a:tcPr>
                </a:tc>
              </a:tr>
              <a:tr h="415636">
                <a:tc>
                  <a:txBody>
                    <a:bodyPr/>
                    <a:lstStyle/>
                    <a:p>
                      <a:pPr algn="l">
                        <a:defRPr sz="750" b="1">
                          <a:solidFill>
                            <a:srgbClr val="232D38"/>
                          </a:solidFill>
                          <a:latin typeface="Microsoft JhengHei"/>
                        </a:defRPr>
                      </a:pPr>
                      <a:r>
                        <a:t>表 2-1 &amp; 圖 2-1</a:t>
                      </a:r>
                    </a:p>
                  </a:txBody>
                  <a:tcPr anchor="ctr">
                    <a:solidFill>
                      <a:srgbClr val="F7F4ED"/>
                    </a:solidFill>
                  </a:tcPr>
                </a:tc>
                <a:tc>
                  <a:txBody>
                    <a:bodyPr/>
                    <a:lstStyle/>
                    <a:p>
                      <a:pPr algn="l">
                        <a:defRPr sz="750" b="1">
                          <a:solidFill>
                            <a:srgbClr val="3B6E58"/>
                          </a:solidFill>
                          <a:latin typeface="Microsoft JhengHei"/>
                        </a:defRPr>
                      </a:pPr>
                      <a:r>
                        <a:t>開源 LLM 評分 vs. GPU VRAM 資源甜蜜點</a:t>
                      </a:r>
                    </a:p>
                  </a:txBody>
                  <a:tcPr anchor="ctr">
                    <a:solidFill>
                      <a:srgbClr val="F7F4ED"/>
                    </a:solidFill>
                  </a:tcPr>
                </a:tc>
                <a:tc>
                  <a:txBody>
                    <a:bodyPr/>
                    <a:lstStyle/>
                    <a:p>
                      <a:pPr algn="l">
                        <a:defRPr sz="750">
                          <a:solidFill>
                            <a:srgbClr val="4A5568"/>
                          </a:solidFill>
                          <a:latin typeface="Microsoft JhengHei"/>
                        </a:defRPr>
                      </a:pPr>
                      <a:r>
                        <a:t>Hugging Face Open LLM Leaderboard、vLLM 官方基準、NVIDIA 顯存實測</a:t>
                      </a:r>
                    </a:p>
                  </a:txBody>
                  <a:tcPr anchor="ctr">
                    <a:solidFill>
                      <a:srgbClr val="F7F4ED"/>
                    </a:solidFill>
                  </a:tcPr>
                </a:tc>
                <a:tc>
                  <a:txBody>
                    <a:bodyPr/>
                    <a:lstStyle/>
                    <a:p>
                      <a:pPr algn="ctr">
                        <a:defRPr sz="750">
                          <a:solidFill>
                            <a:srgbClr val="4A5568"/>
                          </a:solidFill>
                          <a:latin typeface="Microsoft JhengHei"/>
                        </a:defRPr>
                      </a:pPr>
                      <a:r>
                        <a:t>涵蓋 2.3B 至 2.8T MoE，雙卡 RTX 4090 至 8 卡 H100 實測</a:t>
                      </a:r>
                    </a:p>
                  </a:txBody>
                  <a:tcPr anchor="ctr">
                    <a:solidFill>
                      <a:srgbClr val="F7F4ED"/>
                    </a:solidFill>
                  </a:tcPr>
                </a:tc>
              </a:tr>
              <a:tr h="415636">
                <a:tc>
                  <a:txBody>
                    <a:bodyPr/>
                    <a:lstStyle/>
                    <a:p>
                      <a:pPr algn="l">
                        <a:defRPr sz="750" b="1">
                          <a:solidFill>
                            <a:srgbClr val="232D38"/>
                          </a:solidFill>
                          <a:latin typeface="Microsoft JhengHei"/>
                        </a:defRPr>
                      </a:pPr>
                      <a:r>
                        <a:t>表 2-2 (P10)</a:t>
                      </a:r>
                    </a:p>
                  </a:txBody>
                  <a:tcPr anchor="ctr">
                    <a:solidFill>
                      <a:srgbClr val="FDFCFA"/>
                    </a:solidFill>
                  </a:tcPr>
                </a:tc>
                <a:tc>
                  <a:txBody>
                    <a:bodyPr/>
                    <a:lstStyle/>
                    <a:p>
                      <a:pPr algn="l">
                        <a:defRPr sz="750" b="1">
                          <a:solidFill>
                            <a:srgbClr val="3B6E58"/>
                          </a:solidFill>
                          <a:latin typeface="Microsoft JhengHei"/>
                        </a:defRPr>
                      </a:pPr>
                      <a:r>
                        <a:t>前沿開源旗艦模型底層架構專題</a:t>
                      </a:r>
                    </a:p>
                  </a:txBody>
                  <a:tcPr anchor="ctr">
                    <a:solidFill>
                      <a:srgbClr val="FDFCFA"/>
                    </a:solidFill>
                  </a:tcPr>
                </a:tc>
                <a:tc>
                  <a:txBody>
                    <a:bodyPr/>
                    <a:lstStyle/>
                    <a:p>
                      <a:pPr algn="l">
                        <a:defRPr sz="750">
                          <a:solidFill>
                            <a:srgbClr val="4A5568"/>
                          </a:solidFill>
                          <a:latin typeface="Microsoft JhengHei"/>
                        </a:defRPr>
                      </a:pPr>
                      <a:r>
                        <a:t>Moonshot Kimi K3 技術白皮書、DeepSeek V4.1 技術報告、智譜 GLM-5 論文、Google Gemma</a:t>
                      </a:r>
                    </a:p>
                  </a:txBody>
                  <a:tcPr anchor="ctr">
                    <a:solidFill>
                      <a:srgbClr val="FDFCFA"/>
                    </a:solidFill>
                  </a:tcPr>
                </a:tc>
                <a:tc>
                  <a:txBody>
                    <a:bodyPr/>
                    <a:lstStyle/>
                    <a:p>
                      <a:pPr algn="ctr">
                        <a:defRPr sz="750" b="1">
                          <a:solidFill>
                            <a:srgbClr val="3B6E58"/>
                          </a:solidFill>
                          <a:latin typeface="Microsoft JhengHei"/>
                        </a:defRPr>
                      </a:pPr>
                      <a:r>
                        <a:t>官方發布之 Model Card、架構專利與 GitHub 開源授權協議</a:t>
                      </a:r>
                    </a:p>
                  </a:txBody>
                  <a:tcPr anchor="ctr">
                    <a:solidFill>
                      <a:srgbClr val="FDFCFA"/>
                    </a:solidFill>
                  </a:tcPr>
                </a:tc>
              </a:tr>
              <a:tr h="415636">
                <a:tc>
                  <a:txBody>
                    <a:bodyPr/>
                    <a:lstStyle/>
                    <a:p>
                      <a:pPr algn="l">
                        <a:defRPr sz="750" b="1">
                          <a:solidFill>
                            <a:srgbClr val="232D38"/>
                          </a:solidFill>
                          <a:latin typeface="Microsoft JhengHei"/>
                        </a:defRPr>
                      </a:pPr>
                      <a:r>
                        <a:t>圖 2-2 (P11)</a:t>
                      </a:r>
                    </a:p>
                  </a:txBody>
                  <a:tcPr anchor="ctr">
                    <a:solidFill>
                      <a:srgbClr val="F7F4ED"/>
                    </a:solidFill>
                  </a:tcPr>
                </a:tc>
                <a:tc>
                  <a:txBody>
                    <a:bodyPr/>
                    <a:lstStyle/>
                    <a:p>
                      <a:pPr algn="l">
                        <a:defRPr sz="750" b="1">
                          <a:solidFill>
                            <a:srgbClr val="3B6E58"/>
                          </a:solidFill>
                          <a:latin typeface="Microsoft JhengHei"/>
                        </a:defRPr>
                      </a:pPr>
                      <a:r>
                        <a:t>開源弱模型 ReAct 增強策略效益矩陣</a:t>
                      </a:r>
                    </a:p>
                  </a:txBody>
                  <a:tcPr anchor="ctr">
                    <a:solidFill>
                      <a:srgbClr val="F7F4ED"/>
                    </a:solidFill>
                  </a:tcPr>
                </a:tc>
                <a:tc>
                  <a:txBody>
                    <a:bodyPr/>
                    <a:lstStyle/>
                    <a:p>
                      <a:pPr algn="l">
                        <a:defRPr sz="750">
                          <a:solidFill>
                            <a:srgbClr val="4A5568"/>
                          </a:solidFill>
                          <a:latin typeface="Microsoft JhengHei"/>
                        </a:defRPr>
                      </a:pPr>
                      <a:r>
                        <a:t>SWE-agent 論文、AgentBench、Reflection RL 實驗室對照消融實驗 (Ablation Study)</a:t>
                      </a:r>
                    </a:p>
                  </a:txBody>
                  <a:tcPr anchor="ctr">
                    <a:solidFill>
                      <a:srgbClr val="F7F4ED"/>
                    </a:solidFill>
                  </a:tcPr>
                </a:tc>
                <a:tc>
                  <a:txBody>
                    <a:bodyPr/>
                    <a:lstStyle/>
                    <a:p>
                      <a:pPr algn="ctr">
                        <a:defRPr sz="750">
                          <a:solidFill>
                            <a:srgbClr val="4A5568"/>
                          </a:solidFill>
                          <a:latin typeface="Microsoft JhengHei"/>
                        </a:defRPr>
                      </a:pPr>
                      <a:r>
                        <a:t>500+ 多步 Agent 任務實測，統計格式崩潰率與修復成功率</a:t>
                      </a:r>
                    </a:p>
                  </a:txBody>
                  <a:tcPr anchor="ctr">
                    <a:solidFill>
                      <a:srgbClr val="F7F4ED"/>
                    </a:solidFill>
                  </a:tcPr>
                </a:tc>
              </a:tr>
              <a:tr h="415636">
                <a:tc>
                  <a:txBody>
                    <a:bodyPr/>
                    <a:lstStyle/>
                    <a:p>
                      <a:pPr algn="l">
                        <a:defRPr sz="750" b="1">
                          <a:solidFill>
                            <a:srgbClr val="232D38"/>
                          </a:solidFill>
                          <a:latin typeface="Microsoft JhengHei"/>
                        </a:defRPr>
                      </a:pPr>
                      <a:r>
                        <a:t>表 3-1 &amp; 圖 3-1</a:t>
                      </a:r>
                    </a:p>
                  </a:txBody>
                  <a:tcPr anchor="ctr">
                    <a:solidFill>
                      <a:srgbClr val="FDFCFA"/>
                    </a:solidFill>
                  </a:tcPr>
                </a:tc>
                <a:tc>
                  <a:txBody>
                    <a:bodyPr/>
                    <a:lstStyle/>
                    <a:p>
                      <a:pPr algn="l">
                        <a:defRPr sz="750">
                          <a:solidFill>
                            <a:srgbClr val="4A5568"/>
                          </a:solidFill>
                          <a:latin typeface="Microsoft JhengHei"/>
                        </a:defRPr>
                      </a:pPr>
                      <a:r>
                        <a:t>16 項 Harness 核心元素覆蓋度量化</a:t>
                      </a:r>
                    </a:p>
                  </a:txBody>
                  <a:tcPr anchor="ctr">
                    <a:solidFill>
                      <a:srgbClr val="FDFCFA"/>
                    </a:solidFill>
                  </a:tcPr>
                </a:tc>
                <a:tc>
                  <a:txBody>
                    <a:bodyPr/>
                    <a:lstStyle/>
                    <a:p>
                      <a:pPr algn="l">
                        <a:defRPr sz="750" b="1">
                          <a:solidFill>
                            <a:srgbClr val="3B6E58"/>
                          </a:solidFill>
                          <a:latin typeface="Microsoft JhengHei"/>
                        </a:defRPr>
                      </a:pPr>
                      <a:r>
                        <a:t>ISO/IEC 42001 標準草案、OWASP Agentic Top 10、各框架開源代碼審查</a:t>
                      </a:r>
                    </a:p>
                  </a:txBody>
                  <a:tcPr anchor="ctr">
                    <a:solidFill>
                      <a:srgbClr val="FDFCFA"/>
                    </a:solidFill>
                  </a:tcPr>
                </a:tc>
                <a:tc>
                  <a:txBody>
                    <a:bodyPr/>
                    <a:lstStyle/>
                    <a:p>
                      <a:pPr algn="ctr">
                        <a:defRPr sz="750">
                          <a:solidFill>
                            <a:srgbClr val="4A5568"/>
                          </a:solidFill>
                          <a:latin typeface="Microsoft JhengHei"/>
                        </a:defRPr>
                      </a:pPr>
                      <a:r>
                        <a:t>16 項架構指標（記憶/沙盒/MCP/Hooks/HITL等）二分與滿意評級</a:t>
                      </a:r>
                    </a:p>
                  </a:txBody>
                  <a:tcPr anchor="ctr">
                    <a:solidFill>
                      <a:srgbClr val="FDFCFA"/>
                    </a:solidFill>
                  </a:tcPr>
                </a:tc>
              </a:tr>
              <a:tr h="415636">
                <a:tc>
                  <a:txBody>
                    <a:bodyPr/>
                    <a:lstStyle/>
                    <a:p>
                      <a:pPr algn="l">
                        <a:defRPr sz="750" b="1">
                          <a:solidFill>
                            <a:srgbClr val="232D38"/>
                          </a:solidFill>
                          <a:latin typeface="Microsoft JhengHei"/>
                        </a:defRPr>
                      </a:pPr>
                      <a:r>
                        <a:t>表 4-1 &amp; 圖 4-1</a:t>
                      </a:r>
                    </a:p>
                  </a:txBody>
                  <a:tcPr anchor="ctr">
                    <a:solidFill>
                      <a:srgbClr val="F7F4ED"/>
                    </a:solidFill>
                  </a:tcPr>
                </a:tc>
                <a:tc>
                  <a:txBody>
                    <a:bodyPr/>
                    <a:lstStyle/>
                    <a:p>
                      <a:pPr algn="l">
                        <a:defRPr sz="750">
                          <a:solidFill>
                            <a:srgbClr val="4A5568"/>
                          </a:solidFill>
                          <a:latin typeface="Microsoft JhengHei"/>
                        </a:defRPr>
                      </a:pPr>
                      <a:r>
                        <a:t>國防機敏三層實體隔離與兩大建置方案</a:t>
                      </a:r>
                    </a:p>
                  </a:txBody>
                  <a:tcPr anchor="ctr">
                    <a:solidFill>
                      <a:srgbClr val="F7F4ED"/>
                    </a:solidFill>
                  </a:tcPr>
                </a:tc>
                <a:tc>
                  <a:txBody>
                    <a:bodyPr/>
                    <a:lstStyle/>
                    <a:p>
                      <a:pPr algn="l">
                        <a:defRPr sz="750">
                          <a:solidFill>
                            <a:srgbClr val="4A5568"/>
                          </a:solidFill>
                          <a:latin typeface="Microsoft JhengHei"/>
                        </a:defRPr>
                      </a:pPr>
                      <a:r>
                        <a:t>美國國防部 DISA STIG 加固標準、NIST SP 800-53 Rev 5、CMMC 2.0 合規手冊</a:t>
                      </a:r>
                    </a:p>
                  </a:txBody>
                  <a:tcPr anchor="ctr">
                    <a:solidFill>
                      <a:srgbClr val="F7F4ED"/>
                    </a:solidFill>
                  </a:tcPr>
                </a:tc>
                <a:tc>
                  <a:txBody>
                    <a:bodyPr/>
                    <a:lstStyle/>
                    <a:p>
                      <a:pPr algn="ctr">
                        <a:defRPr sz="750">
                          <a:solidFill>
                            <a:srgbClr val="4A5568"/>
                          </a:solidFill>
                          <a:latin typeface="Microsoft JhengHei"/>
                        </a:defRPr>
                      </a:pPr>
                      <a:r>
                        <a:t>涉密高吞吐叢集 (方案 A) vs 離線工作站 (方案 B) 實體隔離驗證</a:t>
                      </a:r>
                    </a:p>
                  </a:txBody>
                  <a:tcPr anchor="ctr">
                    <a:solidFill>
                      <a:srgbClr val="F7F4ED"/>
                    </a:solidFill>
                  </a:tcPr>
                </a:tc>
              </a:tr>
              <a:tr h="415636">
                <a:tc>
                  <a:txBody>
                    <a:bodyPr/>
                    <a:lstStyle/>
                    <a:p>
                      <a:pPr algn="l">
                        <a:defRPr sz="750" b="1">
                          <a:solidFill>
                            <a:srgbClr val="232D38"/>
                          </a:solidFill>
                          <a:latin typeface="Microsoft JhengHei"/>
                        </a:defRPr>
                      </a:pPr>
                      <a:r>
                        <a:t>圖 附-1 (P16)</a:t>
                      </a:r>
                    </a:p>
                  </a:txBody>
                  <a:tcPr anchor="ctr">
                    <a:solidFill>
                      <a:srgbClr val="FDFCFA"/>
                    </a:solidFill>
                  </a:tcPr>
                </a:tc>
                <a:tc>
                  <a:txBody>
                    <a:bodyPr/>
                    <a:lstStyle/>
                    <a:p>
                      <a:pPr algn="l">
                        <a:defRPr sz="750">
                          <a:solidFill>
                            <a:srgbClr val="4A5568"/>
                          </a:solidFill>
                          <a:latin typeface="Microsoft JhengHei"/>
                        </a:defRPr>
                      </a:pPr>
                      <a:r>
                        <a:t>SWE-bench Verified vs. Terminal-Bench 2.1</a:t>
                      </a:r>
                    </a:p>
                  </a:txBody>
                  <a:tcPr anchor="ctr">
                    <a:solidFill>
                      <a:srgbClr val="FDFCFA"/>
                    </a:solidFill>
                  </a:tcPr>
                </a:tc>
                <a:tc>
                  <a:txBody>
                    <a:bodyPr/>
                    <a:lstStyle/>
                    <a:p>
                      <a:pPr algn="l">
                        <a:defRPr sz="750">
                          <a:solidFill>
                            <a:srgbClr val="4A5568"/>
                          </a:solidFill>
                          <a:latin typeface="Microsoft JhengHei"/>
                        </a:defRPr>
                      </a:pPr>
                      <a:r>
                        <a:t>SWE-bench 官方基準 (Princeton/UChicago)、Terminal-Bench 2.1 (T-Bench Group)</a:t>
                      </a:r>
                    </a:p>
                  </a:txBody>
                  <a:tcPr anchor="ctr">
                    <a:solidFill>
                      <a:srgbClr val="FDFCFA"/>
                    </a:solidFill>
                  </a:tcPr>
                </a:tc>
                <a:tc>
                  <a:txBody>
                    <a:bodyPr/>
                    <a:lstStyle/>
                    <a:p>
                      <a:pPr algn="ctr">
                        <a:defRPr sz="750">
                          <a:solidFill>
                            <a:srgbClr val="4A5568"/>
                          </a:solidFill>
                          <a:latin typeface="Microsoft JhengHei"/>
                        </a:defRPr>
                      </a:pPr>
                      <a:r>
                        <a:t>精選 500 道真實 GitHub Issue 與 89 道動態沙盒 Linux 運維試題</a:t>
                      </a:r>
                    </a:p>
                  </a:txBody>
                  <a:tcPr anchor="ctr">
                    <a:solidFill>
                      <a:srgbClr val="FDFCFA"/>
                    </a:solidFill>
                  </a:tcPr>
                </a:tc>
              </a:tr>
              <a:tr h="415640">
                <a:tc>
                  <a:txBody>
                    <a:bodyPr/>
                    <a:lstStyle/>
                    <a:p>
                      <a:pPr algn="l">
                        <a:defRPr sz="750" b="1">
                          <a:solidFill>
                            <a:srgbClr val="232D38"/>
                          </a:solidFill>
                          <a:latin typeface="Microsoft JhengHei"/>
                        </a:defRPr>
                      </a:pPr>
                      <a:r>
                        <a:t>文獻專題 (P17-23)</a:t>
                      </a:r>
                    </a:p>
                  </a:txBody>
                  <a:tcPr anchor="ctr">
                    <a:solidFill>
                      <a:srgbClr val="F7F4ED"/>
                    </a:solidFill>
                  </a:tcPr>
                </a:tc>
                <a:tc>
                  <a:txBody>
                    <a:bodyPr/>
                    <a:lstStyle/>
                    <a:p>
                      <a:pPr algn="l">
                        <a:defRPr sz="750">
                          <a:solidFill>
                            <a:srgbClr val="4A5568"/>
                          </a:solidFill>
                          <a:latin typeface="Microsoft JhengHei"/>
                        </a:defRPr>
                      </a:pPr>
                      <a:r>
                        <a:t>Anthropic / OpenAI / DeepMind 前沿論題</a:t>
                      </a:r>
                    </a:p>
                  </a:txBody>
                  <a:tcPr anchor="ctr">
                    <a:solidFill>
                      <a:srgbClr val="F7F4ED"/>
                    </a:solidFill>
                  </a:tcPr>
                </a:tc>
                <a:tc>
                  <a:txBody>
                    <a:bodyPr/>
                    <a:lstStyle/>
                    <a:p>
                      <a:pPr algn="l">
                        <a:defRPr sz="750">
                          <a:solidFill>
                            <a:srgbClr val="4A5568"/>
                          </a:solidFill>
                          <a:latin typeface="Microsoft JhengHei"/>
                        </a:defRPr>
                      </a:pPr>
                      <a:r>
                        <a:t>Anthropic Building Effective Agents、OpenAI AC/DC 架構演講、DeepMind ADK 白皮書</a:t>
                      </a:r>
                    </a:p>
                  </a:txBody>
                  <a:tcPr anchor="ctr">
                    <a:solidFill>
                      <a:srgbClr val="F7F4ED"/>
                    </a:solidFill>
                  </a:tcPr>
                </a:tc>
                <a:tc>
                  <a:txBody>
                    <a:bodyPr/>
                    <a:lstStyle/>
                    <a:p>
                      <a:pPr algn="ctr">
                        <a:defRPr sz="750">
                          <a:solidFill>
                            <a:srgbClr val="4A5568"/>
                          </a:solidFill>
                          <a:latin typeface="Microsoft JhengHei"/>
                        </a:defRPr>
                      </a:pPr>
                      <a:r>
                        <a:t>頂級實驗室長程代理工程白皮書與技術負責人公開研討綜整</a:t>
                      </a:r>
                    </a:p>
                  </a:txBody>
                  <a:tcPr anchor="ctr">
                    <a:solidFill>
                      <a:srgbClr val="F7F4ED"/>
                    </a:solidFill>
                  </a:tcPr>
                </a:tc>
              </a:tr>
            </a:tbl>
          </a:graphicData>
        </a:graphic>
      </p:graphicFrame>
      <p:sp>
        <p:nvSpPr>
          <p:cNvPr id="9" name="TextBox 8"/>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10" name="TextBox 9"/>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828800" y="1371600"/>
            <a:ext cx="8534095" cy="4114800"/>
          </a:xfrm>
          <a:prstGeom prst="roundRect">
            <a:avLst/>
          </a:prstGeom>
          <a:solidFill>
            <a:srgbClr val="FDFCFA"/>
          </a:solidFill>
          <a:ln w="12700">
            <a:solidFill>
              <a:srgbClr val="E3DCC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500"/>
              </a:spcBef>
            </a:pPr>
            <a:r>
              <a:rPr sz="3200" b="1">
                <a:solidFill>
                  <a:srgbClr val="232D38"/>
                </a:solidFill>
                <a:latin typeface="Microsoft JhengHei"/>
              </a:rPr>
              <a:t>簡報結束  ·  敬請指教</a:t>
            </a:r>
          </a:p>
          <a:p>
            <a:pPr algn="ctr">
              <a:spcBef>
                <a:spcPts val="1500"/>
              </a:spcBef>
            </a:pPr>
            <a:r>
              <a:rPr sz="1200" b="1">
                <a:solidFill>
                  <a:srgbClr val="9E5A38"/>
                </a:solidFill>
                <a:latin typeface="Microsoft JhengHei"/>
              </a:rPr>
              <a:t>Q &amp; A  /  DISCUSSION &amp; ARCHITECTURAL INQUIRY</a:t>
            </a:r>
          </a:p>
          <a:p>
            <a:pPr algn="ctr">
              <a:spcBef>
                <a:spcPts val="2500"/>
              </a:spcBef>
            </a:pPr>
            <a:r>
              <a:rPr sz="1050">
                <a:solidFill>
                  <a:srgbClr val="7C8695"/>
                </a:solidFill>
                <a:latin typeface="Microsoft JhengHei"/>
              </a:rPr>
              <a:t>本報告知識庫已同步歸檔於 Obsidian 及 HTML 自適應儀表板
支援離線檢索、圖表互動與完整文獻溯源</a:t>
            </a:r>
          </a:p>
        </p:txBody>
      </p:sp>
      <p:sp>
        <p:nvSpPr>
          <p:cNvPr id="5" name="Rectangle 4"/>
          <p:cNvSpPr/>
          <p:nvPr/>
        </p:nvSpPr>
        <p:spPr>
          <a:xfrm>
            <a:off x="5638190" y="1371600"/>
            <a:ext cx="914400" cy="36576"/>
          </a:xfrm>
          <a:prstGeom prst="rect">
            <a:avLst/>
          </a:prstGeom>
          <a:solidFill>
            <a:srgbClr val="3B6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28816"/>
            <a:ext cx="8229600" cy="228600"/>
          </a:xfrm>
          <a:prstGeom prst="rect">
            <a:avLst/>
          </a:prstGeom>
          <a:noFill/>
        </p:spPr>
        <p:txBody>
          <a:bodyPr wrap="none" lIns="0" tIns="0" rIns="0" bIns="0">
            <a:spAutoFit/>
          </a:bodyPr>
          <a:lstStyle/>
          <a:p>
            <a:r>
              <a:rPr sz="800">
                <a:solidFill>
                  <a:srgbClr val="7C8695"/>
                </a:solidFill>
                <a:latin typeface="Microsoft JhengHei"/>
              </a:rPr>
              <a:t>AI AGENT HARNESS ENGINEERING  ·  ARCHITECTURAL SPECIFICATION &amp; BENCHMARK</a:t>
            </a:r>
          </a:p>
        </p:txBody>
      </p:sp>
      <p:sp>
        <p:nvSpPr>
          <p:cNvPr id="7" name="TextBox 6"/>
          <p:cNvSpPr txBox="1"/>
          <p:nvPr/>
        </p:nvSpPr>
        <p:spPr>
          <a:xfrm>
            <a:off x="10058400" y="6528816"/>
            <a:ext cx="1401775" cy="228600"/>
          </a:xfrm>
          <a:prstGeom prst="rect">
            <a:avLst/>
          </a:prstGeom>
          <a:noFill/>
        </p:spPr>
        <p:txBody>
          <a:bodyPr wrap="none" lIns="0" tIns="0" rIns="0" bIns="0">
            <a:spAutoFit/>
          </a:bodyPr>
          <a:lstStyle/>
          <a:p>
            <a:pPr algn="r"/>
            <a:r>
              <a:rPr sz="850" b="1">
                <a:solidFill>
                  <a:srgbClr val="3B6E58"/>
                </a:solidFill>
                <a:latin typeface="Microsoft JhengHei"/>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