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54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3B6E58"/>
                </a:solidFill>
                <a:latin typeface="Microsoft JhengHei"/>
              </a:rPr>
              <a:t>策略評估報告  2026.10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800" b="1">
                <a:solidFill>
                  <a:srgbClr val="232D38"/>
                </a:solidFill>
                <a:latin typeface="Microsoft JhengHei"/>
              </a:rPr>
              <a:t>實體隔離與地端開源環境下，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800" b="1">
                <a:solidFill>
                  <a:srgbClr val="9E5A38"/>
                </a:solidFill>
                <a:latin typeface="Microsoft JhengHei"/>
              </a:rPr>
              <a:t>專業領域 AI 該押注在哪裡？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69080"/>
            <a:ext cx="1097280" cy="45720"/>
          </a:xfrm>
          <a:prstGeom prst="rect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515600" cy="5825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dirty="0" err="1">
                <a:solidFill>
                  <a:srgbClr val="4A5568"/>
                </a:solidFill>
                <a:latin typeface="Microsoft JhengHei"/>
              </a:rPr>
              <a:t>評估四種路線：從頭自訓、領域</a:t>
            </a:r>
            <a:r>
              <a:rPr sz="1400" b="0" dirty="0">
                <a:solidFill>
                  <a:srgbClr val="4A5568"/>
                </a:solidFill>
                <a:latin typeface="Microsoft JhengHei"/>
              </a:rPr>
              <a:t> RAG、AI Agent </a:t>
            </a:r>
            <a:r>
              <a:rPr sz="1400" b="0" dirty="0" err="1">
                <a:solidFill>
                  <a:srgbClr val="4A5568"/>
                </a:solidFill>
                <a:latin typeface="Microsoft JhengHei"/>
              </a:rPr>
              <a:t>外殼、模型蒸餾</a:t>
            </a:r>
            <a:endParaRPr lang="en-US" sz="1400" b="0" dirty="0">
              <a:solidFill>
                <a:srgbClr val="4A5568"/>
              </a:solidFill>
              <a:latin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sz="1400" b="0" dirty="0">
              <a:solidFill>
                <a:srgbClr val="4A5568"/>
              </a:solidFill>
              <a:latin typeface="Microsoft JhengHei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0537CA86-B334-B6B5-8EB3-D7D5985B1CF7}"/>
              </a:ext>
            </a:extLst>
          </p:cNvPr>
          <p:cNvSpPr txBox="1"/>
          <p:nvPr/>
        </p:nvSpPr>
        <p:spPr>
          <a:xfrm>
            <a:off x="731520" y="4297680"/>
            <a:ext cx="10515600" cy="5839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dirty="0" err="1">
                <a:solidFill>
                  <a:srgbClr val="4A55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評估四種路線：從頭自訓、領域</a:t>
            </a:r>
            <a:r>
              <a:rPr sz="1400" b="0" dirty="0">
                <a:solidFill>
                  <a:srgbClr val="4A55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RAG、AI Agent </a:t>
            </a:r>
            <a:r>
              <a:rPr sz="1400" b="0" dirty="0" err="1">
                <a:solidFill>
                  <a:srgbClr val="4A55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外殼、模型蒸餾</a:t>
            </a:r>
            <a:endParaRPr sz="1400" b="0" dirty="0">
              <a:solidFill>
                <a:srgbClr val="4A55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lang="zh-TW" altLang="en-US" sz="1400" dirty="0">
                <a:solidFill>
                  <a:srgbClr val="4A55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打造高精準、安全無虞的自主生態：</a:t>
            </a:r>
            <a:r>
              <a:rPr lang="zh-TW" altLang="zh-TW" sz="14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實體隔離、地端開源模型、成熟 Harness 鷹架、MCP 系統介接與 Hooks 安全護欄</a:t>
            </a:r>
            <a:endParaRPr sz="1400" b="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執行摘要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結論：以 Agent 為主軸，RAG 當工具，蒸餾等規模，從頭自訓絕非首選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實體隔離環境下，四種方法不是四選一，而是有先後順序的堆疊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0120" y="1938528"/>
            <a:ext cx="384048" cy="384048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6596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AI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542032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主軸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2084831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以確定性外殼封裝地端模型，直接驅動系統並沈澱領域資產。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34840"/>
            <a:ext cx="20848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63440"/>
            <a:ext cx="2084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B6E58"/>
                </a:solidFill>
                <a:latin typeface="Microsoft JhengHei"/>
              </a:rPr>
              <a:t>第一天就做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60089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688689" y="1938528"/>
            <a:ext cx="384048" cy="384048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1609" y="196596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領域 RAG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88689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88689" y="2542032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地基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88689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88689" y="3200400"/>
            <a:ext cx="2084831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負責「查得到」，不負責「做得到」；做成 Agent 的動態查詢工具。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8689" y="4434840"/>
            <a:ext cx="20848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8689" y="4663440"/>
            <a:ext cx="2084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B6E58"/>
                </a:solidFill>
                <a:latin typeface="Microsoft JhengHei"/>
              </a:rPr>
              <a:t>知識量大、需權限或出處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8659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17259" y="1938528"/>
            <a:ext cx="384048" cy="384048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0179" y="196596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模型蒸餾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17259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7259" y="2542032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後期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17259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17259" y="3200400"/>
            <a:ext cx="2084831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用累積的成功紀錄換取更低顯存與極致吞吐，不換能力架構。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7259" y="4434840"/>
            <a:ext cx="20848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7259" y="4663440"/>
            <a:ext cx="2084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9E5A38"/>
                </a:solidFill>
                <a:latin typeface="Microsoft JhengHei"/>
              </a:rPr>
              <a:t>量大、單卡受限、任務已收斂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7228" y="1737360"/>
            <a:ext cx="2542032" cy="34290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145828" y="1938528"/>
            <a:ext cx="384048" cy="384048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8748" y="1965960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從頭訓練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5828" y="254203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5828" y="2542032"/>
            <a:ext cx="868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特例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5828" y="3063240"/>
            <a:ext cx="2084831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5828" y="3200400"/>
            <a:ext cx="2084831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耗資數千萬且易被開源追平；RFT 與特定格式微調僅在特殊條件生效。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5828" y="4434840"/>
            <a:ext cx="208483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C8695"/>
                </a:solidFill>
                <a:latin typeface="Microsoft JhengHei"/>
              </a:rPr>
              <a:t>何時用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5828" y="4663440"/>
            <a:ext cx="2084831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9E5A38"/>
                </a:solidFill>
                <a:latin typeface="Microsoft JhengHei"/>
              </a:rPr>
              <a:t>非文字資料、具確定驗證器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394960"/>
            <a:ext cx="10728655" cy="9144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5840" y="555040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Host the open weights. Own the context &amp; harness.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94360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模型權重隨開源浪潮升級（如 Gemma 31B）；組織該牢牢擁有的是 Skills、工具、評估集與 Hooks 護欄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02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核心戰略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實體隔離實戰：只有 Gemma 31B，如何讓國防 AI Agent 安全落地？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一針見血：不搞高風險自訓，以「31B 開源權重 + 成熟 Harness + 零信任護欄」建構內網自主生態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347472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783080"/>
          <a:ext cx="10545773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3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53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實戰突圍維度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實體隔離環境的具體工程實作做法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一針見血的國防研發價值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1. 算力基座：Gemma 31B (合規核心)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單張 A100 / RTX 4090 (Q4 量化) 即可全地端推論；Apache 2.0 協議、原生多模態與高精度指令遵循。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擺脫外部雲端依賴，資料 100% 留在內網，杜絕外洩風險。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2. 外殼借力：成熟 Harness (免重複造輪)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長程排程採 DeepAgents (檔案記憶)；代碼工程採 OpenCode (規範約束)；經驗沉澱採 Hermes (提煉 Skills)。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直接繼承全球頂尖 Agent 狀態機與記憶機制，省下數年探索時間。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3. 領域資產：SOP 代碼化 (取代盲目微調)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專家做事手冊化為可執行的 Skills 檔；建置混合 RAG (向量+BM25)；現有系統以 MCP 標準微服務封裝。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微調會遺忘事實；將經驗固化為上下文與 MCP 工具，資產永遠屬於自己。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4. 國防安全：Hooks 零信任護欄 (確保零失誤)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Pre-Tool 參數靜態審查、代碼沙箱隔離、高敏感動作強制 Human-in-the-loop 人工核准、50 題黃金評估集日常回歸。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用確定性代碼牢牢約束 31B 模型隨機性，達到國防級極致精準與安全。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Scaffolding + Rigorous Hooks = Mission-Critical Reliability.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國防 AI 落地核心：智力靠合規開源 31B、流程靠成熟 Harness、安全靠 Hooks 護欄、演進靠私有評估集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背景前提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自己訓練的模型，上線那天就開始貶值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前沿模型每季進步；自訓模型的能力在訓練完成時就凍結了（示意圖）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urv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6675120" cy="432048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35240" y="1737360"/>
            <a:ext cx="3824935" cy="14173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836408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1920240"/>
            <a:ext cx="3001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能力是租來的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359152"/>
            <a:ext cx="336773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2487168"/>
            <a:ext cx="33677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前沿模型的進步不用你付研發費，換模型就升級。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291840"/>
            <a:ext cx="3824935" cy="14173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836408" y="34747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474720"/>
            <a:ext cx="3001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權重會貶值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3913632"/>
            <a:ext cx="336773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4041648"/>
            <a:ext cx="33677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自訓模型訓練完就凍結，下一代前沿模型很快超越它。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4846320"/>
            <a:ext cx="3824935" cy="14173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836408" y="502920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5029200"/>
            <a:ext cx="30019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情境會增值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5468112"/>
            <a:ext cx="336773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0" y="5596128"/>
            <a:ext cx="33677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工具、知識、流程、評估集越用越完整，且可跨模型沿用。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06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核心框架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先診斷缺口，再選方法：多數失敗來自用錯解法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模型在專業領域「做不好」，背後是五種不同的缺口，各有對應解法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3364991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828800"/>
          <a:ext cx="10545773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7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5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7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49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缺口類型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典型症狀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根本原因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對應解法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知識缺口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答錯內部規格、引用舊版文件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沒看過私有、最新資料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上下文 / RAG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流程缺口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答案對，但做法不像專家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不懂組織 SOP 與經驗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Skills + 長期記憶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行動缺口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只能給建議，無法完成任務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接觸不到現有系統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工具 + Agent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可靠度缺口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時對時錯，無法放心交付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缺乏驗證與回饋訊號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評估集 + RFT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經濟性缺口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太貴、太慢、資料不能外流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前沿模型的成本結構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蒸餾 + 路由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76671"/>
            <a:ext cx="10728655" cy="9144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3211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Diagnose before you prescribe.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925311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從頭訓練模型，幾乎解決不了上面任何一種缺口——這是它被淘汰的真正原因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344168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3441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解法深度分析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五大缺口與對應解法：為什麼傳統自訓或單純 RAG 無法根治？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每個解法都是針對根本瓶頸的精確工程封裝，而非盲目堆疊模型參數量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上下文 / RAG (解知識缺口)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傳統自訓模型存在「知識截止日」且微調難以牢記新事實（微調往往只學會說話風格而非記憶知識）。透過 RAG 在執行當下精準注入具出處與授權的最新內部文件，才能徹底杜絕幻覺與過期資訊。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Skills + 長期記憶 (解流程缺口)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就算 LLM 能寫出漂亮文字，若缺乏組織 SOP、老手經驗與過往除錯案例，依然做不出專家級成果。藉由將排錯流程固化為標準 Skills，搭配長期記憶的三階段寫入關卡，確保專業經驗能被精準傳承。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0332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88620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8620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工具 + Agent 迴圈 (解行動缺口)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32511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45312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「只給建議卻無法操作系統」是多數 AI 專案無法落地的元兇。Agent 透過 Tool Use 連接 ERP/MES、檔案庫與模擬器，並藉由 ReAct/思維鏈自主觀測執行結果、修復錯誤，將諮詢轉化為端到端執行力。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70332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88620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88620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評估集 + 蒸餾路由 (解可靠度與經濟性)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32511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45312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缺乏指標就無法迭代；而前沿模型昂貴延遲高，無法承載高頻重複請求。透過評估集進行嚴格 Trace 驗收，並將成熟穩定的高頻任務蒸餾至小型專用模型，達成高可靠度與極致性價比。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23560"/>
            <a:ext cx="10728655" cy="6858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Do not use a sledgehammer to crack a nut.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17220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知識靠 RAG、流程靠 Skills、行動靠工具、品質靠評估集——分層治理才能將每分預算發揮最大價值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投資原則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判斷投資好壞的標準：下一代模型上線時，它還值錢嗎？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把預算放在「換模型後仍然有效」的資產上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029200" cy="45262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9E5A38"/>
                </a:solidFill>
                <a:latin typeface="Microsoft JhengHei"/>
              </a:rPr>
              <a:t>會貶值的投資</a:t>
            </a:r>
            <a:r>
              <a:rPr sz="950" b="1">
                <a:solidFill>
                  <a:srgbClr val="7C8695"/>
                </a:solidFill>
                <a:latin typeface="Microsoft JhengHei"/>
              </a:rPr>
              <a:t>   DEPRECIATING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423160"/>
            <a:ext cx="448056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269748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72491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自訓、微調的模型權重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5661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593591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針對特定模型調校的 prompt 技巧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43484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46227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為彌補模型弱點寫的繞道程式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5303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3095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綁死單一供應商的整合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30975" y="1737360"/>
            <a:ext cx="5029200" cy="45262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05295" y="19202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3B6E58"/>
                </a:solidFill>
                <a:latin typeface="Microsoft JhengHei"/>
              </a:rPr>
              <a:t>會增值的投資</a:t>
            </a:r>
            <a:r>
              <a:rPr sz="950" b="1">
                <a:solidFill>
                  <a:srgbClr val="7C8695"/>
                </a:solidFill>
                <a:latin typeface="Microsoft JhengHei"/>
              </a:rPr>
              <a:t>   APPRECIATING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05295" y="2423160"/>
            <a:ext cx="448056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705295" y="269748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8215" y="272491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評估集：定義什麼叫「做對」</a:t>
            </a:r>
          </a:p>
        </p:txBody>
      </p:sp>
      <p:sp>
        <p:nvSpPr>
          <p:cNvPr id="25" name="Oval 24"/>
          <p:cNvSpPr/>
          <p:nvPr/>
        </p:nvSpPr>
        <p:spPr>
          <a:xfrm>
            <a:off x="6705295" y="35661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8215" y="3593591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工具與 API：系統的可操作介面</a:t>
            </a:r>
          </a:p>
        </p:txBody>
      </p:sp>
      <p:sp>
        <p:nvSpPr>
          <p:cNvPr id="27" name="Oval 26"/>
          <p:cNvSpPr/>
          <p:nvPr/>
        </p:nvSpPr>
        <p:spPr>
          <a:xfrm>
            <a:off x="6705295" y="44348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8215" y="446227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Skills 與記憶：專家流程與經驗</a:t>
            </a:r>
          </a:p>
        </p:txBody>
      </p:sp>
      <p:sp>
        <p:nvSpPr>
          <p:cNvPr id="29" name="Oval 28"/>
          <p:cNvSpPr/>
          <p:nvPr/>
        </p:nvSpPr>
        <p:spPr>
          <a:xfrm>
            <a:off x="6705295" y="5303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8215" y="533095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32D38"/>
                </a:solidFill>
                <a:latin typeface="Microsoft JhengHei"/>
              </a:rPr>
              <a:t>執行紀錄：RFT 與蒸餾的原料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88152" y="3611880"/>
            <a:ext cx="621792" cy="621792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88152" y="3611880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297680"/>
            <a:ext cx="6675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7C8695"/>
                </a:solidFill>
                <a:latin typeface="Microsoft JhengHei"/>
              </a:rPr>
              <a:t>換代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09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方法 1｜訓練沒有死，死的是「從頭預訓練」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訓練有五個層次，價值差異極大；在前沿模型時代，只有後兩層普遍划算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847088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從頭預訓練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84708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數千億 token、極高成本，效果仍追不上前沿模型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956815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956815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放棄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42615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752344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繼續預訓練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752344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僅當領域語言極特殊（大量專有術語、代碼）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86207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2862072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少用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47872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657600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SFT / LoRA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65760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固定格式、固定風格、窄範圍任務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3767328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37960" y="3767328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可用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53127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562855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RFT 強化微調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562855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答案可自動驗證時，數百題就能顯著提升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4672583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672583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推薦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58383"/>
            <a:ext cx="6766560" cy="786384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5468112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專用模型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546811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訊號、影像、分子、時序等非文字資料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557784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5577840"/>
            <a:ext cx="77724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推薦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79" y="1737360"/>
            <a:ext cx="3733495" cy="440740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55279" y="1920240"/>
            <a:ext cx="3322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為什麼 RFT 特別值得做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KEY INSIGHT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2359152"/>
            <a:ext cx="327629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55279" y="2487168"/>
            <a:ext cx="3276295" cy="3538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不需要標準答案，只需要評分器。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計算結果、程式測試、規則檢查、模擬器輸出，都能自動判斷對錯。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用的是你本來就該建的評估集。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評估集同時是回歸測試、獎勵訊號與蒸餾篩選器。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前提：</a:t>
            </a:r>
            <a:r>
              <a:rPr sz="1250" b="0">
                <a:solidFill>
                  <a:srgbClr val="4A5568"/>
                </a:solidFill>
                <a:latin typeface="Microsoft JhengHei"/>
              </a:rPr>
              <a:t>答案必須可驗證；開放式判斷題效果有限。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方法 2｜RAG 是 Agent 的一個工具，不是整個架構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RAG 解決「查得到」；長上下文出現後，小型知識庫甚至不需要 RAG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先問：知識需要怎麼進到模型裡？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5669280" cy="89611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236829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36829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知識量小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23113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7C8695"/>
                </a:solidFill>
                <a:latin typeface="Microsoft JhengHei"/>
              </a:rPr>
              <a:t>數百頁以內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5146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直接放進上下文 + prompt caching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27248"/>
            <a:ext cx="5669280" cy="89611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339242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39242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知識量大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25526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7C8695"/>
                </a:solidFill>
                <a:latin typeface="Microsoft JhengHei"/>
              </a:rPr>
              <a:t>超過上下文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53872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混合檢索：BM25 + 向量 + reranker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51376"/>
            <a:ext cx="5669280" cy="89611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4400" y="44165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4165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需權限或出處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27939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7C8695"/>
                </a:solidFill>
                <a:latin typeface="Microsoft JhengHei"/>
              </a:rPr>
              <a:t>稽核、合規場景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562856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檢索階段就做權限過濾，回答附出處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16916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RAG 做不好，通常不是模型的錯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2103120"/>
            <a:ext cx="4830775" cy="320040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720840" y="2194560"/>
          <a:ext cx="464789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9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常見失敗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修正方式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切分破壞結構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依章節切分，保留表格與條文編號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料號查不到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向量檢索加上關鍵字檢索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只查一次就回答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讓 Agent 決定要不要再查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結構化資料硬塞向量庫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BOM、測試數據改用 SQL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731520" y="5440680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59612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Retrieval finds facts. Agents get work done.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98932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需要多步推理與實際操作時，RAG 必須交給 Agent 調度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方法 3｜開源模型是動態替換的，Agent 外殼才是組織真正的護城河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Agent = 地端開源模型（如 Gemma 31B）+ 組織擁有的五層外殼（Harness）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777240"/>
          </a:xfrm>
          <a:prstGeom prst="roundRect">
            <a:avLst>
              <a:gd name="adj" fmla="val 6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7315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地端開源模型</a:t>
            </a:r>
            <a:r>
              <a:rPr sz="1200" b="0">
                <a:solidFill>
                  <a:srgbClr val="E8E2D5"/>
                </a:solidFill>
                <a:latin typeface="Microsoft JhengHei"/>
              </a:rPr>
              <a:t>   隨全球開源演進隨時替換，零雲端綁定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2880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工具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把 ERP、MES、資料庫、模擬器包成可呼叫的介面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090672" y="28803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1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知識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90672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90672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上下文與 RAG，附出處與權限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84064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266944" y="2880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78424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Skills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66944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66944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專家做事的方法，寫成可重用流程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0336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43215" y="28803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54696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記憶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43215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43215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案例、踩過的坑、專家修正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36608" y="2697480"/>
            <a:ext cx="2020824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619488" y="28803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30968" y="2898648"/>
            <a:ext cx="13350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評估與護欄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19488" y="3364992"/>
            <a:ext cx="1655064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19488" y="3493008"/>
            <a:ext cx="165506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評估集、權限、人工核准、稽核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983480"/>
            <a:ext cx="10728655" cy="1325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05840" y="5074920"/>
            <a:ext cx="102412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核心分野：Workflow（確定性編排）與 Agent（自主決策迴圈）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" y="5468112"/>
            <a:ext cx="3931920" cy="41148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" y="5468112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固定 Workflow：代碼定義路徑，LLM 僅做單步處理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5650992"/>
            <a:ext cx="2011680" cy="73152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132320" y="5468112"/>
            <a:ext cx="4023360" cy="411480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32320" y="5468112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自主 Agent：LLM 掌握控制流，動態決定下一步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925312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生產實踐：以 Workflow 固化 80% 核心業務流程，僅在多分支模糊節點交由 Agent 自主推理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記憶設計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長期記憶要有寫入關卡，否則錯誤會自我複製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Agent 會把自己的結論當成經驗；沒有驗證，一次錯誤會影響之後每一次任務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執行任務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33472" y="2148840"/>
            <a:ext cx="265176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48939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40379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產生候選記憶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50891" y="2148840"/>
            <a:ext cx="265176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66359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7799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專家或評估集驗證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68312" y="2148840"/>
            <a:ext cx="265176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83779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5219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寫入正式記憶
附來源與版本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285732" y="2148840"/>
            <a:ext cx="265176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01200" y="1783080"/>
            <a:ext cx="1856231" cy="960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1783080"/>
            <a:ext cx="1673351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定期整理
過期與矛盾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2816352"/>
            <a:ext cx="185623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9E5A38"/>
                </a:solidFill>
                <a:latin typeface="Microsoft JhengHei"/>
              </a:rPr>
              <a:t>關卡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246120"/>
            <a:ext cx="10728655" cy="292608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3337560"/>
          <a:ext cx="1054577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5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5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25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記憶類型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內容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存放方式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投資效益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程序記憶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SOP、做事方法、踩過的坑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Skills 文件，版本控管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最高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情節記憶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過去案例與處理經過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案例庫，相似度檢索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語意記憶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事實、規則、領域知識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知識庫 / RAG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偏好記憶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使用者與組織的習慣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設定檔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344168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3441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記憶進階架構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第二大腦級記憶：Context Engineering、Git 版本管控與雙向鏈結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在有限的 Context 預算內，以純文字、雙向鏈結與 Git 打造人機共筆的永續資產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572768"/>
            <a:ext cx="3429000" cy="217627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755648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55648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1. Context Engineering 動態喚醒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194560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322576"/>
            <a:ext cx="2971800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記憶不是開機全載入。平時 System Prompt 保持極簡（避免 Context Rot）；任務進行時按需檢索，只將『當前步驟相關之 3 則關鍵案例與避坑指南』注入 Context，步驟結束即壓縮釋放。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572768"/>
            <a:ext cx="3429000" cy="217627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82972" y="1755648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755648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2. Git-Backed 記憶版本管控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194560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0404" y="2322576"/>
            <a:ext cx="2971800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全庫採用純文字 Markdown 存放於內網私有 Git。每次經驗沉澱等於一次 commit，附帶 Trace ID；候選記憶發起 PR 由專家審核 Diff 後合併，若輸出偏差可隨時 git revert 行級回滾。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572768"/>
            <a:ext cx="3429000" cy="217627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33257" y="1755648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755648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3. Obsidian 雙向鏈結思維圖譜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194560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0689" y="2322576"/>
            <a:ext cx="2971800" cy="1307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利用 [[Wikilinks]] 將專案決策、呼叫工具、失敗教訓與專家批註彼此鏈結；Agent 具備『聯想跳轉能力』，人類研發團隊亦可直接打開 Obsidian Graph View 視覺化監控知識網絡。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886200"/>
            <a:ext cx="10728655" cy="1719072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3977639"/>
          <a:ext cx="10545773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6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6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6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目錄結構 (Git Repo)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核心用途 (Obsidian Vault)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Context Engineering 注入策略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專家治理與防禦機制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/skills/ (Procedural)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標準排錯 SOP、代碼工程規範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依任務意圖動態載入對應 Skill 檔案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版本嚴格標記，變更需經 PR 驗收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/episodes/ (Episodic)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重大專案推理思維與決策過程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檢索最相似之成功 Trace 摘要注入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帶 Trace ID 與評估分數，過期歸檔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/anti_patterns/ (Negative)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踩過的坑、嚴禁使用之參數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Pre-Tool 階段比對，觸發紅線強制中斷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專家直接在 Obsidian 人工補充批註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731520" y="5669280"/>
            <a:ext cx="10728655" cy="54864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582472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Text-based, Git-tracked, Graph-linked.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621792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拒絕不可讀的向量黑盒：以純文字與雙向鏈結為底座，讓 Agent 的思維記憶成為組織永續傳承的第二大腦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方法 4｜蒸餾是成本決策，不是能力決策：先算損益平衡點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蒸餾換來的是單次成本與延遲；能處理新狀況的能力反而下降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7C8695"/>
                </a:solidFill>
                <a:latin typeface="Microsoft JhengHei"/>
              </a:rPr>
              <a:t>損益平衡任務量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232D38"/>
                </a:solidFill>
                <a:latin typeface="Microsoft JhengHei"/>
              </a:rPr>
              <a:t>蒸餾總成本 ÷ 每次任務省下的成本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926080"/>
            <a:ext cx="493776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063240"/>
            <a:ext cx="4937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蒸餾總成本 = 資料整理 + 訓練 + 評估 + 每代模型重新蒸餾。超過損益平衡量才值得做。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5486400" cy="22402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232D38"/>
                </a:solidFill>
                <a:latin typeface="Microsoft JhengHei"/>
              </a:rPr>
              <a:t>部署方式：混合路由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6634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66344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新任務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468880" y="4773168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834640" y="466344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34640" y="466344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icrosoft JhengHei"/>
              </a:rPr>
              <a:t>蒸餾小模型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389120" y="4773168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754880" y="466344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466344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Microsoft JhengHei"/>
              </a:rPr>
              <a:t>高信心回傳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25780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9E5A38"/>
                </a:solidFill>
                <a:latin typeface="Microsoft JhengHei"/>
              </a:rPr>
              <a:t>信心不足或遇到新狀況 → 交給前沿模型 Agent，結果再回流成訓練資料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1737360"/>
            <a:ext cx="5013655" cy="210312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1920240"/>
            <a:ext cx="46021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三個訊號同時出現才蒸餾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WHEN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359152"/>
            <a:ext cx="45564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0" y="2487168"/>
            <a:ext cx="4556455" cy="12344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任務量大，且已超過損益平衡點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任務範圍收斂，新狀況越來越少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延遲、成本或資料主權有硬性要求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4023360"/>
            <a:ext cx="5013655" cy="22402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4206240"/>
            <a:ext cx="46021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蒸餾前必須先有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PREREQUISITES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645152"/>
            <a:ext cx="45564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4773168"/>
            <a:ext cx="4556455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足量且經驗證的 Agent 成功紀錄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能篩選資料、比較前後的評估集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確認前沿模型服務條款允許蒸餾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方法比較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綜合評分：Agent 在最關鍵的四個維度全部領先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● 強　◐ 中　○ 弱；以前沿模型可用、資料可上雲的一般情境評估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7498079" cy="4407408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828800"/>
          <a:ext cx="7315198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4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34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評估維度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從頭訓練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RFT 微調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RAG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蒸餾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跟著模型進步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解決行動缺口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處理新狀況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上線速度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推論成本低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容易私有化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●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458200" y="1737360"/>
            <a:ext cx="3001975" cy="440740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1920240"/>
            <a:ext cx="25904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怎麼讀這張表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READING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359152"/>
            <a:ext cx="254477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0" y="2487168"/>
            <a:ext cx="2544775" cy="3538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前四列是前沿模型時代最關鍵的維度，Agent 全部領先。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Agent 的弱點集中在成本與私有化，正好由蒸餾與地端模型補上。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沒有單一方法全勝，所以要組合。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16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量化雷達圖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六大維度綜合評估雷達圖：Agent 外殼與前沿模型的能力分佈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直觀展示不同方法在跟隨演進、行動能力、新狀況處理、推論成本與私有化之權衡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rad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212080" cy="467074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72200" y="1691640"/>
            <a:ext cx="5285232" cy="3886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20"/>
            <a:ext cx="4873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雷達圖深度洞察</a:t>
            </a:r>
            <a:r>
              <a:rPr sz="950" b="1">
                <a:solidFill>
                  <a:srgbClr val="3B6E58"/>
                </a:solidFill>
                <a:latin typeface="Microsoft JhengHei"/>
              </a:rPr>
              <a:t> 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313432"/>
            <a:ext cx="4828032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441448"/>
            <a:ext cx="4828032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9E5A38"/>
                </a:solidFill>
                <a:latin typeface="Microsoft JhengHei"/>
              </a:rPr>
              <a:t>1. Agent 外殼的極大化優勢：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在「跟著模型進步」、「解決行動缺口」、「處理新狀況」及「上線速度」四大關鍵創新維度呈現壓倒性優勢，能第一時間吸納全球算力紅利。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2C3E50"/>
                </a:solidFill>
                <a:latin typeface="Microsoft JhengHei"/>
              </a:rPr>
              <a:t>2. 傳統自訓與微調的結構性受限：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自訓模型在初期上線慢、無法動態介接外部系統，且極易在下代通用模型發布後淪為貶值資產，僅在私有化與單次推論成本具備局部優勢。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B6E58"/>
                </a:solidFill>
                <a:latin typeface="Microsoft JhengHei"/>
              </a:rPr>
              <a:t>3. 最佳架構演進路徑：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先以「前沿 Agent + RAG」快速佔領高價值業務流程；待累積海量高質量 Trace 紀錄後，再將高頻重複步驟「蒸餾」為地端輕量模型，完美補齊成本與私有化短板。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728655" cy="6858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82472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Complementary, not exclusive.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21792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沒有完美的單一方法：以 Agent 佔據創新制高點，以蒸餾與地端模型築牢成本與安全底線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選擇指引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四個問題，決定你的組合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由上往下回答；每個答案都在 Agent 主軸上加一個元件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45720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</a:rPr>
              <a:t>起點：前沿模型 Agent + 評估集（所有情境都從這裡開始）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2624328"/>
            <a:ext cx="365760" cy="365760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77440"/>
            <a:ext cx="4297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資料能送到外部模型嗎？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06440" y="2679192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63640" y="2377440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9E5A38"/>
                </a:solidFill>
                <a:latin typeface="Microsoft JhengHei"/>
              </a:rPr>
              <a:t>不能 → 改以地端開放權重模型為核心，微調與蒸餾變成必要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55848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" y="3602736"/>
            <a:ext cx="365760" cy="365760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55848"/>
            <a:ext cx="4297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知識量超過上下文，或需要權限與出處？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06440" y="3657600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3355848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3B6E58"/>
                </a:solidFill>
                <a:latin typeface="Microsoft JhengHei"/>
              </a:rPr>
              <a:t>是 → 加上 RAG，做成 Agent 的工具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34256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14400" y="4581144"/>
            <a:ext cx="365760" cy="365760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334256"/>
            <a:ext cx="4297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答案能自動驗證，且準確率還不夠？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806440" y="4636008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4334256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3B6E58"/>
                </a:solidFill>
                <a:latin typeface="Microsoft JhengHei"/>
              </a:rPr>
              <a:t>是 → 用評估集當評分器，加做 RFT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12664"/>
            <a:ext cx="10728655" cy="84124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4400" y="5559552"/>
            <a:ext cx="365760" cy="365760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Q4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312664"/>
            <a:ext cx="42976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任務量大、範圍已收斂、成本吃緊？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806440" y="5614416"/>
            <a:ext cx="274320" cy="237744"/>
          </a:xfrm>
          <a:prstGeom prst="rightArrow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5312664"/>
            <a:ext cx="50292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9E5A38"/>
                </a:solidFill>
                <a:latin typeface="Microsoft JhengHei"/>
              </a:rPr>
              <a:t>是 → 蒸餾小模型 + 混合路由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導入規劃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導入路線：用過關條件推進，而不是用時間表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每一階段都要用評估集數據，證明可以進入下一階段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2514600" cy="3611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192024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0 準備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4203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7C8695"/>
                </a:solidFill>
                <a:latin typeface="Microsoft JhengHei"/>
              </a:rPr>
              <a:t>做什麼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98064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選一個高頻場景，收集真實案例，建立評估集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749039"/>
            <a:ext cx="2148840" cy="1417320"/>
          </a:xfrm>
          <a:prstGeom prst="roundRect">
            <a:avLst>
              <a:gd name="adj" fmla="val 6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84048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9E5A38"/>
                </a:solidFill>
                <a:latin typeface="Microsoft JhengHei"/>
              </a:rPr>
              <a:t>過關條件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33087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評估集 50 題以上，取得基準分數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69233" y="1737360"/>
            <a:ext cx="2514600" cy="3611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652113" y="192024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2113" y="1920240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1 MVP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7833" y="254203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7C8695"/>
                </a:solidFill>
                <a:latin typeface="Microsoft JhengHei"/>
              </a:rPr>
              <a:t>做什麼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7833" y="2798064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包裝 3 到 5 個工具、知識層、第一批 Skills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2113" y="3749039"/>
            <a:ext cx="2148840" cy="1417320"/>
          </a:xfrm>
          <a:prstGeom prst="roundRect">
            <a:avLst>
              <a:gd name="adj" fmla="val 6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89273" y="384048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9E5A38"/>
                </a:solidFill>
                <a:latin typeface="Microsoft JhengHei"/>
              </a:rPr>
              <a:t>過關條件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9273" y="4133087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分數明顯優於基準，專家願意試用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6947" y="1737360"/>
            <a:ext cx="2514600" cy="3611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89827" y="192024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9827" y="1920240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2 擴展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5547" y="254203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7C8695"/>
                </a:solidFill>
                <a:latin typeface="Microsoft JhengHei"/>
              </a:rPr>
              <a:t>做什麼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5547" y="2798064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長期記憶與寫入關卡、擴充工具、專家回饋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89827" y="3749039"/>
            <a:ext cx="2148840" cy="1417320"/>
          </a:xfrm>
          <a:prstGeom prst="roundRect">
            <a:avLst>
              <a:gd name="adj" fmla="val 6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26987" y="384048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9E5A38"/>
                </a:solidFill>
                <a:latin typeface="Microsoft JhengHei"/>
              </a:rPr>
              <a:t>過關條件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6987" y="4133087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人工介入比例持續下降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44660" y="1737360"/>
            <a:ext cx="2514600" cy="36118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127540" y="1920240"/>
            <a:ext cx="2148840" cy="438912"/>
          </a:xfrm>
          <a:prstGeom prst="roundRect">
            <a:avLst>
              <a:gd name="adj" fmla="val 50000"/>
            </a:avLst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27540" y="1920240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3 最佳化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3260" y="254203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7C8695"/>
                </a:solidFill>
                <a:latin typeface="Microsoft JhengHei"/>
              </a:rPr>
              <a:t>做什麼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3260" y="2798064"/>
            <a:ext cx="2057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232D38"/>
                </a:solidFill>
                <a:latin typeface="Microsoft JhengHei"/>
              </a:rPr>
              <a:t>依瓶頸選擇 RFT、蒸餾或專用模型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27540" y="3749039"/>
            <a:ext cx="2148840" cy="1417320"/>
          </a:xfrm>
          <a:prstGeom prst="roundRect">
            <a:avLst>
              <a:gd name="adj" fmla="val 6000"/>
            </a:avLst>
          </a:prstGeom>
          <a:solidFill>
            <a:srgbClr val="E8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64700" y="384048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9E5A38"/>
                </a:solidFill>
                <a:latin typeface="Microsoft JhengHei"/>
              </a:rPr>
              <a:t>過關條件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4700" y="4133087"/>
            <a:ext cx="187451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232D38"/>
                </a:solidFill>
                <a:latin typeface="Microsoft JhengHei"/>
              </a:rPr>
              <a:t>成本或延遲達標，品質不退步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532120"/>
            <a:ext cx="10728655" cy="749808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5840" y="568756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No evidence, no next phase.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608075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時程只是參考；能不能往下走，由評估集上的數據決定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專家觀點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重量級專家的共識：簡單架構、工程化上下文、評估先行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以下為原文引述與公開數據，出處見最後一頁參考資料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Anthropic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“The most successful implementations use simple, composable patterns rather than complex frameworks.”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→ 先固定流程，必要時才升級為自主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Rich Sutton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“General methods that leverage computation are ultimately the most effective, and by a large margin.”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→ 手工特化模型會被通用模型追上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7947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Andrej Karpathy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“Context engineering is the delicate art and science of filling the context window with just the right information for the next step.”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→ 競爭力在上下文工程（檢索/工具/記憶），不在模型微調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7947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32D38"/>
                </a:solidFill>
                <a:latin typeface="Microsoft JhengHei"/>
              </a:rPr>
              <a:t>Andrew Ng (AI Ascent)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>
                <a:solidFill>
                  <a:srgbClr val="4A5568"/>
                </a:solidFill>
                <a:latin typeface="Microsoft JhengHei"/>
              </a:rPr>
              <a:t>HumanEval 程式測試：GPT-3.5 零樣本 48.1%、GPT-4 零樣本 67.0%；GPT-3.5 加上反思/迭代 Agent 流程躍升至 95.1%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9E5A38"/>
                </a:solidFill>
                <a:latin typeface="Microsoft JhengHei"/>
              </a:rPr>
              <a:t>→ 架構與循環流程（Agentic Workflow）的收益超越換代大模型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64184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Simple, measured, context-first.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03504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四位專家的共識，正好對應本報告主張：Agent 主軸、評估先行、資產在上下文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觀點解構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四大專家共識白話解讀：用最簡單的話，講透落地本質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將看似深奧的學術名詞，轉化為一線工程師與決策主管能立即執行的操作準則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xpert_consensu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5486400" cy="401244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46520" y="1691640"/>
            <a:ext cx="5010912" cy="3886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20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通俗解讀：從理論到產線</a:t>
            </a:r>
            <a:r>
              <a:rPr sz="950" b="1">
                <a:solidFill>
                  <a:srgbClr val="9E5A38"/>
                </a:solidFill>
                <a:latin typeface="Microsoft JhengHei"/>
              </a:rPr>
              <a:t>  EXPLANATION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313432"/>
            <a:ext cx="4553712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2441448"/>
            <a:ext cx="4553712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C3E50"/>
                </a:solidFill>
                <a:latin typeface="Microsoft JhengHei"/>
              </a:rPr>
              <a:t>● 算力課（Rich Sutton）：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不要用幾十個人的小團隊，去賭自己微調的模型能贏過數萬張 H100 訓出的通用模型；借力算力才是正道。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E5A38"/>
                </a:solidFill>
                <a:latin typeface="Microsoft JhengHei"/>
              </a:rPr>
              <a:t>● 上下文工程（Andrej Karpathy）：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模型不是記憶體，不要把整本百萬字規格書硬塞給它。重點在於『下一動要用什麼，就精準餵給它什麼』。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E5A38"/>
                </a:solidFill>
                <a:latin typeface="Microsoft JhengHei"/>
              </a:rPr>
              <a:t>● 迭代迴圈（Andrew Ng）：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聰明人一次寫完也會有疏漏。讓模型具備『寫完代碼跑跑看、錯了自己看錯誤訊息改』的迴圈，小模型也能打敗大模型。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B6E58"/>
                </a:solidFill>
                <a:latin typeface="Microsoft JhengHei"/>
              </a:rPr>
              <a:t>● 極簡設計（Anthropic）：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4A5568"/>
                </a:solidFill>
                <a:latin typeface="Microsoft JhengHei"/>
              </a:rPr>
              <a:t>別一開始就用複雜的黑盒框架搞十幾個 Agent 聊天。能用三行固定代碼解決的，就絕不要交給模型自由發揮。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69280"/>
            <a:ext cx="10728655" cy="6858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82472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Think simple, engineer context, embrace loops.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21792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不被流行術語迷惑：掌握算力規律、做好上下文餵食、給予反思迴圈，AI 就能在專業產線穩定工作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核心技術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上下文工程：注意力是有限預算，越多不等於越好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Anthropic：找出「最小的高訊號 token 集合」，最大化期望結果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347472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828800"/>
          <a:ext cx="1054577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33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5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技術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對專業領域的意義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Context rot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上下文越長，模型召回準確度越低（Anthropic 引用 needle-in-a-haystack 研究）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不要把整份手冊塞進 prompt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Just-in-time 檢索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只放檔案路徑、查詢入口，由 Agent 執行時再載入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RAG 變成工具，而非前置灌入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壓縮 Compaction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長任務接近上限時摘要歷史、保留決策與未解問題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保住長流程的連貫性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結構化筆記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Agent 把進度寫到外部記憶，下次再讀回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對應本報告的記憶寫入關卡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子 Agent 分工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子 Agent 在乾淨上下文深挖，只回傳精簡結論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主 Agent 上下文保持乾淨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96112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Fine-tuning or Retrieval? — RAG consistently outperforms.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Ovadia 等（Microsoft, 2023）：知識注入上 RAG 一致優於非監督微調，模型也難以透過微調學會新事實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評估方法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Agent 評估要看整條軌跡，不只看最後答案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Hamel Husain〈Your AI Product Needs Evals〉：評估系統是 AI 產品能否持續改進的關鍵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L1 單元斷言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87168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格式、工具參數、禁用詞等可程式化檢查；每次提交都跑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73736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82972" y="192024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L2 軌跡審查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0404" y="2487168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人工 + LLM 評審檢視完整 trace：選對工具？步驟多餘？有無幻覺？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73736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33257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920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L3 結果驗收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0689" y="2487168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專家依評估集打分，或由業務指標（節省工時、正確率）驗證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77639"/>
            <a:ext cx="10728655" cy="2450592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4069079"/>
          <a:ext cx="1054577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9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原則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LLM 評審需校準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先與專家標註比對一致率，再放手自動評分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先看資料再寫指標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從真實失敗 trace 歸納錯誤類型，而非憑空設計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評估集要版本化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換模型、換 prompt、蒸餾前後都用同一份比較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23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安全治理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Agent 安全：三個條件同時成立，資料就可能外洩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Simon Willison「Lethal Trifecta」：私有資料 + 不可信內容 + 對外通訊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存取私有資料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87168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內部文件、資料庫、郵件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73736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82972" y="192024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接觸不可信內容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0404" y="2487168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外部文件、網頁、來文附件可夾帶提示注入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73736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33257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920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能對外通訊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0689" y="2487168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HTTP 請求、圖片連結、寄信都可能成為外洩管道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566160"/>
            <a:ext cx="10728655" cy="292608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22960" y="3657600"/>
          <a:ext cx="1054577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5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9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對策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切斷任一條件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內網隔離即切斷「對外通訊」，是地端部署的天然優勢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工具最小權限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唯讀優先；寫入、刪除、發送類工具一律人工核准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全程稽核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每次工具呼叫留存參數、結果與使用者身分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標準化工具介面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以 MCP 等開放協定統一包裝，集中做權限與審計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地端選型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地端前沿開源模型選型：推論邏輯、長上下文與自主演進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實體隔離內網無外部 API 時，依任務特化配置最新開源與開放權重架構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3694176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783080"/>
          <a:ext cx="1054577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7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5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模型家族與代表規格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架構與核心優勢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最適合之 Agent 職責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地端隔離硬體與部署特性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Nemotron (NVIDIA 70B/Nano)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RLHF/邏輯對話、高吞吐 NIM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通用複雜對話、結構化綜合分析、合規審核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搭配 TensorRT-LLM/NIM 部署，GPU 運算吞吐極佳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Kimi K3 / K2.5 (Moonshot MoE)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超長上下文 (1M)、原生多模態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超大專業技術規範、長篇工程日誌跨篇分析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MoE 架構需分散式顯存叢集，適合中樞級知識檢索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Gemma 4 (Google 31B Dense)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多模態原生整合、指令遵循極佳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技術圖表解析、代碼輔助生成、跨模態比對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單張高階卡 (H100/4090 Q4) 可跑，性價比極高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Ornith-1.5 (35B MoE / 397B)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自主強化學習閉環、Agent 導向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多步複雜工具呼叫、動態任務鷹架規劃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內建自我反思機制，對齊 Agentic Trace 執行流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Qwen 2.5/3 &amp; DeepSeek-R1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穩定 Tool Call 與 CoT 深度推理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底層系統 API 呼叫、精密數學運算與演算法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開源生態支援最完整，為地端 Agent 核心基石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Heterogeneous Deployment: Specialized models for specialized steps.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地端實踐：以 Qwen/Gemma 負責高頻 Tool Call，Nemotron/R1 負責深度推論，Kimi 負責長文檔分析，兼顧延遲與精度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框架評比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新世代 Agent Harness 評比：從單純框架到自主進化套件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評估地端隔離部署時的長任務規劃、檔案沙箱、技能沉澱與控制粒度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329184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783080"/>
          <a:ext cx="1054577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6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5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6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Harness / 套件名稱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核心架構機制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關鍵優勢與 Agent 賦能亮點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地端隔離導入與控制價值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LangChain Deep Agents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長程規劃、檔案系統記憶、子 Agent 派工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解決長時間運作 Context Rot；內建檔案系統做外部記憶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基於 LangGraph 狀態機，生產環境穩定性高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Nous Hermes Agent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自我學習迴圈、Skills 動態提取沉澱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執行成功後自動提煉為新 Skill 檔；具備跨會話記憶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極契合專業領域長期積累；開箱即用支援本機部署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OpenCode (SST)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Terminal/CLI 原生、多 Agent 分工 (Scout/Build)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專注代碼庫重構與系統工程；藉由 AGENTS.md 固化規則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型別安全微服務 (Bun/TS 架構)，執行效率極高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LangGraph / PydanticAI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圖狀態機 (StateGraph) / 嚴格 Schema 契約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精確控制狀態流轉、斷點回復 (Human-in-the-loop)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提供最大底層控制權，適合極度嚴謹的核心業務介接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Harness = Scaffolding + Memory + Skills Accumulation.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新世代 Harness（如 Hermes、Deep Agents）超越了單純的 prompt loop，自帶檔案記憶與 Skill 沉澱，直接實踐增值資產主張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環境治理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實體隔離環境（Air-Gapped）：專業領域 AI 生態營造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兼顧國防研發機密防護與 AI Agent 敏捷演進的四層工程體系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內外網安全泵（Air-Gap Bridge）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建立單向安全檢驗閘道：外部開源權重、安全套件與開源文獻經多重掃描/防毒後入庫，嚴禁雙向未稽核通訊。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地端私有 Registry 與資產庫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架設內部專用 HuggingFace Mirror、私有 PyPI 與 Docker Registry；統一納管模型權重、Skills 與 Prompt 樣板。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7947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容器化執行沙箱（Zero-Trust Runtime）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Agent 工具呼叫與程式碼執行必須在嚴格隔離的沙箱容器內（無外網存取、唯讀掛載核心系統），防止惡意注入逃逸。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7947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Trace 軌跡中樞與私有評估網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內網架設私有追蹤平台（如 OpenTelemetry/Phoenix），集中記錄每筆思考路徑與呼叫紀錄，供領域專家校準與回流。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64184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Air-gapped does not mean isolated from evolution.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03504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生態系的關鍵在於：模型可受控升級、評估集可持續積累、工具呼叫安全可溯，形成內網閉環飛輪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27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架構機制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Hooks 機制：Agent 生命週期的神經中樞與安全攔截點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在 Agent 思考、工具呼叫、記憶讀寫的前中後，植入確定性的防護閥門與審計機制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3584448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783080"/>
          <a:ext cx="1054577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6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44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4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Hook 攔截階段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核心觸發機制與檢查內容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對專業與國防領域的關鍵價值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Pre-Tool Execution (工具呼叫前)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參數結構校驗、危險指令靜態掃描、權限驗證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防止提示注入引發的非預期危險操作（如格式化、外洩私有資料）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Post-Tool Execution (工具呼叫後)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結果脫敏過濾、長輸出壓縮、執行結果真實性驗證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防範輸出資料超出 context 造成 Context Rot，或錯誤資料污染記憶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Pre-Step Planning (思考規劃前)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動態注入組織最新安全規範、環境邊界約束、Token 預算限制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約束模型發散思考，將注意力鎖定在合規的目標範圍內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Memory Ingestion (記憶寫入前)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三階段寫入關卡、去重、矛盾偵測、機密等級分類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確保只有經人工核准或評估集驗收的高價值經驗方可永久沉澱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Human-in-the-loop (人工審批閥)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特定敏感動作（刪除、變更設定、資金/指令送出）暫停中斷點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將最終裁決權牢牢保留在領域專家手中，達到零失誤容忍度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Hooks: The deterministic seatbelt for non-deterministic intelligence.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897879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大模型是非確定性的，但生產系統必須是確定性的；Hooks 是把非確定性智力約束在安全軌道上的核心保險栓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28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系統整合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MCP（Model Context Protocol）：鏈結現有研發與資訊系統的通用介面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以開放標準將 MIS、科學模擬器與內部資料庫解耦封裝為安全微服務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通用通訊協定 (Protocol Layer)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採用開放標準 JSON-RPC 2.0，將 LLM/Agent 與後端實體系統徹底解耦；換模型無需重寫系統介接 API。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MIS 營運與研發管理封裝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透過 MCP Server 封裝專案管理系統、研發文檔庫、ERP/資產庫，支援唯讀查詢、狀態回報與跨庫比對。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79476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科學計算與工程模擬器介接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將通用空氣動力、熱流、結構等工程模擬器封裝為 MCP 工具，Agent 自主設定參數檔、提交排程與分析輸出報告。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61188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79476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79476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32D38"/>
                </a:solidFill>
                <a:latin typeface="Microsoft JhengHei"/>
              </a:rPr>
              <a:t>網關級安全管控 (MCP Gateway)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23367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361688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A5568"/>
                </a:solidFill>
                <a:latin typeface="Microsoft JhengHei"/>
              </a:rPr>
              <a:t>集中實施 RBAC 權限控管、金鑰隔離與雙向稽核紀錄，確保 Agent 僅能在授權沙箱環境內操作現有系統。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486400"/>
            <a:ext cx="10728655" cy="86868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64184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Decouple intelligence from tools via standardized protocols.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03504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MCP 的核心價值：模型隨時可換，但已封裝的 MIS 系統、工程模擬器與資料庫介面成為組織長久資產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29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架構機制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Sub-Agent 體系：Why、What、How、When、Where 深度解構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解決複雜任務中 Context Rot 與職責混雜的關鍵架構手段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87452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Why（為什麼需要？）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4144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單一 Agent 承擔過多工具與長歷史會造成 Context Rot，注意力分散導致幻覺與死循環。透過 Sub-Agent 將任務隔離在乾淨的上下文（Clean Context），大幅提升各子任務的執行成功率。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6655" y="169164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57823" y="187452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6735" y="187452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What（它是什麼？）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5255" y="231343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5255" y="244144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Sub-Agent 是主 Agent 派生出的特化子智慧體。它擁有專屬的角色提示詞（Role Prompt）、受限的最小工具集，以及獨立的執行環境，完成任務後僅向主 Agent 提交精煉結論。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0332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388620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8620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How（如何運作？）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32511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45312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主 Agent 將總目標拆解為子任務（Planning）➔ 呼叫 Sub-Agent 並傳遞專屬 Context ➔ Sub-Agent 在沙箱中自主迴圈（ReAct/Code）➔ 檢驗輸出並總結 ➔ 主 Agent 吸收結果繼續推進。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6655" y="3703320"/>
            <a:ext cx="5303520" cy="1874519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57823" y="388620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6735" y="3886200"/>
            <a:ext cx="448055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232D38"/>
                </a:solidFill>
                <a:latin typeface="Microsoft JhengHei"/>
              </a:rPr>
              <a:t>When &amp; Where（何時/何處使用？）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5255" y="4325112"/>
            <a:ext cx="484632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85255" y="4453128"/>
            <a:ext cx="4846320" cy="1005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A5568"/>
                </a:solidFill>
                <a:latin typeface="Microsoft JhengHei"/>
              </a:rPr>
              <a:t>【When】當任務具備獨立探索性（如深挖代碼、長篇文檔檢索、多參數模擬計算）時啟用；【Where】部署在隔離容器沙箱或專屬微服務節點，嚴防非授權的跨環境資料外洩。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623560"/>
            <a:ext cx="10728655" cy="6858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77900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Divide and Conquer: Keep the main context immaculate.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17220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主 Agent 負責長程排程與決策，Sub-Agent 深入戰壕攻堅；乾淨的上下文是高品質輸出的第一前提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避坑指南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五個常見錯誤，每一個都可能浪費半年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與其說哪種方法最好，不如先避開這些做法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728655" cy="4462272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828800"/>
          <a:ext cx="10545774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3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6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6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l">
                        <a:defRPr sz="14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錯誤做法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為什麼會失敗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改成這樣做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先訓練模型再說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模型很快被下一代超越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先用前沿模型建立基準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只做 RAG 問答機器人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查得到但做不到，價值有限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把 RAG 包成 Agent 工具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什麼都交給 Agent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成本高、結果不穩定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固定流程為主，Agent 為輔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記憶沒有寫入關卡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錯誤經驗自我複製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候選、驗證、正式三階段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沒有評估集就蒸餾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不知道品質掉了多少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3B6E58"/>
                          </a:solidFill>
                          <a:latin typeface="Microsoft JhengHei"/>
                        </a:defRPr>
                      </a:pPr>
                      <a:r>
                        <a:t>評估集永遠第一個做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31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1033272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1033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行動建議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下個月就可以開始的三件事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不需要先買 GPU，也不需要先訓練模型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建立評估集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487168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挑一個高頻、痛點明確的場景，找專家整理 50 題真實問題與標準答案。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9E5A38"/>
                </a:solidFill>
                <a:latin typeface="Microsoft JhengHei"/>
              </a:rPr>
              <a:t>產出：</a:t>
            </a:r>
            <a:r>
              <a:rPr sz="1350" b="1">
                <a:solidFill>
                  <a:srgbClr val="232D38"/>
                </a:solidFill>
                <a:latin typeface="Microsoft JhengHei"/>
              </a:rPr>
              <a:t>評估集 v1 與基準分數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804" y="173736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82972" y="1920240"/>
            <a:ext cx="310896" cy="310896"/>
          </a:xfrm>
          <a:prstGeom prst="ellipse">
            <a:avLst/>
          </a:prstGeom>
          <a:solidFill>
            <a:srgbClr val="9E5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1884" y="1920240"/>
            <a:ext cx="2606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包裝工具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0404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0404" y="2487168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把該場景最常用的 3 到 5 個系統查詢包成 API，讓 Agent 能直接呼叫。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9E5A38"/>
                </a:solidFill>
                <a:latin typeface="Microsoft JhengHei"/>
              </a:rPr>
              <a:t>產出：</a:t>
            </a:r>
            <a:r>
              <a:rPr sz="1350" b="1">
                <a:solidFill>
                  <a:srgbClr val="232D38"/>
                </a:solidFill>
                <a:latin typeface="Microsoft JhengHei"/>
              </a:rPr>
              <a:t>第一版可運作的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2089" y="173736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33257" y="1920240"/>
            <a:ext cx="310896" cy="310896"/>
          </a:xfrm>
          <a:prstGeom prst="ellipse">
            <a:avLst/>
          </a:prstGeom>
          <a:solidFill>
            <a:srgbClr val="3B6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2169" y="19202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232D38"/>
                </a:solidFill>
                <a:latin typeface="Microsoft JhengHei"/>
              </a:rPr>
              <a:t>寫下 Skills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0689" y="2359152"/>
            <a:ext cx="2971800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0689" y="2487168"/>
            <a:ext cx="29718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0">
                <a:solidFill>
                  <a:srgbClr val="4A5568"/>
                </a:solidFill>
                <a:latin typeface="Microsoft JhengHei"/>
              </a:rPr>
              <a:t>請資深專家口述做事步驟與常見陷阱，整理成第一批 Skills 文件。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50" b="1">
                <a:solidFill>
                  <a:srgbClr val="9E5A38"/>
                </a:solidFill>
                <a:latin typeface="Microsoft JhengHei"/>
              </a:rPr>
              <a:t>產出：</a:t>
            </a:r>
            <a:r>
              <a:rPr sz="1350" b="1">
                <a:solidFill>
                  <a:srgbClr val="232D38"/>
                </a:solidFill>
                <a:latin typeface="Microsoft JhengHei"/>
              </a:rPr>
              <a:t>Skills 文件 v1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26280"/>
            <a:ext cx="10728655" cy="1051560"/>
          </a:xfrm>
          <a:prstGeom prst="roundRect">
            <a:avLst>
              <a:gd name="adj" fmla="val 6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681728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9E5A38"/>
                </a:solidFill>
                <a:latin typeface="Microsoft JhengHei"/>
              </a:rPr>
              <a:t>Host the weights. Master the context.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74920"/>
            <a:ext cx="101800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全球開源模型持續推陳出新；組織今天在地端累積的評估集、MCP 工具、Skills 與記憶，會讓每一次模型升級都無痛直接為你所用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32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92608"/>
            <a:ext cx="722376" cy="274320"/>
          </a:xfrm>
          <a:prstGeom prst="roundRect">
            <a:avLst>
              <a:gd name="adj" fmla="val 50000"/>
            </a:avLst>
          </a:prstGeom>
          <a:solidFill>
            <a:srgbClr val="E8E2D5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24612"/>
            <a:ext cx="7223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3B6E58"/>
                </a:solidFill>
                <a:latin typeface="Microsoft JhengHei"/>
              </a:rPr>
              <a:t>✦  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32D38"/>
                </a:solidFill>
                <a:latin typeface="Microsoft JhengHei"/>
              </a:rPr>
              <a:t>參考資料與權威文獻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7C8695"/>
                </a:solidFill>
                <a:latin typeface="Microsoft JhengHei"/>
              </a:rPr>
              <a:t>本報告專家引述、實證評估與架構論述皆可回溯至下列原始出處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728655" cy="4709160"/>
          </a:xfrm>
          <a:prstGeom prst="roundRect">
            <a:avLst>
              <a:gd name="adj" fmla="val 3000"/>
            </a:avLst>
          </a:prstGeom>
          <a:solidFill>
            <a:srgbClr val="FDFCFA"/>
          </a:solidFill>
          <a:ln w="12700">
            <a:solidFill>
              <a:srgbClr val="E3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783080"/>
          <a:ext cx="1054577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4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4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作者 / 機構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標題與核心主旨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來源網址 / 出處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Anthropic (2024)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Building effective agents (Workflows vs Agents 架構論述)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anthropic.com/engineering/building-effective-agents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Anthropic (2025)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Effective context engineering for AI agents (Context rot 實證)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anthropic.com/engineering/effective-context-engineering-for-ai-agents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R. Sutton (2019)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The Bitter Lesson (算力與通用方法超越手工特化)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incompleteideas.net/IncIdeas/BitterLesson.html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A. Karpathy (2025)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Context engineering 定義（X 貼文 / Post 2025.06）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x.com/karpathy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A. Ng (2024)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AI Ascent 演講 &amp; The Batch：Agentic workflows 與 HumanEval 數據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sequoiacap.com / deeplearning.ai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Ovadia et al. (2023)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Fine-Tuning or Retrieval? Comparing Knowledge Injection in LLMs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arxiv.org/abs/2312.05934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H. Husain (2024)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Your AI Product Needs Evals (AI 評估三層架構與軌跡校準)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hamel.dev/blog/posts/evals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S. Willison (2025)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The lethal trifecta for AI agents (Agent 安全外洩三要素)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simonwillison.net/2025/Jun/16/the-lethal-trifecta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31520" y="6510528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" b="0">
                <a:solidFill>
                  <a:srgbClr val="7C8695"/>
                </a:solidFill>
                <a:latin typeface="Microsoft JhengHei"/>
              </a:rPr>
              <a:t>國防專業領域 AI 策略評估  ·  AIR-GAPPED ON-PREM DOMAIN AI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10528"/>
            <a:ext cx="14017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1">
                <a:solidFill>
                  <a:srgbClr val="3B6E58"/>
                </a:solidFill>
                <a:latin typeface="Microsoft JhengHei"/>
              </a:rPr>
              <a:t>33 /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3410</Words>
  <Application>Microsoft Office PowerPoint</Application>
  <PresentationFormat>寬螢幕</PresentationFormat>
  <Paragraphs>749</Paragraphs>
  <Slides>33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7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Eddy Yang</cp:lastModifiedBy>
  <cp:revision>2</cp:revision>
  <dcterms:created xsi:type="dcterms:W3CDTF">2013-01-27T09:14:16Z</dcterms:created>
  <dcterms:modified xsi:type="dcterms:W3CDTF">2026-10-06T15:32:22Z</dcterms:modified>
  <cp:category/>
</cp:coreProperties>
</file>