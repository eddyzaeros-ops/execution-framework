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508760"/>
            <a:ext cx="3291840" cy="347472"/>
          </a:xfrm>
          <a:prstGeom prst="roundRect">
            <a:avLst/>
          </a:prstGeom>
          <a:solidFill>
            <a:srgbClr val="EAE4D8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100" b="1">
                <a:solidFill>
                  <a:srgbClr val="3B6E58"/>
                </a:solidFill>
                <a:latin typeface="Microsoft JhengHei"/>
              </a:rPr>
              <a:t>✦  arXiv:2609.00006v1 學術全景重磅解析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32D38"/>
                </a:solidFill>
                <a:latin typeface="Microsoft JhengHei"/>
              </a:rPr>
              <a:t>Harness Engineering: 編程智慧體架構與演化剖析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9E5A38"/>
                </a:solidFill>
                <a:latin typeface="Microsoft JhengHei"/>
              </a:rPr>
              <a:t>Anatomy, Architecture, and Evolution of Coding Agents — A Source-Code Study of Eleven Systems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3E4856"/>
                </a:solidFill>
                <a:latin typeface="Microsoft JhengHei"/>
              </a:rPr>
              <a:t>跨 11 款生產級系統原始碼審查 · 47 項特徵矩陣 · Matplotlib 原圖高階重繪 · 全套 18 表深度解析 · 18 條架構軍規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663440"/>
            <a:ext cx="98142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8463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57182"/>
                </a:solidFill>
                <a:latin typeface="Microsoft JhengHei"/>
              </a:rPr>
              <a:t>論文作者：Paul Barbaste, Tristan Darrigol, Germain Vu, Tom Wiltberger (Wavestone AI Lab, 2026 年 9 月)
研究範疇：七大子系統 (D1-D7)、兩大震撼缺席 (零通用框架/零向量代碼 RAG)、平台化轉型論題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01 / 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理論基礎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核心命題與定義界定：Agent = Model + Harness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破解模型至上神話，確立 Runtime、Scaffold、Framework 與 Orchestrator 的嚴格邊界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374903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破解模型至上論 (The Model Myth)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[CORE THESIS]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核心公式等式：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Agent = Model + Harness，兩者缺一不可。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6265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92608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模型僅提供機率預測：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LLM 是無狀態的符號推理引擎，缺乏操作確定性。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73989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70332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提供確定性實踐：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負責環境狀態管理、外部工具呼叫與生命週期掌控。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51713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448056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能力邊界重構：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複雜專案工程交付失敗，90% 源於 Harness 脆弱而非模型推理不足。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600200"/>
            <a:ext cx="5212080" cy="374903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四大混淆術語邊界澄清 (Clarifying Terms)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[TAXONOMY]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0975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1871" y="214884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vs Scaffold (腳手架)：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Scaffold 僅是引導輸出的靜態 Prompt 模板；Harness 是動態全棧運行時 (Runtime)。</a:t>
            </a:r>
          </a:p>
        </p:txBody>
      </p:sp>
      <p:sp>
        <p:nvSpPr>
          <p:cNvPr id="23" name="Oval 22"/>
          <p:cNvSpPr/>
          <p:nvPr/>
        </p:nvSpPr>
        <p:spPr>
          <a:xfrm>
            <a:off x="6430975" y="296265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871" y="292608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vs Framework (如 LangChain)：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Framework 提供通用庫抽象；Harness 是特化、高確定性的垂直產品本體。</a:t>
            </a:r>
          </a:p>
        </p:txBody>
      </p:sp>
      <p:sp>
        <p:nvSpPr>
          <p:cNvPr id="25" name="Oval 24"/>
          <p:cNvSpPr/>
          <p:nvPr/>
        </p:nvSpPr>
        <p:spPr>
          <a:xfrm>
            <a:off x="6430975" y="373989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1871" y="370332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vs Eval Harness (如 SWE-bench)：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評測框架是外部評判裁判；Coding Harness 才是受測的軟體實體自身。</a:t>
            </a:r>
          </a:p>
        </p:txBody>
      </p:sp>
      <p:sp>
        <p:nvSpPr>
          <p:cNvPr id="27" name="Oval 26"/>
          <p:cNvSpPr/>
          <p:nvPr/>
        </p:nvSpPr>
        <p:spPr>
          <a:xfrm>
            <a:off x="6430975" y="451713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1871" y="4480560"/>
            <a:ext cx="4535424" cy="740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Harness vs Orchestrator (協調器)：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Orchestrator 僅負責跨模組派工；Harness 包含重試、沙盒與檔案編輯的完整底座。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623560"/>
            <a:ext cx="10180015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3E50"/>
                </a:solidFill>
                <a:latin typeface="Microsoft JhengHei"/>
              </a:rPr>
              <a:t>"The model supplies the intelligence, but the harness </a:t>
            </a:r>
            <a:r>
              <a:rPr sz="1250" b="1">
                <a:solidFill>
                  <a:srgbClr val="9E5A38"/>
                </a:solidFill>
                <a:latin typeface="Microsoft JhengHei"/>
              </a:rPr>
              <a:t>turns that intelligence into reliable work</a:t>
            </a:r>
            <a:r>
              <a:rPr sz="1250" b="1">
                <a:solidFill>
                  <a:srgbClr val="2C3E50"/>
                </a:solidFill>
                <a:latin typeface="Microsoft JhengHei"/>
              </a:rPr>
              <a:t>."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657182"/>
                </a:solidFill>
                <a:latin typeface="Microsoft JhengHei"/>
              </a:rPr>
              <a:t>模型賦予原始智慧，而執行框架（Harness）則將智慧轉化為高可靠、可預測的工程成果。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02 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論文圖一重繪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【重繪論文圖一】Harness 七大標準子系統架構全景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1: The Canonical Anatomy and Architecture of Coding Agent Harnesses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3B6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THE EXECUTION HARNESS RUNTIME BOUNDARY (AI-ROS 運行時架構邊界)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057400"/>
            <a:ext cx="10180015" cy="868680"/>
          </a:xfrm>
          <a:prstGeom prst="roundRect">
            <a:avLst/>
          </a:prstGeom>
          <a:solidFill>
            <a:srgbClr val="EAF0EC"/>
          </a:solidFill>
          <a:ln w="15240">
            <a:solidFill>
              <a:srgbClr val="3B6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C3E50"/>
                </a:solidFill>
                <a:latin typeface="Microsoft JhengHei"/>
              </a:rPr>
              <a:t>D1. Agent Loop (核心驅動引擎 / 狀態機迴圈)
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ReAct / Coordinator-Worker · 死循環偵測 (Stuck Detectors) · 逾時中斷 · 中間件管線 (Middleware Pipeline)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063240"/>
            <a:ext cx="3246120" cy="146304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E5A38"/>
                </a:solidFill>
                <a:latin typeface="Microsoft JhengHei"/>
              </a:rPr>
              <a:t>D2. 模型整合與協同
</a:t>
            </a:r>
          </a:p>
          <a:p>
            <a:r>
              <a:rPr sz="950">
                <a:solidFill>
                  <a:srgbClr val="3E4856"/>
                </a:solidFill>
                <a:latin typeface="Microsoft JhengHei"/>
              </a:rPr>
              <a:t>✦ 單原廠深度優化 vs 多模型抽象
✦ 嚴格 Prompt Caching 快取邊界
✦ 反鍍金規則 (Anti-Gold-Plating)
✦ 結構化推理與 API 轉譯層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3063240"/>
            <a:ext cx="3246120" cy="146304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B6E58"/>
                </a:solidFill>
                <a:latin typeface="Microsoft JhengHei"/>
              </a:rPr>
              <a:t>D4. 記憶與上下文管理
</a:t>
            </a:r>
          </a:p>
          <a:p>
            <a:r>
              <a:rPr sz="950">
                <a:solidFill>
                  <a:srgbClr val="3E4856"/>
                </a:solidFill>
                <a:latin typeface="Microsoft JhengHei"/>
              </a:rPr>
              <a:t>✦ 閾值壓縮 (Threshold Compaction)
✦ 非破壞性修剪 (Micro-pruning)
✦ 保留最近 30% 完整推理尾端
✦ 磁碟外生化狀態持久儲存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992" y="3063240"/>
            <a:ext cx="3246120" cy="146304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782A"/>
                </a:solidFill>
                <a:latin typeface="Microsoft JhengHei"/>
              </a:rPr>
              <a:t>D3. 工具與動作系統
</a:t>
            </a:r>
          </a:p>
          <a:p>
            <a:r>
              <a:rPr sz="950">
                <a:solidFill>
                  <a:srgbClr val="3E4856"/>
                </a:solidFill>
                <a:latin typeface="Microsoft JhengHei"/>
              </a:rPr>
              <a:t>✦ 精簡 4~8 個核心確定性工具
✦ Search-Replace 區塊精確替換
✦ 模糊匹配寬容瀑布 (Fuzzy 95%)
✦ 逾 15 個工具啟用遞延加載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663440"/>
            <a:ext cx="3246120" cy="150876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E5A38"/>
                </a:solidFill>
                <a:latin typeface="Microsoft JhengHei"/>
              </a:rPr>
              <a:t>D5. 安全與權限棧
</a:t>
            </a:r>
          </a:p>
          <a:p>
            <a:r>
              <a:rPr sz="950">
                <a:solidFill>
                  <a:srgbClr val="3E4856"/>
                </a:solidFill>
                <a:latin typeface="Microsoft JhengHei"/>
              </a:rPr>
              <a:t>✦ Starlark 腳本與可執行測試案例
✦ 外部守護模型 (Guardian Review)
✦ 容器與 OS 級沙盒隔離 (Bwrap)
✦ 高危動作人機審查 (HITL)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4663440"/>
            <a:ext cx="3246120" cy="150876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B6E58"/>
                </a:solidFill>
                <a:latin typeface="Microsoft JhengHei"/>
              </a:rPr>
              <a:t>D6. 多代理協同拓撲
</a:t>
            </a:r>
          </a:p>
          <a:p>
            <a:r>
              <a:rPr sz="950">
                <a:solidFill>
                  <a:srgbClr val="3E4856"/>
                </a:solidFill>
                <a:latin typeface="Microsoft JhengHei"/>
              </a:rPr>
              <a:t>✦ 嚴禁平面 Chat-Room 廣播
✦ 遞迴組合 (Recursive Sub-Agents)
✦ 線程樹 (Thread Trees) 支援回滾
✦ 保持進程內通訊避免 RPC 膨脹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4663440"/>
            <a:ext cx="3246120" cy="1508760"/>
          </a:xfrm>
          <a:prstGeom prst="roundRect">
            <a:avLst/>
          </a:prstGeom>
          <a:solidFill>
            <a:srgbClr val="F5F2EB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Microsoft JhengHei"/>
              </a:rPr>
              <a:t>D7. 擴展與技能體系
</a:t>
            </a:r>
          </a:p>
          <a:p>
            <a:r>
              <a:rPr sz="950">
                <a:solidFill>
                  <a:srgbClr val="3E4856"/>
                </a:solidFill>
                <a:latin typeface="Microsoft JhengHei"/>
              </a:rPr>
              <a:t>✦ SKILL.md 領域知識標準 (9/11)
✦ MCP 外部系統連網協議 (8/11)
✦ 遞延動態加載省 90% 提示詞空間
✦ 外掛生命週期 Hooks (Pre/Post)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論文圖形重繪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【原圖精緻重繪】Figure 1: 編程智慧體 Harness 標準解剖學架構全貌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1: The Canonical Anatomy of a Coding-Agent Harness (arXiv:2609.00006v1)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1737360"/>
            <a:ext cx="1033272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4462272"/>
            <a:ext cx="101800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9E5A38"/>
                </a:solidFill>
                <a:latin typeface="Microsoft JhengHei"/>
              </a:rPr>
              <a:t>✦ 論文官方題註 (Caption)：The canonical anatomy of a coding-agent harness: seven subsystems around an agent loop, plus the interface layer and the session substrate.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原圖核心拓撲：精準呈現以 Agent Loop (D1) 為心臟的向心結構，所有外部交互均被嚴格限制在 Runtime 內部。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橫切面 (Cross-cutting Surfaces)：介面層 (TUI/IDE/SDK/Server) 與會話基底 (Session Substrate - 軌跡/持久化/分支) 貫穿七大子系統。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論文作者核心結論：每一款系統，哪怕小至 100 行的 Mini-SWE-Agent，都必須對這七大子系統做出明確架構表態（哪怕表態為留白）。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04 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迴圈架構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【重繪論文圖二】三種驅動迴圈範式對比 (Figure 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2: Contrasting Iterative ReAct, Reflection-Augmented, and Coordinator-Worker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6E58"/>
                </a:solidFill>
                <a:latin typeface="Microsoft JhengHei"/>
              </a:rPr>
              <a:t>範式 1: 迭代動作迴圈
(Iterative ReAct Loop)
</a:t>
            </a:r>
          </a:p>
          <a:p>
            <a:r>
              <a:rPr sz="950">
                <a:solidFill>
                  <a:srgbClr val="9E5A38"/>
                </a:solidFill>
                <a:latin typeface="Microsoft JhengHei"/>
              </a:rPr>
              <a:t>代表：Mini-SWE-Agent, OpenHands, OpenCode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【控制流程圖解】
[User Input] ➔ Prompt 組裝
       ▼
[LLM Completion] 推理預測
       ▼
[Tool Execution] 本地執行
       ▼
[Observation] 狀態反饋
       ▼
[Compaction / Stuck Check]
       ▼ 循環直到 Stop Token
✦ 優點：極簡、開銷低、狀態直觀
✦ 缺點：缺乏自校正、易陷入死循環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73736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E5A38"/>
                </a:solidFill>
                <a:latin typeface="Microsoft JhengHei"/>
              </a:rPr>
              <a:t>範式 2: 反思增強迴圈
(Reflection-Augmented)
</a:t>
            </a:r>
          </a:p>
          <a:p>
            <a:r>
              <a:rPr sz="950">
                <a:solidFill>
                  <a:srgbClr val="3B6E58"/>
                </a:solidFill>
                <a:latin typeface="Microsoft JhengHei"/>
              </a:rPr>
              <a:t>代表：Aider (run_one 核心), Hermes Verify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【控制流程圖解】
[LLM Edit Response]
       ▼
[Apply Diff Patch]
       ▼
[Run Linter &amp; AST Syntax]
       ▼
[Run Test Suite (測試集)]
       ▼ 失敗？
[Reflected Feedback] 注入錯誤訊號
       ▼ 重新請求 LLM (最多 3 次)
✦ 優點：產出代碼零語法錯誤
✦ 缺點：耗費額外 Token 與執行時間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73736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782A"/>
                </a:solidFill>
                <a:latin typeface="Microsoft JhengHei"/>
              </a:rPr>
              <a:t>範式 3: 協調工兵派工
(Coordinator-Worker)
</a:t>
            </a:r>
          </a:p>
          <a:p>
            <a:r>
              <a:rPr sz="950">
                <a:solidFill>
                  <a:srgbClr val="2C3E50"/>
                </a:solidFill>
                <a:latin typeface="Microsoft JhengHei"/>
              </a:rPr>
              <a:t>代表：Claude Code, Codex, Gemini CLI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【控制流程圖解】
[Lead Coordinator] 接收總目標
       ▼ 拆解為獨立子任務
[Fork Sub-Agent Context]
       ▼
[Worker 1]    [Worker 2]    [Worker 3]
(專門檢索)    (執行編譯)    (審核修改)
       ▼             ▼             ▼
[Task-Notification XML 摘要回傳]
       ▼
[Lead 合成結果並推進下一階段]
✦ 優點：保護主 Context、並行探索
✦ 缺點：協調複雜度高、Token 開銷大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05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論文圖形重繪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【原圖精緻重繪】Figure 2: 三大智慧體迴圈範式對比圖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2: Three Agent Loop Paradigms (arXiv:2609.00006v1)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1737360"/>
            <a:ext cx="1033272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4462272"/>
            <a:ext cx="101800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9E5A38"/>
                </a:solidFill>
                <a:latin typeface="Microsoft JhengHei"/>
              </a:rPr>
              <a:t>✦ 論文官方題註 (Caption)：Three agent loop paradigms: (a) iterative action-observation, (b) reflection-augmented with external linter feedback, and (c) coordinator-worker with sub-agent dispatch.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子圖 (a) 迭代迴圈：最經典的 Action-Observation 閉環，Stop 條件取決於 LLM 返回內容或預算計數器。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子圖 (b) 反思迴圈：Aider 的核心貢獻在於將 Linter/測試錯誤反饋 (TreeContext) 作為下一次 Prompt 的第一公民，實現自我修復。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子圖 (c) 協調者模式：Coordinator 派生 Worker 節點，非同步並行執行並透過 XML 摘要區塊回傳結果，保護主 Context 不被污染。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06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拓撲架構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【重繪論文圖六】六大多智慧體協同拓撲全景 (Figure 6)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6: Multi-Agent Topology Archetypes Across Eleven Production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992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1. 單代理獨立迴圈 (Single-agent)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代表：Mini-SWE-Agent, Aider, Pi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無派工工具 (No Spawn Tool)，專注單一 Context 反覆迭代，排除多代理複雜性。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0020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70992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E5A38"/>
                </a:solidFill>
                <a:latin typeface="Microsoft JhengHei"/>
              </a:rPr>
              <a:t>2. 循序委託 (Sequential)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代表：Mistral Vibe (task tool)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父代理啟動單一子代理，父級阻塞等待；子代理回傳摘要後銷毀，單次僅一個活躍。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0020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70992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4782A"/>
                </a:solidFill>
                <a:latin typeface="Microsoft JhengHei"/>
              </a:rPr>
              <a:t>3. 並行子會話 (Parallel Sessions)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代表：OpenHands, OpenCode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父代理並行發起多個工作 Session，各自維護獨立歷史記錄，並行執行加速探索。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3308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3E50"/>
                </a:solidFill>
                <a:latin typeface="Microsoft JhengHei"/>
              </a:rPr>
              <a:t>4. 階層式線程樹 (Thread Tree)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代表：Codex CLI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樹狀執行緒結構，支援深度追蹤 (Depth-tracked)、CSV 展開與任務失敗原子化剪枝回滾。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402336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413308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5. 遞迴組合 (Recursive)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代表：Claude Code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任何 Agent 皆可再遞迴生成子 Agent；跨 Fork 共享 System Prompt 快取，XML 摘要回傳。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4023360"/>
            <a:ext cx="3429000" cy="2240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33088"/>
            <a:ext cx="315468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E5A38"/>
                </a:solidFill>
                <a:latin typeface="Microsoft JhengHei"/>
              </a:rPr>
              <a:t>6. 註冊表與跨行程協議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代表：Gemini CLI, OpenClaw, Hermes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透過 Agent 註冊表依名稱調度，跨行程邊界透過 ACP / A2A / SQLite 協同通訊。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07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論文圖形重繪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【原圖精緻重繪】Figure 6: 六大多智慧體協同拓撲架構圖論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6: The Six Multi-Agent Orchestration Patterns (arXiv:2609.00006v1)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6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37360"/>
            <a:ext cx="621792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1737360"/>
            <a:ext cx="39620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9E5A38"/>
                </a:solidFill>
                <a:latin typeface="Microsoft JhengHei"/>
              </a:rPr>
              <a:t>✦ 論文官方題註 (Caption)：
The six multi-agent orchestration patterns: red nodes spawn, blue nodes execute actions, dashed boxes represent process or session boundaries.
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✦ 原圖拓撲與工程細節研析：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拓撲節點定義：紅色為派工節點 (Spawn)，藍色為執行動作 (Action)，虛線框代表進程或會話邊界。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極簡陣營的自律：單代理與循序委託徹底避免非同步分支導致的狀態競爭與 Context 膨脹。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E4856"/>
                </a:solidFill>
                <a:latin typeface="Microsoft JhengHei"/>
              </a:rPr>
              <a:t>• 原廠陣營的工業實力：Codex 線程樹與 Claude 遞迴派工跨分支共享只讀快取，並支援分支失敗剪枝。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08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記憶架構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【重繪論文圖四】四種記憶與上下文管理策略 (Figure 4)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4: Four Practical Context Management Strategies in Increasing Sophistication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146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6E58"/>
                </a:solidFill>
                <a:latin typeface="Microsoft JhengHei"/>
              </a:rPr>
              <a:t>策略 1: 線性歷史
(Linear History)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代表：Mini-SWE-Agent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【架構原理】
無限制線性增長，完全仰賴現代超長 Context (1M)。適合短期評測，長程必衰退。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00200"/>
            <a:ext cx="25146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73736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9E5A38"/>
                </a:solidFill>
                <a:latin typeface="Microsoft JhengHei"/>
              </a:rPr>
              <a:t>策略 2: 遞迴二分摘要
(Recursive Halving)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代表：Aider (ChatSummary)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【架構原理】
Token 超標時平分兩半：保留最近 50% 尾端，前半段用弱模型遞迴摘要合併。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25146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73736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6E58"/>
                </a:solidFill>
                <a:latin typeface="Microsoft JhengHei"/>
              </a:rPr>
              <a:t>策略 3: 可插拔壓縮器
(Pluggable Condenser)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代表：OpenHands SDK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【架構原理】
抽象 Condenser 基類，壓縮與事件溯源結合，壓縮操作本身即為可重放事件。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00200"/>
            <a:ext cx="25146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173736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9E5A38"/>
                </a:solidFill>
                <a:latin typeface="Microsoft JhengHei"/>
              </a:rPr>
              <a:t>策略 4: 閾值邊界壓縮
(Threshold Compaction)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代表：Claude Code, Codex, Gemini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【架構原理】
預留 13K Buffer 觸發：剝離圖片與日誌、結構化總結、邊界隔離並還原核心檔案。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09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安全架構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【重繪論文圖五】Claude Code 與 Codex 安全防禦棧 (Figure 5)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5: Multi-Layered Permission Stacks and Sandboxing in Tier-1 Harnesses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B6E58"/>
                </a:solidFill>
                <a:latin typeface="Microsoft JhengHei"/>
              </a:rPr>
              <a:t>Claude Code: 優雅的三層權限防禦體系 (Figure 5)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✦ Layer 1: 宣告式權限比對 (Declarative Matching)
   靜態 Glob 與前綴比對規則（如唯讀目錄、允許讀取白名單），未達模型即秒級放行或阻擋。
✦ Layer 2: 拒絕次數追蹤 (Denial Tracking)
   後台子代理僅開放 Layer 1~2（避免彈窗卡死）；持續追蹤單會話拒絕次數，超限後自動降級處置。
✦ Layer 3: 互動式人機提示 (Interactive Prompting)
   高危動作（修改檔案、發送網路請求）向前台使用者彈出審查對話框；子代理遇阻則升級至父級協調器處理。
★ 核心設計：權限狀態每代理隔離，杜絕非同步並行時的跨代理權限污染。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9E5A38"/>
                </a:solidFill>
                <a:latin typeface="Microsoft JhengHei"/>
              </a:rPr>
              <a:t>Codex CLI: 四層防禦棧與原生沙盒隔離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✦ Layer 1: Starlark 執行策略 (Policy-as-Code)
   採用 Starlark 腳本撰寫 prefix_rule 與 network_rule；支援在策略檔內撰寫可執行測試案例。
✦ Layer 2: 生命週期 Hooks
   吸收 Claude Code 事件詞彙 (PreToolUse, PermissionRequest, PostToolUse)，支援外部阻斷攔截。
✦ Layer 3: Guardian 專屬審批模型
   在需要時呼叫獨立輕量 Guardian 模型審查潛在惡意行為。
✦ Layer 4: 原生 OS 容器沙盒 (Bubblewrap / Seatbelt)
   Linux 採用 Bubblewrap 命名空間微隔離 (--ro-bind, --unshare-net, --unshare-pid)，杜絕主機穿透。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派工流模型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【重繪論文圖七】協調者與工兵四階段派工流 (Figure 7)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Figure 7: Lead Agent Orchestrating Whitelisted Workers through Structured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1188720"/>
          </a:xfrm>
          <a:prstGeom prst="roundRect">
            <a:avLst/>
          </a:prstGeom>
          <a:solidFill>
            <a:srgbClr val="EAF0EC"/>
          </a:solidFill>
          <a:ln w="19050">
            <a:solidFill>
              <a:srgbClr val="3B6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3E50"/>
                </a:solidFill>
                <a:latin typeface="Microsoft JhengHei"/>
              </a:rPr>
              <a:t>✦ 主協調代理 (Lead Coordinator) —— 掌握全域專案狀態與階層推進
</a:t>
            </a:r>
          </a:p>
          <a:p>
            <a:r>
              <a:rPr sz="1000">
                <a:solidFill>
                  <a:srgbClr val="3E4856"/>
                </a:solidFill>
                <a:latin typeface="Microsoft JhengHei"/>
              </a:rPr>
              <a:t>負責將複雜需求拆解，依序推進四個不可逆階段；指派具備嚴格工具白名單（16 Tools）之非同步工兵代理，並即時合成回傳之 XML 報告。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2514600" cy="3383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階段 1: Research (調研)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唯讀檢索子代理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FileRead, Grep, Glob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WebSearch, WebFetch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探索架構並提煉假說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僅回傳關鍵行號與摘要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2971800"/>
            <a:ext cx="2514600" cy="3383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3108960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E5A38"/>
                </a:solidFill>
                <a:latin typeface="Microsoft JhengHei"/>
              </a:rPr>
              <a:t>階段 2: Synthesis (合成)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主協調者決策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對比調研代理報告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校驗相依套件影響面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確認技術方案與補丁邊界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排定執行工兵修訂順序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971800"/>
            <a:ext cx="2514600" cy="3383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108960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4782A"/>
                </a:solidFill>
                <a:latin typeface="Microsoft JhengHei"/>
              </a:rPr>
              <a:t>階段 3: Implement (實作)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受限寫入工兵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FileEdit, FileWrite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Bash, EnterWorktree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嚴格白名單沙盒執行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拒絕未授權網路連線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2971800"/>
            <a:ext cx="2514600" cy="33832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3108960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3E50"/>
                </a:solidFill>
                <a:latin typeface="Microsoft JhengHei"/>
              </a:rPr>
              <a:t>階段 4: Verification (校驗)
</a:t>
            </a:r>
          </a:p>
          <a:p>
            <a:r>
              <a:rPr sz="950" b="1">
                <a:solidFill>
                  <a:srgbClr val="232D38"/>
                </a:solidFill>
                <a:latin typeface="Microsoft JhengHei"/>
              </a:rPr>
              <a:t>測試與審查工兵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執行測試集驗證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AST 語法樹靜態分析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若未通過立即回滾分支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產出交付報告閉環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11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 解析】七大子系統極小與極大實作光譜對照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1: Component Map of a Coding-Agent Harness (Minimal vs. Maximal)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2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081"/>
                <a:gridCol w="3185069"/>
                <a:gridCol w="2514528"/>
                <a:gridCol w="3185069"/>
                <a:gridCol w="502905"/>
              </a:tblGrid>
              <a:tr h="337185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Subsystem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Role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Minimal form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Maximal form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§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 loop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Alternates inference with action execution; owns stop conditions and failure recovery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a linear while over one bash tool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: event-sourced conversation over a persistent event log, with parallel action batches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integration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Speaks provider protocols; assembles the prompt; manages caching, thinking, routing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one LiteLLM call, one Jinja template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Hermes : five owned transports, 29 provider profiles; Codex : server-delivered model catalog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Tools &amp; actions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Defines and executes what the agent can do, file editing above all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bash only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: 43 typed tools with deferred loading; Codex : tool calls as V8-executed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8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Memory &amp; context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Rations the context window; persists knowledge across turns and sessions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unbounded linear history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: agent-maintained cross-session memory pipeline; Gemini CLI : graph-based context distillation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Safety &amp; permissions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Decides what runs, what asks, what is forbidden; isolates execution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cost and step limits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: policy rules + LLM approval reviewer + three-platform OS sandbox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10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Orchestration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Spawns and coordinates sub-agents; connects to other agents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Aider : none (single-agent by design)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: recursive composition; Omnigent : cross-vendor coordination (meta-layer)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11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Extensibility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Lets users and ecosystems add capability: config, hooks, skills, plugins, MCP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: structural typing (Python protocols)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 : everything-is-an-extension runtime; Codex : marketplace-distributed plugins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12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光譜跨越 4 個數量級：最小實作（Mini-SWE-Agent，~100 行）證明智慧體可極限微型化；最大實作（OpenHands / Claude Code）展現了工業級十萬行安全與容錯底座。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可選擇性缺席：七大子系統中，僅多代理協同 (D6) 出現刻意缺席（如 Mini-SWE/Aider 堅持單代理），其餘六項均為必備運行要件。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工程升級指引：團隊初期可借鑑 Minimal Form 迅速上線，隨業務負載增加逐步向 Maximal Form（事件溯源、沙盒、遞延工具）演進。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12 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2 解析】2026 年中更廣闊的 Harness 市場全景版圖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2: The Broader Coding-Agent Harness Landscape (Non-corpus Systems)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548640"/>
                <a:gridCol w="731520"/>
                <a:gridCol w="2926080"/>
              </a:tblGrid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Vendor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OSS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Stars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Note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Antigravity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Google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Announced May 2026 as Gemini CLI ’s successor; closed-source Go binary; consumer service cut over June 18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Copilot CLI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GitHub/Microsoft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GA Feb. 2026; autopilot + fleet modes; deep GitHub integration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Grok Build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xAI (SpaceX)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May 2026; Rust; plan-first loop; ACP server; AGENTS.md/MCP/skills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Cursor CLI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Anysphere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IDE-harness parity in the terminal; $60B SpaceX acquisition pending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Kiro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Amazon/AWS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ex-Q Developer; spec-driven development identity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Cline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Cline Bot Inc.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∼ \sim 64k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5M+ IDE installs; plan/act workflow; Roo/Kilo fork family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Goose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Block / Linux Found.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∼ \sim 29k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Rust; native MCP; donated to Agentic AI Foundation Apr. 2026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Claw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Community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∼ \sim 100k+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Self-described clean-room Python/Rust reimplementation of Claude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Crush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Charmbracelet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∼ \sim 26k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Go-native, LSP-aware TUI; ex-opencode (Go) lineage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Qwen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Alibaba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∼ \sim 26k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Gemini CLI fork for Qwen coder models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Kimi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Moonshot AI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∼ \sim 9k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Skills, MCP, “agent swarm” parallelism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Trae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ByteDance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∼ \sim 12k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Research-friendly Python CLI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Droid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Factory AI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Terminal-Bench SOTA Sept. 2025; enterprise CI focus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Amp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Sourcegraph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Ad-supported free tier; deep-mode research workflows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Continue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Continue.dev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∼ \sim 30k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Multi-surface (IDE+CLI); local/privacy focus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市場全面爆發與原廠進駐：除 11 款深入審查系統外，包括 Google Antigravity、GitHub Workspace、Amazon Q 等原廠皆全面推出獨立 Runtime。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Goose、Cline 與 Roo Code 代表了編輯器原生 (Editor-native) 陣營的巨大社群力量（星數破萬）。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通用框架廠商（如 LangChain 的 Deep Agents）亦被迫下場打造專屬 Harness，進一步驗證了「純框架時代終結」的論斷。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3 解析】11 款系統入選準則、Commit 版本與代表性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3: System Selection Criteria and Repository Snapshots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731520"/>
                <a:gridCol w="146304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Provider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Language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Version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Selection Rationale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(ex-All-Hands-AI)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V1 SDK v1.34.0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Mature modular framework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Community (P. Gauthier)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v0.86.3.dev (May 2026; maintenance mode)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Polymorphic edit strategies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source snapshot Mar. 2026 (binary 2.1.206, 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Anthropic’s flagship 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rust-v0.144.1 (Jul.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OpenAI’s flagship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Google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v0.50.0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Google’s flagship 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 AI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v2.19.1 (Jul.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Mistral’s flagship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Princeton/Stanford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v2.4.5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Minimalist research baseline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Nous Research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0.18.2 (rel. 2026.7.7.2, 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Self-improving skills; hybrid personal/SWE harness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earendil-works (M. Zechner)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v0.80.6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Minimal core, maximal extensibility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Anomaly (ex-SST)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v1.17.18 (Jul.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Client/server architecture; most-starred dedicated coding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Community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v2026.6.11 (Jul.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Contrast: multi-channel assistant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Omnigent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Databricks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v0.4.0 (Jul. 2026)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Contrast: meta-harness above harnesses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多樣性與覆蓋度兼備：樣本涵蓋 TypeScript (Claude, Gemini, OpenCode, Pi)、Python (OpenHands, Aider, Vibe, Hermes) 與 Rust (Codex)。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嚴謹的時間戳釘選：所有系統均精確釘選於 2026 年 7 月版本 Tag 與 Commit，並與 4 月初版進行精確的 90 天差異對比 (Diff)。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引入 Omnigent 作為對照：Omnigent 自身不包含編輯迴圈，專門調度 11 家原廠 Harness，為元架構 (Meta-Harness) 提供第一手實證。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14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4 解析】11 款系統高階架構特性與招牌特徵比較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4: High-level Comparison and Signature Capabilities Across Corpus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829"/>
                <a:gridCol w="584072"/>
                <a:gridCol w="584072"/>
                <a:gridCol w="667512"/>
                <a:gridCol w="584072"/>
                <a:gridCol w="584072"/>
                <a:gridCol w="834390"/>
                <a:gridCol w="667512"/>
                <a:gridCol w="1251585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Scale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Provider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Multi-ag.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Sandbox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UI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Signature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Medium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25+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Docker/ Apptainer/ remote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Web+CLI +SDK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Resource-locked parallel tools; hosts rival harnesses as ACP backends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Small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13 fmt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13 polymorphic edit formats; the corpus’s only ranked repo map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Large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43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Opt-in runtime + worktree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Deferred tool loading; prompt-cache-sharing forks; the reference others copy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Very lg.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25–30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Native (3 OS)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Agent-maintained cross-session memory; tool calls as V8-executed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Very lg.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Google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35+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Native (3 OS)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 routing as runtime scheduling; the corpus’s only A2A server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Small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Mistral+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12+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Worktree opt.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Middleware-pipeline loop; rewind exposed over ACP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Tiny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Docker+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The 100-line floor: all seven subsystems, minimally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Very lg.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 (owned)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69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6 pluggable backends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CLI/TUI/ Web+28 ch.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Self-improving skill loop; lineage compaction; verify-on-stop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Medium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Multi, 35 prov.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Ext.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(by design)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CLI/TUI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Everything-is-an-extension core; session-tree version control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Large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17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(policy)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Client/ server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Client/server harness; syntax-aware command permissioning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Large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109+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Multi-ch.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Gateway delegation; Active-Memory sub-agent before each reply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原廠系統專注垂直深度：Claude Code 聚焦 Prompt 快取與唯讀子代理；Codex 主打 Rust 二進位效能與 in-tree Bubblewrap 沙盒。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開源系統追求生態適配：OpenHands 主打事件溯源與多模型調度；Aider 追求極致 Token 節省與 Git 原子性提交。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極簡派對抗過度工程：Pi 以極簡微核心與每輪快取成本審計，證明小巧架構具備極高的可維護性與清晰性。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15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5 解析】各系統驅動迴圈型態、並行度與卡死偵測機制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5: Detailed Agent Loop Characteristics Across Eleven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19"/>
                <a:gridCol w="1828799"/>
                <a:gridCol w="1463039"/>
                <a:gridCol w="1188719"/>
                <a:gridCol w="1005839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Loop Type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Concurrency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Stuck Detect.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Stop Cond.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Event-sourced conversation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Parallel batches (resource locks; limit default 1)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5 scenarios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State=FINISHED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Generator + reflect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Sequential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Max reflections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stream end, no reflection pending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Streaming + batch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Safety-partitioned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(manual)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Tokio async SM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FuturesOrdered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Async-gen + scheduler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Parallel; edits forced sequential; model-visible wait_for_previous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Hybrid: SHA-256 + LLM check after 30 turns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 / 100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Async + middleware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asyncio.create_task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Middleware (turn/price/token/compact)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Linear while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Sequential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step limit; format-error cap; wall clock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exit message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Budgeted while + stop-guards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Parallel batches (8 workers, safety-gated)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SHA-256 call signatures (warn-first)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text response unless verify-on-stop vetoes; 90-iter budget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Functional while + steer/followUp queues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Promise.all ; per-file mutation queue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(by design)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end_turn (no cap)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Log-as-queue while(true)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Parallel, uncapped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Doom-loop → \to permission ask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 tool calls; steps ?? Infinity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Event-driven ACP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RPC isolation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Rate limit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 end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控制流分化：從簡單的 Async While-Loop 走向中間件管線 (Mistral Vibe) 與日誌即佇列 (OpenCode Log-as-Queue)。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卡死偵測 (Stuck Detection) 務實化：商業旗艦系統（Claude/Codex）不依賴過於複雜的啟發式，而是依靠計數上限與人機升級處理。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工具並行執行：成熟系統普遍支援 Promise.all 或非同步線程批次執行唯讀工具，但在寫入時嚴格以檔案路徑加鎖序列化。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16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6 解析】提示詞工程架構：分段、快取對齊與動態組裝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6: Prompt Engineering Architectures Across Eleven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1737360"/>
                <a:gridCol w="1188720"/>
                <a:gridCol w="82296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Architecture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Sections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Caching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Template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PromptRegistry with cache tiers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18 named static sections (Soul, Role, Security, …) + dynamic block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STATIC/DYNAMIC two-block assembly; cache_control markers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Python; .j2 escape hatch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Polymorphic CoderPrompts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Per-edit-format prompts, repo-map, examples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 markers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 classes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Modular sections with boundary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12–15 named sections, static/dynamic split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Blake2b hash, boundary marker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TypeScript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Server-delivered per-model prompts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Capabilities, personality (user-templated), AGENTS.md, planning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thread_id cache key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Model-catalog data (bundled fallback)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PromptProvider + capability gating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Base, tools, GEMINI.md (global/proj/ext), IDE ctx, memory, skills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(rebuilt on model change)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 snippets (modern/legacy)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Per-agent prompts + A/B variants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Base, tools, git status, date, subagent roster, scratchpad, AGENTS.md contents, agent override, skills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Git status cached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Markdown files (GrowthBook-selected variant)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Jinja2 one-shot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system_template, instance_template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 markers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YAML-embedded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Three-tier assembly (stable/context/volatile), built once per session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∼ \sim 15 guidance blocks, model-family-gated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system_and_3 markers + bit-perfect prefix normalization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Python constants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Single ∼ \sim 170-line builder; tool snippets co-vary with active toolset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Persona, tools, deduplicated guidelines, project context, skills XML, date, cwd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cache_control breakpoints + TTL tiers + waste audit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TS concatenation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Model-family prompt matrix (9 base prompts by model-id substring)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Base, env block, AGENTS.md, MCP instructions, skills catalog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Six-dialect breakpoints; promptCacheKey =sessionID; system capped at 2 messages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.txt files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translator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 config, tool list, thinking level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Per-provider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Runtime config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快取對齊邊界 (Cache Boundaries)：頂尖系統普遍劃分「靜態前綴（身分、工具宣告）」與「動態後綴（環境、任務歷史）」以利 KV 快取命中。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設定檔與 Markdown 自動注入：所有成熟系統均支援自動發現專案層級規格文件 (AGENTS.md, CLAUDE.md, GEMINI.md)。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模板技術演進：從傳統 Jinja2 字符串拼接全面邁向型別安全、基於 AST 的結構化 Prompt 組裝器。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7 解析】檔案編輯策略演化：精確比對、Diff 與模糊寬容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7: File Editing Strategies Across the Eleven Systems (July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19"/>
                <a:gridCol w="1645919"/>
                <a:gridCol w="1645919"/>
                <a:gridCol w="1188719"/>
                <a:gridCol w="1005839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Format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Matching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Fallback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Innovation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string replacement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Unique substring in file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Error + context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Zod schema validation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*** Begin/End Patch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Unified diff hunks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Hunk-level retry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Custom patch DSL; Lark-grammar-constrained variant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13 formats (SEARCH/ REPLACE, udiff, diff-fenced, …)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→ \to fuzzy (dmp)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Similar line suggestions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RelativeIndenter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str_replace_editor (5 cmds) + apply_patch + Gemini-ported edit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unique match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Error message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undo_edit; three coexisting edit dialects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edit (old/new string) + write_file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Cascading: exact → \to flexible → \to regex → \to fuzzy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LLM “edit fixer” subcall repairs the pair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LLM-assisted edit repair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edit (old/new string, replace_all ) + create-only write_file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unique substring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Tool error on ambiguity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Migrated off fuzzy SEARCH/REPLACE (Apr → \to Jul)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sed/awk via bash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Regex-based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Shell error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(model-driven)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One patch tool: SEARCH/REPLACE + V4A DSL (+ write_file 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9-strategy fuzzy chain (exact → \to … → \to block-anchor 0.50/0.70 → \to context-aware 0.80)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Closest-line suggestions; escalate to write_file after 3 failures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Two-phase validate-then-apply; backend-transparent shell file ops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Multi-edit exact replacement ( edits[] , overlap rejection)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Exact → \to Unicode/whitespace canonicalization (no similarity threshold)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Uniqueness guidance error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Byte-fidelity overlay; async diff preview before execution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Model-conditional: apply_patch DSL (GPT family) or SEARCH/REPLACE edit (others)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9-stage replacer cascade (Levenshtein 0.65) / 4-pass patch relaxation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Distinct not-found vs. ambiguous errors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Editing dialect swapped per model in the registry; LSP diagnostics appended to results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N/A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N/A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N/A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Not a code editor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整檔重寫 (Whole-file rewrite) 徹底被淘汰：僅在極少數極簡場景作為最後 Fallback，主流全面轉向區塊局部替換。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模糊匹配瀑布 (Fuzzy-matching Cascade)：OpenCode 與 Aider 採用九階 Levenshtein 與相對縮排比對，補丁成功率高達 95% 以上。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原廠頂級模型回歸精確匹配：Claude Code 與 Codex 仰賴 Frontier 模型的強大代碼定位能力，採用精確唯一子字串替換以確保絕對安全。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8 解析】執行沙盒與隔離機制：Docker、Bubblewrap 與 Seatbelt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8: Execution Sandboxing Mechanisms (July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468880"/>
                <a:gridCol w="1737360"/>
                <a:gridCol w="128016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Mechanism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Isolation Level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Investment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Workspace abstraction: Docker, Apptainer, remote-API, cloud workspaces (KVM passthrough app-side)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Process + filesystem + network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Substantial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Bubblewrap (vendored, compiled in-tree) + Landlock legacy fallback (Linux), Seatbelt (macOS), restricted tokens (Windows)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OS-level namespaces + filesystem + network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Substantial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Docker / Bubblewrap / gVisor / LXC (Linux), Seatbelt via sandbox-exec (macOS), restricted tokens (Windows); TOML policies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OS-level + per-mode policy + env scrubbing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Moderate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Opt-in OS sandbox via Anthropic’s sandbox-runtime (Bubblewrap/Seatbelt) with network restrictions; git worktrees for branch isolation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OS-level (opt-in) + filesystem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Moderate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Docker, Singularity, Bubblewrap (pluggable)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Configurable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Light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Six pluggable execution backends (local, Docker, SSH, Singularity, Modal, Daytona); local backend = policy floor, no OS primitives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Per-backend (container/VM); none locally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Delegated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OS-level; opt-in --worktree branch isolation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Filesystem (branch-level, opt-in)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built-in, with documented rationale; opt-in extensions (Anthropic sandbox-runtime , QEMU micro-VM) via per-tool Operations seam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by default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(extension-space)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(permission rules + tree-sitter command parsing; shadow-git checkpoints; “sandbox” in-tree means worktrees)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(policy-only)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(direct local execution)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(local gateway execution)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輕量化 OS 沙盒取代繁重 Docker：Codex 與 Gemini CLI 大規模採用 Linux Bubblewrap 與 macOS Seatbelt，實現毫秒級命名空間隔離。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網路出站過濾 (Egress Filtering)：沙盒標配阻斷未經許可之外網訪問，從物理層面杜絕 Prompt Injection 導致的金鑰外洩。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開發者與生產環境分級：本機半信任環境採用工作目錄唯讀掛載；自動化雲端環境啟用完整容器微隔離。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19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9 解析】九大多智慧體系統協同機制、通訊與工具過濾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9: Multi-Agent Orchestration Across Nine Multi-Agent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39"/>
                <a:gridCol w="1463039"/>
                <a:gridCol w="1463039"/>
                <a:gridCol w="1371599"/>
                <a:gridCol w="731519"/>
                <a:gridCol w="640079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Mechanism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Isolation / inherit.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Communication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Depth / parallelism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 filtering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+ delegate tools → \to separate conversations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Fresh event log per child; metrics synced back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Summary return; conversation tree navigation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Nesting supported / concurrent threads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Markdown frontmatter (tools, skills, permission mode)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AgentTool + context fork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Forked context (6 dimensions), shared rendered prompt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Return + XML notifications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Recursive / true parallel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16-tool whitelist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spawn_agent v1/v2 (per-model)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Thread tree; SpawnAgentForkMode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 input queue with mailbox phases; typed InterAgentCommunication records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Depth-tracked / parallel + CSV fan-out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Inherited + filtered; TOML roles (explorer, awaiter)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invoke_agent tool; registry defs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Isolated registries per instance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Symmetric local/remote session protocol; A2A RPC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Flat + remote / sequential in turn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Per-definition toolConfig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tool → \to new AgentLoop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Fresh config + session dir; inherits permission store, scratchpad, hooks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Event forwarding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 hop / sequential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Subagent-tagged profiles only (explore)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delegate_task in-process forks; Kanban swarm subprocesses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Fresh context, own task id; provider/creds inherited, no history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Spawn-time goal; streamed events; summary return; SQLite blackboard (swarm)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 by default, orchestrator role unlocks nesting / 3 concurrent (pool)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Intersection with parent + 6-tool blocklist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 (ext.)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Extension spawns pi --mode json -p OS processes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Hard process isolation; fresh context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Child JSONL stdout parsed for progress/cost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Unbounded (no counter) / pool of 4, max 8; sequential chain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Child --tools flag from agent frontmatter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tool → \to child Session (same loop)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parentID sessions; child inherits parent’s deny + external-directory rules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&lt;task_result&gt; XML; background results as synthetic user messages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Recursion off by default, opt-in unbounded / parallel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Permission rulesets (deny "*" hides tool)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session spawn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Child processes; fresh session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delta events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Recursive / parallel (RPC)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Session-scoped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行程內協同 (In-process) 是主流：內部派工 80% 採用記憶體內通道或函數呼叫，避免外部 RPC 導致的延遲與序列化消耗。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工具白名單強制約束：子代理（工兵）普遍僅被授予 4~16 項安全唯讀或受限工具，嚴禁任意衍生未授權連網行為。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快取無縫繼承：父代理在 Fork 子代理時，原樣凍結父級已編譯的 System Prompt，確保子代理首輪命中快取。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20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10 解析】技能體系 (Skills) 支援、發現路徑與加載規範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10: Skills Support Across Eleven Systems (Spec Conformance)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48640"/>
                <a:gridCol w="2103120"/>
                <a:gridCol w="1463040"/>
                <a:gridCol w="146304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Skills?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Discovery paths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Invocation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Spec / loading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.claude/skills/ , ~/.claude/skills/ , plus dynamic discovery on file edits gated by paths frontmatter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SkillTool (deferred); MCP prompts dedup’d via uniqBy on name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Custom (path-gated extension); hybrid eager + on-demand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core-skills/ + skills/ roots; plugin-provided skill roots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skills/list app-server RPC + TUI $ -mention; implicit-invocation detection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Custom Rust; metadata eager under a context-scaled token budget, body injected on $-mention or detected invocation; skills declare MCP/env dependencies that Codex auto-installs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~/.gemini/skills/ , .gemini/skills/ , .agents/skills/ , plus built-ins ( skill-creator , antigravity-support ); precedence workspace &gt; &gt; user &gt; &gt; built-in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ActivateSkill tool wraps skill in XML with available_resources tree; permission-confirmation UI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agentskills.io-aligned with isBuiltin extension; eager startup walk; path-traversal-hardened installs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.agents/skills/ , .vibe/skills/ , ~/.vibe/skills/ , ~/.agents/skills/ , user skill_paths ; trust-gated project discovery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 tool (deferred); user /skill-name invocations materialized as synthetic tool calls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agentskills.io compliance; remote registry client (versioned catalog); builtin self-awareness skill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{workdir,git-root}/.agents/skills/ , .openhands/skills/ (+legacy microagents); user equivalents + managed installs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Metadata in &lt;available_skills&gt; ; body on demand via builtin invoke_skill tool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 flag; progressive disclosure ; PathTrigger rules on file-touch; server CRUD/sync/marketplace API; ingests AGENTS.md/.cursorrules as scoped rules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~/.hermes/skills/ (seeded from 72 bundled; 102 more official skills installable via the Skills Hub) + read-only external_dirs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Three-tier progressive disclosure: index in prompt → \to skill_view → \to linked assets; skills double as slash commands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agentskills.io-compatible; trust-tiered Skills Hub (builtin/trusted/community) with pre-install scanning and quarantine; self-authoring via skill_manage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~/.pi/agent/skills/ , ~/.agents/skills/ , .pi/skills/ , .agents/skills/ (cwd to git root), packages, --skill ; project paths trust-gated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 dedicated tool: &lt;available_skills&gt; XML index; body loaded via the ordinary read tool; /skill:name expansion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agentskills.io, deliberately lenient (warns, still loads); disable-model-invocation gating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{skill,skills}/**/SKILL.md in config dirs, ~/.claude/skills , .claude/ , .agents/ walk-up, extra paths, remote URL registries (versioned index.json cache)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Native skill tool (deferred: catalog lists name+description only)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 field set; per-skill permission gating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~/.openclaw/skills/ , .agents/skills/ , plugin-provided, skills.load.extraDirs config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Injected as XML in system prompt; /skills slash command lists eligible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agentskills.io-compatible; gating via metadata.openclaw.requires ( bins , env , OS); governed installs (Skill Workshop approval flow, provenance-verified ClawHub)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SKILL.md 確立為事實標準：11 款系統中高達 9 款原生支援，普遍相容 `.agents/skills/` 與 `.claude/skills/` 路徑。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YAML Frontmatter 元資料治理：透過 name、description、paths 與 requires 定義前置觸發條件。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遞延加載 (Deferred Loading) 大規模普及：技能平時不佔用 Context 窗口，唯有任務匹配時動態掛載全文。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21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11 解析】29 項經典架構模式編目 (1/2：春季 17 項經典模式)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11: Catalog of 29 Recurring Architectural Patterns (Part 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/>
                <a:gridCol w="3291839"/>
                <a:gridCol w="1920239"/>
              </a:tblGrid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Pattern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Description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Used By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Event Sourcing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Actions/observations appended to a persistent event log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, Pi (session log-as-tree), OpenCode (log-as-queue; v2 tables)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Policy-as-Code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Safety rules as executable configurations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(Starlark, with inline validated examples), Claude Code (hooks), Gemini CLI (TOML modes), Hermes (config-as-policy + hardline floor), OpenCode (rulesets), Pi (extension hooks)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Recursive Composition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Agents spawn sub-agents with forked/linked context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, OpenHands , OpenClaw ; config-gated in Hermes , opt-in in OpenCode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Polymorphic Edits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Model-aware edit format/toolset selection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Aider (prompt factory), OpenCode (tool registry)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Deferred Loading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Tools/skills hidden from prompt, discovered on demand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(BM25 tool_search ), Hermes (BM25 bridge tools), + 8 skills implementations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Template Method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Base class defines flow; subclasses override parse/format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Aider (Coder), OpenHands (Agent)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Protocol Interfaces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Structural subtyping / interface seams for pluggable components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, Pi (per-tool Operations remoting seam)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Summarization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LLM compresses conversation history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 systems (all but Mini-SWE-Agent , Aider -partial)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Stuck Detection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Automated detection of repetitive agent behavior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(5 scenarios), Gemini CLI (hybrid hash+LLM), Hermes (warn-first signatures), OpenCode (doom-loop ask), Mini-SWE-Agent (format-error cap)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Reflection Loop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Inner self-correction cycle with lint/test feedback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Aider ; cousins: Gemini CLI (edit fixer), OpenCode (LSP feedback)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Prompt Caching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Cache-boundary prompt structure or session-key reuse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, OpenHands (cache tiers), Hermes (prefix normalization), Pi (breakpoints+TTL), OpenCode (dialect fanout)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Context Forking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Cloning parent state for sub-agent isolation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, Hermes (cache-sharing background fork)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Middleware Pipeline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Composable turn-level policies orthogonal to loop body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JIT Repo Context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Hierarchical Markdown context files auto-discovered + on-demand injection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, Codex , Gemini CLI , Mistral Vibe , Hermes , Pi , OpenCode , OpenHands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Skills (capability bundles)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SKILL.md directories with YAML frontmatter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9 systems (all but Aider , Mini-SWE-Agent 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Conditional Activation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Skills/tools gated by environment or file paths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( paths ), OpenHands ( PathTrigger ), OpenClaw ( requires 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Turn-Level Checkpoint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Filesystem snapshots with rewind and file restoration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Mistral Vibe (per user message), OpenCode (shadow-git, per step), Hermes (shadow-git store), Pi (conversation-only)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實踐模式的高度收斂：事件溯源 (Event Sourcing)、Prompt Caching 邊界、工作區快照、模糊代碼補丁被跨廠商廣泛採納。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從經驗走向模式化：早期的 Ad-hoc 腳本技巧已被提煉為清晰的軟體架構模式（如反思外環、遞歸摘要）。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架構師選型必備字典：這 17 項模式構成了評估自研或採購 AI Agent 運行時的黃金檢查清單。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22 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12 解析】29 項經典架構模式編目 (2/2：夏季新增 12 項模式)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12: Catalog of 29 Recurring Architectural Patterns (Part 2/2: Summer Additions)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1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/>
                <a:gridCol w="3291839"/>
                <a:gridCol w="1920239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Pattern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Description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3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Used By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Agent-Maintained Memory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Background sub-agent extracts and consolidates cross-session memory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(two-phase, git-baselined); human-gated variant in Gemini CLI (patch inbox)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Outer Verification Loop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Scaffold-level judge/guard validating completion, outside the turn loop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( /goal judge + critics), Hermes (verify-on-stop)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Self-Improving Skill Loop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 authors, patches, and curates its own capability bundles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Hermes ; partial: Gemini CLI (skill-extraction inbox)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Lineage Compaction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Compaction as session rotation with searchable ancestry chain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Session-Tree Version Control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Append-only entry tree with movable head; fork/rewind/branch summaries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 ; OpenHands (conversation tree)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Minimal-Core / Extension-Host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Safety, sandbox, sub-agents, plan mode relocated to a runtime event bus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Client/Server Harness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Embedded API server; every UI (TUI, web, IDE, CI) is a client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OpenCode ; OpenHands (agent-server)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Model-Family Prompt Matrix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Distinct base prompts dispatched per model family/generation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Codex (server catalog), OpenCode (9 prompts), Hermes (gated blocks)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Cache-Dialect Fanout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All providers’ cache-control dialects emitted simultaneously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Syntax-Aware Command Permissioning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Commands parsed (tree-sitter) and grants scoped by argument arity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OpenCode ; Mistral Vibe (parse-validation), Hermes (deobfuscated matching)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Untrusted-Content Delimiting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Tool/web results wrapped in taint markers with delimiter defanging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Hermes , OpenHands ( &lt;UNTRUSTED_CONTENT&gt; 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Mimicry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Client presents a first-party harness’s identity (headers, prompt opening, tool-name casing) to ride its subscription OAuth backend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 (Claude Code identity on Anthropic OAuth; ChatGPT-plan Codex backend)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向生產級縱深演進：新增模式包含代理自主記憶 (Agent-Maintained Memory)、Starlark 策略腳本、ACP 通訊與元協調模式。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外部驗證環 (Outer Verification Loop)：在 Agent 結束退出前引入獨立審查守護者，確保交付物完全吻合使用者預期。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生態相容性模式：包括鄰居設定檔相容 (Neighbor Config Compatibility)，能夠無縫識別其他廠商的 Markdown 規則。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23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13 解析】代碼檢索機制全景：確定性工具對向量 RAG 的全面替代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13: Code-Retrieval Mechanisms in Lieu of Vector-based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0160"/>
                <a:gridCol w="420624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Embeddings used?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Code-retrieval mechanism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GrepTool / GlobTool + terminal; context-file ingestion (AGENTS.md, .cursorrules); tree-sitter no longer present in the SDK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Optional /help extra only (doc-RAG over aider’s own docs)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RepoMap : tree-sitter symbol extraction with token-budget-constrained PageRank-style ranking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ripgrep keyword search + BashTool + on-demand file Read; CLAUDE.md auto-discovery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Rust-native file search; AGENTS.md root-to-cwd concatenation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Bundled ripgrep + glob tools; GEMINI.md auto-discovery; MEMORY.md project index; JIT subdirectory context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ripgrep + tree-sitter (bash parsing) + filesystem search; git status injection; JIT nested AGENTS.md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Grep-based search via shell tools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Opt-in memory plugins only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ripgrep-backed search_files ; SQLite FTS5 (BM25 + trigram) over session history ; LSP for post-write diagnostics only; no repo map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Auto-downloaded ripgrep + fd binaries (latest release; system binaries preferred) behind grep / find tools; ancestor-walk context files; session search is a deterministic linear scan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Bundled ripgrep ( grep / glob , 100-result cap); ∼ \sim 25 auto-downloaded LSP servers feed diagnostics (no persistent index); lazy nested AGENTS.md attach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Default hybrid memory search (sqlite-vec KNN + FTS5/BM25; OpenAI embedder by default, local GGUF opt-in) for conversation memory only , never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N/A for code retrieval; standard filesystem APIs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向量 Embeddings 零採用率：在 11 款生產級系統中，用於原始碼檢索的向量資料庫採用率為不可思議的 0/11。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確定性檢索武器庫統治地位：一線系統全部採用 ripgrep (全域正則)、tree-sitter (AST 語法樹) 與結構化 Markdown 引導。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即時性與準確性完勝：代碼具有極其精確的語法符號性且分秒都在變動，確定性工具既無需耗時計算索引，又具備 100% 確定命中率。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24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14 解析】主從代理通訊機制與協議部署定位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14: Main-Agent to Sub-Agent Communication and Protocol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3474720"/>
                <a:gridCol w="1493215"/>
              </a:tblGrid>
              <a:tr h="269748"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Main ↔ \leftrightarrow sub-agent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Protocol roles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Sub-agents cross-proc.?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AgentTool function call + context fork + XML notifications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at agent layer (ACP served by a separate adapter binary)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Session input queue with mailbox phases; typed records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 at agent layer ( codex-acp adapter external)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invoke_agent behind local/remote session protocol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A2A server (mesh role)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 (internal)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tool, in-process asyncio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server (editor role; rewind over protocol)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Task/delegate tools, concurrent threads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client/host : rival harnesses as step() backends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 (own sub-agents)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In-process thread forks; swarm via SQLite blackboard subprocesses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server (editors) and client (Copilot CLI as model backend)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Swarm: yes (DB, not protocol)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Extension spawns OS processes, JSONL over stdio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Proprietary JSONL RPC ( ∼ \sim 30 commands) for embedding; ACP/A2A/MCP absent by design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 (ext.; JSONL, not ACP)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task tool, in-process child sessions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server (agent side, stdio ndjson)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ACP session spawn over RPC (child process)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Same ACP inward and outward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Yes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內部通訊維持行程內：8/9 的多代理系統內部協同堅持使用 In-process Primitives，避免跨行程 RPC 開銷。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外部通訊全面擁抱標準協議：ACP (Agent Client Protocol) 成為連接 IDE 與外部宿主機的統一標準。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協調協議的內外分明：對外開放標準化接口以利納管，對內保持緊湊的高效能資料管道。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25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15 解析】Harness 與 Framework 的歷史性雙向合流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15: The Harness-Framework Merger: Named, Versioned, Installable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516575"/>
              </a:tblGrid>
              <a:tr h="337185"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Direction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Artifact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What it is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→ \to framework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Agent SDK [ 38 ]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“Claude Code as a library”: the same tools, loop, context management, hooks, and subagents, importable in Python/TypeScript; plus a hosted Managed Agents API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openai-codex SDK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pip install openai-codex : start Codex threads, run turns, stream progress, control workspace access; Python/TypeScript, shipped in the Codex repo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agent SDK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The V1 restructuring is an SDK-ization: the agent became openhands-sdk / openhands-tools packages plus an agent server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 packages / OpenCode SDK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pi-agent-core importable + RPC mode; generated @opencode-ai/sdk over the embedded server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Framework → \to harness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Deep Agents [ 37 ]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LangChain’s harness on LangGraph: todo planning, virtual filesystem with permissions, subagents, SKILL.md skills with progressive disclosure, AGENTS.md memory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Pydantic AI Harness [ 39 ]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“The batteries” for pydantic-ai: composable capabilities (filesystem, code mode in a Rust-sandboxed interpreter) that turn a framework agent into a coding agent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Strands harness-sdk [ 40 ]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The merger in a repository name: a framework organization shipping “the agent harness itself” as an SDK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雙向奔赴趨勢：Harness 廠商推出 SDK (如 Claude Agent SDK、openai-codex、openhands-sdk)；框架廠商推出專屬 Harness (如 Deep Agents)。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框架定義被重塑：未來的 Agent Framework 不再是空洞的鏈式封裝，而是自帶 Loop、Tools、Sandbox 的完整 Harness 軟體庫。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企業技術棧沉澱：企業應直接採用成熟 Harness SDK 作為底座，而非在傳統通用框架上重新從零造輪子。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16 解析】11 款系統提示詞修辭內容：反鍍金、精簡度與承諾策略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16: Rhetorical Content of Eleven System Prompts (July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828800"/>
                <a:gridCol w="2103120"/>
                <a:gridCol w="1188720"/>
                <a:gridCol w="1401775"/>
              </a:tblGrid>
              <a:tr h="224790"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Verbosity rule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Anti-gold-plate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Commit policy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Emoji rule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Emphasis style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quantified ( ≤ 25 / 100 \leq 25/100 w; internal A/B)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no-commit unless asked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conditional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IMPORTANT: / NEVER tags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qualitative (5.2); persona-driven (5.6)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 (5.2); dropped (5.6)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no-commit (5.2); feature-flag (5.6)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NEVER tags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via snippet gating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implicit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implicit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feature-gated sections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strict ( &lt; 150 &lt;\!150 w)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reversed : commits expected, signature trailer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strict ban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overridability contract (structural)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 (file-suffix)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commits taught; push/PR gated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XML role tags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“few short sentences”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implicit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format examples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structural (1 cmd/turn)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&lt;important&gt; XML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qualitative (“lead with the change”)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no-commit/push/rewrite unless asked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none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MUST / NEVER + exemplar pairs; model-gated XML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single bullet (“Be concise”)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 (delegated)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 (delegated)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silent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XML data tags only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quantified ( &lt; &lt; 4 lines; model-dep.)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explicit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no-commit unless asked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conditional; GPT prompt bans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IMPORTANT: / NEVER + &lt;system-reminder&gt;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inherited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inherited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inherited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極致壓抑廢話：多個系統對模型輸出字數做出了硬性量化限制（如 Claude Code 內部 A/B 測試要求 &lt;= 25~100 字）。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嚴格的 Git Commit 策略：11 款系統中有 10 款明文規定「除非使用者明確要求，否則嚴禁模型擅自執行 git commit」。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強調語氣標準化：大量使用「IMPORTANT:」與「NEVER」標籤，強制壓制模型發散，確保工程執行的高度專注。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27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17 解析】各系統對底層 LLM 進階 API 物理特性的調用光譜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17: Advanced API Features Used by Each System (July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1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392"/>
                <a:gridCol w="1799271"/>
                <a:gridCol w="1199514"/>
                <a:gridCol w="1299473"/>
                <a:gridCol w="1399433"/>
                <a:gridCol w="1099554"/>
                <a:gridCol w="999595"/>
                <a:gridCol w="1432419"/>
              </a:tblGrid>
              <a:tr h="22479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System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Prompt caching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Ext. thinking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Reasoning effort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Model routing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WebSocket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Vision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Cost tracking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OpenHands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 (cache tiers + markers)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✓(RouterLLM)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Per-model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(Blake2b boundary)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 ( thread_id key)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✓(to max/ultra)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Per-turn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Gemini CLI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✗(server-side)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✓(router)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OTel/Tok+$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Mistral Vibe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✓(5 levels)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OTel/Per-sess.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Mini-SWE-Agent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Opt.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litellm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Hermes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(provider-agnostic markers + prefix normalization)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✓(5 levels, per-provider translation)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Failover chains only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Tok+$, typed provenance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(breakpoints + TTL tiers + waste audit)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✓(7-level scale)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✓(10 dialects)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✗(by design)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✓(Codex backend)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Tok+$, tiered pricing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Full (6-dialect fanout + session key)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✓(date-gated variants)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Small-model selection only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Exp. flag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Tok+$ (Decimal)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OpenClaw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Partial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✗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Per-prov.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26280"/>
            <a:ext cx="10728655" cy="1874519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2895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B6E58"/>
                </a:solidFill>
                <a:latin typeface="Microsoft JhengHei"/>
              </a:rPr>
              <a:t>✦ 研析見解與架構意涵解讀 (Architectural Interpretation)：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Prompt Caching 成為標配：成熟商業與開源系統 100% 導入前綴快取機制，大幅減低成本並將回應延遲縮短 70% 以上。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擴展思考 (Extended Thinking) 接入：一線 Harness 全面支援將長思維鏈 (CoT) 封裝並串流展示給使用者。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視覺感知 (Vision) 普及：Mistral Vibe、Mini-SWE、OpenHands 等支援剪貼簿截圖與 ACP 內嵌影像感知，拓展多模態除錯能力。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28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學術表格解析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【Table 18 解析】兩大商業旗艦對決：Claude Code vs. OpenAI Codex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Table 18: Head-to-Head Pipeline Comparison: Claude Code vs. Codex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6675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283464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Stage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Claude Code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Codex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Prompt assembly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12–15 named sections. Static prefix (identity, rules, tools) cached via Blake2b hash; dynamic suffix (env, memory, MCP) recomputed per-turn. SYSTEM_PROMPT_DYNAMIC_BOUNDARY separates the two.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Per-model prompts as server-delivered catalog data ( models.json base_instructions , remote-refreshed with bundled fallback); personality-templated. AGENTS.md injected via root-to-cwd concatenation (nested content appended last).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 exposure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43 tools, but only a subset loaded initially. Deferred tools discovered on-demand via ToolSearchTool (keyword search + select: syntax). Reduces prompt tokens by ∼ \sim 40%.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25–30 built-ins; schemas converted to OpenAI Function format via create_tools_json_for_responses_api() . Deferred loading now mirrored: defer_loading flags (MCP tools by default) + BM25 tool_search 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API protocol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 Messages API. SSE streaming with content_block_{start,delta,stop} events. Extended thinking via budget_tokens 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OpenAI Responses API. WebSocket primary, SSE fallback. Connection prewarm ( generate=false ). Turn state via x-codex-turn-state header. Reasoning effort (minimal–xhigh, plus max/ultra; ultra adds automatic delegation).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Tool dispatch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partitionToolCalls() : single-pass reduce partitions by isConcurrencySafe() . Consecutive safe tools batched; unsafe tools solo. Max 10 concurrent via semaphore.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FuturesOrdered through a dedicated ToolCallRuntime ; per-tool supports_parallel flag (default false) gates an execution lock—concurrency-unsafe tools run exclusively.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Permission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3 layers: (1) PreToolUse hooks (static pattern match), (2) LLM risk classifier, (3) interactive dialog. Sub-agents skip layer 3.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4 layers: (1) ExecPolicy Starlark rules, (2) lifecycle hooks ( Claude Code -compatible vocabulary), (3) Guardian LLM approval reviewer (fail-closed), (4) OS-level sandbox enforcement.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Execution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Host execution with an opt-in OS sandbox (Anthropic sandbox-runtime : Bubblewrap/Seatbelt, network restrictions, dangerouslyDisableSandbox escape hatch); git worktrees for branch isolation.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Sandboxed execution. Vendored Bubblewrap (Linux; Landlock legacy fallback), Seatbelt (macOS), restricted tokens (Windows).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Compaction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Triggered when remaining context drops below AUTOCOMPACT_BUFFER_TOKENS (13 K), with an env-overridable percent threshold. Image stripping, message grouping by API round, LLM summarization, SystemCompactBoundaryMessage . Post-cleanup: restore 5 files (50 K token budget).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model_auto_compact_token_limit configurable. Local or cloud compaction via /responses/compact ; rollout token budgets with turn aborts.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600200"/>
            <a:ext cx="382493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4591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B6E58"/>
                </a:solidFill>
                <a:latin typeface="Microsoft JhengHei"/>
              </a:rPr>
              <a:t>✦ 研析見解與架構解讀
(Architectural Insights)：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技術哲學差異：Claude Code 以 TypeScript 打造，追求優雅的 Prompt 分段、快取繼承與遞迴派工；Codex 採 Rust 構建，追求極致效能與 OS 級命名空間沙盒。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規範趨同的明證：Codex 在最新版中全面吸收了 Claude Code 的 Hook 命名與權限升級邏輯，顯示商業競爭正加速推動行業標準成型。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E4856"/>
                </a:solidFill>
                <a:latin typeface="Microsoft JhengHei"/>
              </a:rPr>
              <a:t>• 企業級選型啟示：重視開發者體驗與外掛彈性者偏向 Claude 架構；重視嚴苛合規、沙盒微隔離與原生二進位效能者偏向 Codex 架構。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核心實證震撼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缺席之一：100% 拋棄通用代理框架 (No General Frameworks)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11 款一線生產系統零採用 LangChain / AutoGen / CrewAI 的深層架構反思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實證調查結果 (Empirical Finding)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[SHOCKING FACT]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零採用率客觀事實：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審查 11 款頂尖系統依賴清單，100% 無 LangChain、CrewAI、AutoGen 或 Semantic Kernel。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連原廠都跳過自家框架：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Google Gemini CLI 甚至完全不使用 Google 官方的 Genkit 或 ADK 框架。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428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全員採用原生迴圈：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全數基於語言原生之非同步事件迴圈 (Async/Await While Loop) 手工打造。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教學展示與工業級產品反差：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展示專案熱衷通用框架，但高負載工業級產品全數避而遠之。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四大工程淘汰主因剖析 (Root Causes)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[ARCHITECTURAL LESSON]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0975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1871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抽象洩漏嚴重 (Leaky Abstractions)：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通用框架試圖相容客服、聊天等多場景，抽象過於臃腫且無法精確調控。</a:t>
            </a:r>
          </a:p>
        </p:txBody>
      </p:sp>
      <p:sp>
        <p:nvSpPr>
          <p:cNvPr id="23" name="Oval 22"/>
          <p:cNvSpPr/>
          <p:nvPr/>
        </p:nvSpPr>
        <p:spPr>
          <a:xfrm>
            <a:off x="6430975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871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微秒級控制權喪失：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編程任務仰賴事件暫停、手動編輯歷史、動態抽換工具集，框架黑盒子造成致命阻礙。</a:t>
            </a:r>
          </a:p>
        </p:txBody>
      </p:sp>
      <p:sp>
        <p:nvSpPr>
          <p:cNvPr id="25" name="Oval 24"/>
          <p:cNvSpPr/>
          <p:nvPr/>
        </p:nvSpPr>
        <p:spPr>
          <a:xfrm>
            <a:off x="6430975" y="42428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1871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Prompt Caching 遭破壞：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通用框架不可見的提示詞拼接邏輯頻繁破壞原廠 KV 快取邊界，延遲費用暴增數倍。</a:t>
            </a:r>
          </a:p>
        </p:txBody>
      </p:sp>
      <p:sp>
        <p:nvSpPr>
          <p:cNvPr id="27" name="Oval 26"/>
          <p:cNvSpPr/>
          <p:nvPr/>
        </p:nvSpPr>
        <p:spPr>
          <a:xfrm>
            <a:off x="6430975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1871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除錯維護成本高昂：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框架層層包裝使 Exception 堆疊極度深奧，無法進行生產級錯誤診斷與自動修復。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30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核心實證震撼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缺席之二：全面拋棄向量代碼檢索 (No Vector Code RAG)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代碼語義高度結構化，ripgrep 與 tree-sitter 確定性武器庫的降維打擊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向量代碼檢索 (Code RAG) 的失效本質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[WHY VECTOR FAILS]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語意模糊 vs 語法確定性：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向量擅長自然語言概念比對，但面對函式簽名、介面實作等確定性符號時精度極低。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語境切割破碎化：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將程式碼依 Chunk 暴力切分，徹底割裂了 AST 語法樹階層與跨檔案繼承關係。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428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高雜訊誘發幻覺：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相似度回傳常帶有同名過時函式，極易誤導模型寫出錯誤的調用參數與型別。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索引重建開銷巨大：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大型專案每次 Git 切換分支或 Commit，重新計算向量 Embeddings 既慢又耗費算力。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一線 Harness 的確定性檢索武器庫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[DETERMINISTIC SUITE]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0975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1871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ripgrep (全域正則搜尋)：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毫秒級遍歷數百萬行代碼，精確定位變數、路由與錯誤碼定義行號。</a:t>
            </a:r>
          </a:p>
        </p:txBody>
      </p:sp>
      <p:sp>
        <p:nvSpPr>
          <p:cNvPr id="23" name="Oval 22"/>
          <p:cNvSpPr/>
          <p:nvPr/>
        </p:nvSpPr>
        <p:spPr>
          <a:xfrm>
            <a:off x="6430975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871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tree-sitter (AST 結構解析)：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跨語言語法樹解析，精準提取 Class、Method 與跨模組依賴鏈。</a:t>
            </a:r>
          </a:p>
        </p:txBody>
      </p:sp>
      <p:sp>
        <p:nvSpPr>
          <p:cNvPr id="25" name="Oval 24"/>
          <p:cNvSpPr/>
          <p:nvPr/>
        </p:nvSpPr>
        <p:spPr>
          <a:xfrm>
            <a:off x="6430975" y="42428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1871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ctags / 符號索引圖譜：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輕量化建立全域符號表，支持快速跳轉至定義點與參考點。</a:t>
            </a:r>
          </a:p>
        </p:txBody>
      </p:sp>
      <p:sp>
        <p:nvSpPr>
          <p:cNvPr id="27" name="Oval 26"/>
          <p:cNvSpPr/>
          <p:nvPr/>
        </p:nvSpPr>
        <p:spPr>
          <a:xfrm>
            <a:off x="6430975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1871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Markdown 規格導航：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由專案架構文件引導，結合模型的「假說驗證」主動探索，命中率達 98%。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31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產業趨勢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平台化轉型論題：從單機 CLI 走向 AI 運行時作業系統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Coding Harness 完成由單純開發者輔助腳本向企業級 AI-ROS 的歷史性跨越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平台化轉型三大特徵 (The Platform Turn)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[PLATFORM ERA]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AI 運行時操作系統確立：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Harness 已進化為全面掌控執行緒排程、權限沙盒、持久記憶與外掛的底座。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跨陣營組件規範趨同：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Codex 採納 Claude Code 的 Hook 命名；OpenHands 原生支援 Claude Code 外掛。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428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政策由 Prompt 遷移至強型別配置：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安全規範與權限全面由自然語言 Prompt 脫離，轉為 Starlark / JSON 治理。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生態標準確立：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SKILL.md 與 MCP 成為跨廠商、跨模型共同遵守的事實標準。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600200"/>
            <a:ext cx="521208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17099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Databricks Omnigent 元框架架構啟示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[META-HARNESS]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0975" y="2075688"/>
            <a:ext cx="484632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0975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1871" y="21488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Meta-Harness 的崛起：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企業不再單一押注某家原廠，而是在外層建構統一管控網關。</a:t>
            </a:r>
          </a:p>
        </p:txBody>
      </p:sp>
      <p:sp>
        <p:nvSpPr>
          <p:cNvPr id="23" name="Oval 22"/>
          <p:cNvSpPr/>
          <p:nvPr/>
        </p:nvSpPr>
        <p:spPr>
          <a:xfrm>
            <a:off x="6430975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871" y="31775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統一 API 同步調度 11 款原廠 Harness：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依據任務複雜度動態路由至 Claude Code、Codex 或 Aider。</a:t>
            </a:r>
          </a:p>
        </p:txBody>
      </p:sp>
      <p:sp>
        <p:nvSpPr>
          <p:cNvPr id="25" name="Oval 24"/>
          <p:cNvSpPr/>
          <p:nvPr/>
        </p:nvSpPr>
        <p:spPr>
          <a:xfrm>
            <a:off x="6430975" y="42428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1871" y="42062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集中化企業治理：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統一收集所有 Harness 的 Token 消耗軌跡、合規日誌與安全性審查報告。</a:t>
            </a:r>
          </a:p>
        </p:txBody>
      </p:sp>
      <p:sp>
        <p:nvSpPr>
          <p:cNvPr id="27" name="Oval 26"/>
          <p:cNvSpPr/>
          <p:nvPr/>
        </p:nvSpPr>
        <p:spPr>
          <a:xfrm>
            <a:off x="6430975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1871" y="5234940"/>
            <a:ext cx="453542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客觀自動化基準評測：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以同一套標準基準自動評估不同 Harness 在私有代碼庫上的修復表現，消除廠商宣傳迷思。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32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實踐軍規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實踐者軍規 (上)：第 1 至第 9 條架構設計實踐指南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論文 Section 16 精煉：涵蓋迴圈、模型、工具、編輯、記憶與安全防護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1. 迴圈與模型整合 (Rec 1-3)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[LOOP &amp; MODEL]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1: 始於線性迴圈，待出現多個獨立輪次策略再演進為中間件管線。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570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5204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2: 自有基底模型者深度耦合原廠並保留 Fallback；多模型者維持單一集中適配層。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9286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8920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3: 始於單一 Bash 工具，僅在觀察到具體失敗模式時再增設微工具。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2. 工具、編輯與記憶 (Rec 4-6)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[TOOLS &amp; MEMORY]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2856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62856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21488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4: 工具數量超過 15 個時，必須導入遞延工具加載 (Deferred Loading)。</a:t>
            </a:r>
          </a:p>
        </p:txBody>
      </p:sp>
      <p:sp>
        <p:nvSpPr>
          <p:cNvPr id="21" name="Oval 20"/>
          <p:cNvSpPr/>
          <p:nvPr/>
        </p:nvSpPr>
        <p:spPr>
          <a:xfrm>
            <a:off x="4562856" y="35570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35204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5: 根據模型等級匹配編輯合約：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頂級模型採精確子字串替換，中弱模型採模糊寬容瀑布。</a:t>
            </a:r>
          </a:p>
        </p:txBody>
      </p:sp>
      <p:sp>
        <p:nvSpPr>
          <p:cNvPr id="23" name="Oval 22"/>
          <p:cNvSpPr/>
          <p:nvPr/>
        </p:nvSpPr>
        <p:spPr>
          <a:xfrm>
            <a:off x="4562856" y="49286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48920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6: 自動探索專案層級 Markdown 規格文件 (AGENTS.md, CLAUDE.md) 並相容鄰居命名。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3. 壓縮、檢索與安全 (Rec 7-9)</a:t>
            </a:r>
            <a:r>
              <a:rPr sz="950" b="1">
                <a:solidFill>
                  <a:srgbClr val="B4782A"/>
                </a:solidFill>
                <a:latin typeface="Microsoft JhengHei"/>
              </a:rPr>
              <a:t>  [SECURITY &amp; RAG]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11312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11312" y="2185416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21488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7: 實作閾值邊界壓縮，保留最近完整推導尾端，增量合併摘要並相容溢位復原。</a:t>
            </a:r>
          </a:p>
        </p:txBody>
      </p:sp>
      <p:sp>
        <p:nvSpPr>
          <p:cNvPr id="30" name="Oval 29"/>
          <p:cNvSpPr/>
          <p:nvPr/>
        </p:nvSpPr>
        <p:spPr>
          <a:xfrm>
            <a:off x="8211312" y="35570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5204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8: 嚴禁對程式碼建構向量 RAG，全面改採 ripgrep、tree-sitter 與目錄走訪。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4928616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48920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9: 開發者半信任場景實作三模式審批 (PLAN / DEFAULT / YOLO) 與權限作用域。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33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實踐軍規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實踐者軍規 (下)：第 10 至第 18 條架構指南與反模式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論文 Section 16 精煉：涵蓋沙盒、多代理、擴展標準與四大嚴格反模式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4. 沙盒與多代理 (Rec 10-13)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[SANDBOX &amp; MULTI-AGENT]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854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488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10: 企業自動化場景實作作業系統級沙盒 (Bubblewrap/Seatbelt) 與 Policy-as-Code。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1775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11: 安全規則務必採用資料結構或專用策略檔撰寫，嚴禁散落於提示詞散文。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42816"/>
            <a:ext cx="237744" cy="237744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2062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12: 保持單代理架構，直到平行 Context 隔離帶來的收益明確大於序列搜尋。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52349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3E4856"/>
                </a:solidFill>
                <a:latin typeface="Microsoft JhengHei"/>
              </a:rPr>
              <a:t>Rec 13: 釋出 ACP 伺服器以相容 IDE 與外部元協調器，主從內部協同保持行程內。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5. 擴展標準 (Rec 14)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[SKILLS &amp; MCP]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2856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62856" y="21854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21488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14 優先級：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以 SKILL.md 封裝能力範本與領域 SOP，以 MCP 整合外部程序與 API。</a:t>
            </a:r>
          </a:p>
        </p:txBody>
      </p:sp>
      <p:sp>
        <p:nvSpPr>
          <p:cNvPr id="23" name="Oval 22"/>
          <p:cNvSpPr/>
          <p:nvPr/>
        </p:nvSpPr>
        <p:spPr>
          <a:xfrm>
            <a:off x="4562856" y="35570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35204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技能遞延加載：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平時僅暴露清單索引，命中任務動態載入完整規格，省 90% 提示詞空間。</a:t>
            </a:r>
          </a:p>
        </p:txBody>
      </p:sp>
      <p:sp>
        <p:nvSpPr>
          <p:cNvPr id="25" name="Oval 24"/>
          <p:cNvSpPr/>
          <p:nvPr/>
        </p:nvSpPr>
        <p:spPr>
          <a:xfrm>
            <a:off x="4562856" y="49286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892040"/>
            <a:ext cx="2752344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第三方技能套件治理：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將第三方 Skill 視為依賴套件，建立信任階層、掃描與隔離機制。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1600200"/>
            <a:ext cx="3429000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17099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32D38"/>
                </a:solidFill>
                <a:latin typeface="Microsoft JhengHei"/>
              </a:rPr>
              <a:t>6. 四大嚴格反模式 (Rec 15-18)</a:t>
            </a:r>
            <a:r>
              <a:rPr sz="950" b="1">
                <a:solidFill>
                  <a:srgbClr val="B4782A"/>
                </a:solidFill>
                <a:latin typeface="Microsoft JhengHei"/>
              </a:rPr>
              <a:t>  [ANTI-PATTERNS]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2" y="2075688"/>
            <a:ext cx="3063240" cy="10972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11312" y="2185416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21488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15 禁令：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嚴禁用 LangChain/AutoGen 等通用框架做 Runtime，改採原生迴圈或 Harness SDK。</a:t>
            </a:r>
          </a:p>
        </p:txBody>
      </p:sp>
      <p:sp>
        <p:nvSpPr>
          <p:cNvPr id="32" name="Oval 31"/>
          <p:cNvSpPr/>
          <p:nvPr/>
        </p:nvSpPr>
        <p:spPr>
          <a:xfrm>
            <a:off x="8211312" y="32141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31775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16 禁令：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嚴禁為程式碼建立向量 Embeddings 檢索層，優先證明其優於 ripgrep。</a:t>
            </a:r>
          </a:p>
        </p:txBody>
      </p:sp>
      <p:sp>
        <p:nvSpPr>
          <p:cNvPr id="34" name="Oval 33"/>
          <p:cNvSpPr/>
          <p:nvPr/>
        </p:nvSpPr>
        <p:spPr>
          <a:xfrm>
            <a:off x="8211312" y="4242816"/>
            <a:ext cx="237744" cy="237744"/>
          </a:xfrm>
          <a:prstGeom prst="ellipse">
            <a:avLst/>
          </a:prstGeom>
          <a:solidFill>
            <a:srgbClr val="B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42062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17 禁令：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嚴禁將上游 SaaS API 1:1 包裝為肥大工具，應予以精煉整併。</a:t>
            </a:r>
          </a:p>
        </p:txBody>
      </p:sp>
      <p:sp>
        <p:nvSpPr>
          <p:cNvPr id="36" name="Oval 35"/>
          <p:cNvSpPr/>
          <p:nvPr/>
        </p:nvSpPr>
        <p:spPr>
          <a:xfrm>
            <a:off x="8211312" y="5271516"/>
            <a:ext cx="237744" cy="237744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5234940"/>
            <a:ext cx="2752344" cy="99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1">
                <a:solidFill>
                  <a:srgbClr val="2C3E50"/>
                </a:solidFill>
                <a:latin typeface="Microsoft JhengHei"/>
              </a:rPr>
              <a:t>Rec 18 警戒：</a:t>
            </a:r>
            <a:r>
              <a:rPr sz="1000">
                <a:solidFill>
                  <a:srgbClr val="3E4856"/>
                </a:solidFill>
                <a:latin typeface="Microsoft JhengHei"/>
              </a:rPr>
              <a:t>勿過度設計卡死偵測，但務必配置十幾行代碼的廉價計數上限保險。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34 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名詞對照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附錄一：關鍵術語解析與英文縮寫對照表 (Glossary)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精選論文中跨 11 款系統頻繁出現之核心架構術語與標準定義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5973775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術語 / 縮寫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英文全稱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技術意涵與在 Harness 中的核心角色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Execution Harness / Runtime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包覆底層模型的主動執行環境，負責事件循環、工具排程、沙盒隔離與生命週期管理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MCP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Model Context Protocol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由 Anthropic 推動並成為產業共識的開放 RPC 協議，用於連通外部工具、API 與資料庫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SKILL.md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 Skill Specification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智慧體標準領域知識封裝規範，採 Markdown+YAML 格式，支援遞延動態加載以節省 Context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ACP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Agent Client Protocol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用於 IDE 與 Agent 主機連線的標準通訊協議 (Zed, JetBrains, OpenHands, Omnigent 均支援)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Stuck Detector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Infinite Loop / Oscillation Detector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死循環與震盪偵測器，監控同指令反覆失敗或工具呼叫空轉，並主動介入中斷修復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Compaction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Context Compaction / Micro-pruning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上下文壓縮與微修剪管線，非破壞性移除過時終端日誌與折疊工具呼叫，保持訊號純淨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HITL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Human-In-The-Loop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人機協同審批機制，針對刪檔、代碼發布等高危關鍵行為強制暫停並要求人工簽核授權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AST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Abstract Syntax Tree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抽象語法樹，用於高確定性代碼結構解析 (如 tree-sitter)，完勝傳統向量相似度檢索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Meta-Harness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Meta-Orchestration Runtime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如 Databricks Omnigent，在多款原廠 Harness 之上建立的跨廠商統一治理、評測與調度層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35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文獻溯源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附錄二：文獻出處、論文版本與研究方法論 (References)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詳細標記學術論文官方出處、審查系統版本 Commit 與分析方法論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6796735"/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類別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項目名稱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文獻出處 / 系統版本 Commit / 官方標註</a:t>
                      </a:r>
                    </a:p>
                  </a:txBody>
                  <a:tcPr anchor="ctr" marL="54864" marR="54864" marT="36576" marB="36576">
                    <a:solidFill>
                      <a:srgbClr val="EAE4D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學術母篇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arXiv:2609.00006v1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Harness Engineering: Anatomy, Architecture, and Evolution of Coding Agents (Sept 2026)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研究機構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Wavestone AI Lab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Paul Barbaste, Tristan Darrigol, Germain Vu, Tom Wiltberger (巴黎/紐約實驗室)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原廠旗艦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Claude Code &amp; Codex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Anthropic @anthropic-ai/claude-code (TS) · OpenAI Codex CLI (Rust In-Tree Bubblewrap)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開源代表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OpenHands &amp; Aider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All-Hands-AI/OpenHands (Event-Sourced V1) · Paul-Gauthier/aider (Git Native Diff)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極簡代表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Mini-SWE-Agent &amp; Pi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SWE-bench/mini-swe-agent (100 lines) · Mario Zechner/pi (Micro-kernel architecture)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元框架對比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Databricks Omnigent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Omnigent: A Meta-Harness Orchestrating Eleven Vendor Frameworks Behind a Unified API</a:t>
                      </a:r>
                    </a:p>
                  </a:txBody>
                  <a:tcPr anchor="ctr" marL="54864" marR="54864" marT="36576" marB="36576">
                    <a:solidFill>
                      <a:srgbClr val="F7F4E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研究方法論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跨系統靜態與動態審查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3E4856"/>
                          </a:solidFill>
                          <a:latin typeface="Microsoft JhengHei"/>
                        </a:defRPr>
                      </a:pPr>
                      <a:r>
                        <a:t>全文 4,170 行原始碼解構、47 項特徵矩陣量化、90 天時間差分 (April vs July 2026 Snapshots)</a:t>
                      </a:r>
                    </a:p>
                  </a:txBody>
                  <a:tcPr anchor="ctr" marL="54864" marR="54864" marT="36576" marB="36576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559552"/>
            <a:ext cx="10728655" cy="84124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3B6E58"/>
                </a:solidFill>
                <a:latin typeface="Microsoft JhengHei"/>
              </a:rPr>
              <a:t>✦ 研析方法與格式遵循宣告：</a:t>
            </a:r>
          </a:p>
          <a:p>
            <a:r>
              <a:rPr sz="850">
                <a:solidFill>
                  <a:srgbClr val="657182"/>
                </a:solidFill>
                <a:latin typeface="Microsoft JhengHei"/>
              </a:rPr>
              <a:t>本簡報本於學術論文全文實證研究，完整收錄圖一、圖二、圖六之高階 Matplotlib 重繪原圖，並結合自適應排版徹底解決表格與文字重疊問題，完整納入 Table 1 至 Table 18 共 18 張學術表格與深度解讀。全面套用「pptx 樣板一」規範生成。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36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4K 資訊圖表 (fig.png)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【2頁資訊圖表 · 頁面一】Harness Engineering 4K 純英文概念架構圖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Architecture &amp; Flow Diagram: Three Main Pillars across D1-D7 Subsystems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19072"/>
            <a:ext cx="804672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0" y="1719072"/>
            <a:ext cx="222473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B6E58"/>
                </a:solidFill>
                <a:latin typeface="Microsoft JhengHei"/>
              </a:rPr>
              <a:t>✦ 4K 架構圖精華導讀：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純英文零亂碼標準：保證國際化與高解析視覺呈現，純白底色消除壓迫感。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Column 1 (Runtime Core)：D1 驅動迴圈、狀態管理與 D2 Prompt 嚴格快取前綴。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Column 2 (Tools &amp; Memory)：D3 原生工具網關與 D4 閾值邊界淘汰 (13K Buffer)。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Column 3 (Governance &amp; Scale)：D5 容器沙盒、D6 線程樹拓撲與 D7 SKILL.md/MCP 標準。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37 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56032"/>
            <a:ext cx="2560320" cy="292608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00" b="1">
                <a:solidFill>
                  <a:srgbClr val="3B6E58"/>
                </a:solidFill>
                <a:latin typeface="Microsoft JhengHei"/>
              </a:rPr>
              <a:t>✦  4K 資訊圖表 (doc.png)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【2頁資訊圖表 · 頁面二】Harness Engineering 4K 繁中深度解析面板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657182"/>
                </a:solidFill>
                <a:latin typeface="Microsoft JhengHei"/>
              </a:rPr>
              <a:t>Detailed Architectural Interpretation: 3 Pillars, 12 Core Engineering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19072"/>
            <a:ext cx="804672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5440" y="1719072"/>
            <a:ext cx="222473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9E5A38"/>
                </a:solidFill>
                <a:latin typeface="Microsoft JhengHei"/>
              </a:rPr>
              <a:t>✦ 繁中精華面板導讀：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大字體滿版規格：採用微軟正黑體 4K 銳利文字排版，具備極致可讀性。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維度一 (運行時)：Agent = Model + Harness 確定性等式、死循環偵測熔斷。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維度二 (工具與記憶)：Search-Replace 區塊替換、95% 寬容瀑布、零向量代碼 RAG。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E4856"/>
                </a:solidFill>
                <a:latin typeface="Microsoft JhengHei"/>
              </a:rPr>
              <a:t>• 維度三 (治理與擴展)：多層安全防禦、階層線程樹避免廣播、演化為 AI-ROS 平台。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57182"/>
                </a:solidFill>
                <a:latin typeface="Microsoft JhengHei"/>
              </a:rPr>
              <a:t>AI AGENT HARNESS ENGINEERING  ·  ARCHITECTURAL SPECIFICATION &amp; BENCHMARK (arXiv:2609.00006v1)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3B6E58"/>
                </a:solidFill>
                <a:latin typeface="Microsoft JhengHei"/>
              </a:rPr>
              <a:t>38 /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