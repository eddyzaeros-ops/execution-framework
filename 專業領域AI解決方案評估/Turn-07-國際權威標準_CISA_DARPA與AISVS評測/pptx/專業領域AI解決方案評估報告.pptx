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前沿模型</c:v>
                </c:pt>
              </c:strCache>
            </c:strRef>
          </c:tx>
          <c:spPr>
            <a:ln w="28575">
              <a:solidFill>
                <a:srgbClr val="2C3E50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</c:v>
                </c:pt>
                <c:pt idx="1">
                  <c:v>56</c:v>
                </c:pt>
                <c:pt idx="2">
                  <c:v>62</c:v>
                </c:pt>
                <c:pt idx="3">
                  <c:v>67</c:v>
                </c:pt>
                <c:pt idx="4">
                  <c:v>73</c:v>
                </c:pt>
                <c:pt idx="5">
                  <c:v>78</c:v>
                </c:pt>
                <c:pt idx="6">
                  <c:v>83</c:v>
                </c:pt>
                <c:pt idx="7">
                  <c:v>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自訓領域模型</c:v>
                </c:pt>
              </c:strCache>
            </c:strRef>
          </c:tx>
          <c:spPr>
            <a:ln w="38100">
              <a:solidFill>
                <a:srgbClr val="9E5A38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前沿模型 + 你的 Agent 資產</c:v>
                </c:pt>
              </c:strCache>
            </c:strRef>
          </c:tx>
          <c:spPr>
            <a:ln w="44450">
              <a:solidFill>
                <a:srgbClr val="3B6E58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55</c:v>
                </c:pt>
                <c:pt idx="1">
                  <c:v>63</c:v>
                </c:pt>
                <c:pt idx="2">
                  <c:v>70</c:v>
                </c:pt>
                <c:pt idx="3">
                  <c:v>77</c:v>
                </c:pt>
                <c:pt idx="4">
                  <c:v>83</c:v>
                </c:pt>
                <c:pt idx="5">
                  <c:v>89</c:v>
                </c:pt>
                <c:pt idx="6">
                  <c:v>94</c:v>
                </c:pt>
                <c:pt idx="7">
                  <c:v>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7C8695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Microsoft Jheng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3B6E58"/>
                </a:solidFill>
                <a:latin typeface="Microsoft JhengHei"/>
              </a:rPr>
              <a:t>策略評估報告 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232D38"/>
                </a:solidFill>
                <a:latin typeface="Microsoft JhengHei"/>
              </a:rPr>
              <a:t>前沿模型時代，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9E5A38"/>
                </a:solidFill>
                <a:latin typeface="Microsoft JhengHei"/>
              </a:rPr>
              <a:t>專業領域 AI 該押注在哪裡？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97280" cy="45720"/>
          </a:xfrm>
          <a:prstGeom prst="rect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4A5568"/>
                </a:solidFill>
                <a:latin typeface="Microsoft JhengHei"/>
              </a:rPr>
              <a:t>評估四種路線：訓練模型、領域 RAG、AI Agent、模型蒸餾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4A5568"/>
                </a:solidFill>
                <a:latin typeface="Microsoft JhengHei"/>
              </a:rPr>
              <a:t>結論先講：它們不是四選一，而是一個要按順序疊起來的堆疊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執行摘要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結論：以 Agent 為主軸，RAG 當工具，蒸餾等規模，從頭訓練幾乎不必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四種方法不是四選一，而是有先後順序的堆疊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38528"/>
            <a:ext cx="384048" cy="384048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6596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AI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42032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主軸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208483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Microsoft JhengHei"/>
              </a:rPr>
              <a:t>唯一能把前沿模型的進步，直接轉成你的進步。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208483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63440"/>
            <a:ext cx="208483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第一天就做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0089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88689" y="1938528"/>
            <a:ext cx="384048" cy="384048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609" y="196596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領域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88689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8689" y="2542032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地基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88689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8689" y="3200400"/>
            <a:ext cx="208483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Microsoft JhengHei"/>
              </a:rPr>
              <a:t>負責「查得到」，不負責「做得到」；做成 Agent 的工具。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8689" y="4434840"/>
            <a:ext cx="208483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8689" y="4663440"/>
            <a:ext cx="208483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知識量大、需權限或出處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8659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17259" y="1938528"/>
            <a:ext cx="384048" cy="384048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0179" y="196596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模型蒸餾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7259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7259" y="2542032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後期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7259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7259" y="3200400"/>
            <a:ext cx="208483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Microsoft JhengHei"/>
              </a:rPr>
              <a:t>用累積的成功紀錄換成本與延遲，不換能力。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7259" y="4434840"/>
            <a:ext cx="208483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7259" y="4663440"/>
            <a:ext cx="208483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量大、要地端、任務已收斂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7228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5828" y="1938528"/>
            <a:ext cx="384048" cy="384048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8748" y="196596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訓練模型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5828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5828" y="2542032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特例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5828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5828" y="3200400"/>
            <a:ext cx="208483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Microsoft JhengHei"/>
              </a:rPr>
              <a:t>從頭訓練必輸；RFT 與專用模型在特定條件下勝出。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5828" y="4434840"/>
            <a:ext cx="208483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5828" y="4663440"/>
            <a:ext cx="208483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非文字資料、答案可驗證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394960"/>
            <a:ext cx="10728655" cy="9144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550408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Rent the intelligence. Own the context.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943600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模型能力用租的、會一直變強；你該擁有的是工具、知識、流程與評估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專業領域 AI 策略評估  ·  DOMAIN AI STRATEGY IN THE FRONTIER-MODEL ERA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背景前提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自己訓練的模型，上線那天就開始貶值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前沿模型每季進步；自訓模型的能力在訓練完成時就凍結了（示意圖）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6675120" cy="4526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828800"/>
          <a:ext cx="64008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173736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3640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920240"/>
            <a:ext cx="3001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能力是租來的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35915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487168"/>
            <a:ext cx="33677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前沿模型的進步不用你付研發費，換模型就升級。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29184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36408" y="34747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474720"/>
            <a:ext cx="3001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權重會貶值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391363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041648"/>
            <a:ext cx="33677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自訓模型訓練完就凍結，下一代前沿模型很快超越它。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84632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36408" y="5029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5029200"/>
            <a:ext cx="3001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情境會增值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546811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596128"/>
            <a:ext cx="33677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工具、知識、流程、評估集越用越完整，且可跨模型沿用。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專業領域 AI 策略評估  ·  DOMAIN AI STRATEGY IN THE FRONTIER-MODEL 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先診斷缺口，再選方法：多數失敗來自用錯解法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模型在專業領域「做不好」，背後是五種不同的缺口，各有對應解法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3364991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3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29"/>
                <a:gridCol w="3515258"/>
                <a:gridCol w="2987969"/>
                <a:gridCol w="2284917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缺口類型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典型症狀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根本原因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對應解法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知識缺口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答錯內部規格、引用舊版文件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沒看過私有、最新資料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上下文 / RAG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流程缺口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答案對，但做法不像專家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不懂組織 SOP 與經驗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Skills + 長期記憶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行動缺口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只能給建議，無法完成任務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接觸不到現有系統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工具 + Agent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可靠度缺口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時對時錯，無法放心交付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缺乏驗證與回饋訊號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評估集 + RFT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經濟性缺口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太貴、太慢、資料不能外流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前沿模型的成本結構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蒸餾 + 路由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76671"/>
            <a:ext cx="10728655" cy="9144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532119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Diagnose before you prescribe.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925311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從頭訓練模型，幾乎解決不了上面任何一種缺口——這是它被淘汰的真正原因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專業領域 AI 策略評估  ·  DOMAIN AI STRATEGY IN THE FRONTIER-MODEL 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投資原則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判斷投資好壞的標準：下一代模型上線時，它還值錢嗎？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把預算放在「換模型後仍然有效」的資產上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029200" cy="4526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9E5A38"/>
                </a:solidFill>
                <a:latin typeface="Microsoft JhengHei"/>
              </a:rPr>
              <a:t>會貶值的投資</a:t>
            </a:r>
            <a:r>
              <a:rPr sz="950" b="1">
                <a:solidFill>
                  <a:srgbClr val="7C8695"/>
                </a:solidFill>
                <a:latin typeface="Microsoft JhengHei"/>
              </a:rPr>
              <a:t>   DEPRECIATING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423160"/>
            <a:ext cx="44805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269748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24912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自訓、微調的模型權重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5661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93591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針對特定模型調校的 prompt 技巧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4348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62272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為彌補模型弱點寫的繞道程式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30952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綁死單一供應商的整合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0975" y="1737360"/>
            <a:ext cx="5029200" cy="4526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5295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3B6E58"/>
                </a:solidFill>
                <a:latin typeface="Microsoft JhengHei"/>
              </a:rPr>
              <a:t>會增值的投資</a:t>
            </a:r>
            <a:r>
              <a:rPr sz="950" b="1">
                <a:solidFill>
                  <a:srgbClr val="7C8695"/>
                </a:solidFill>
                <a:latin typeface="Microsoft JhengHei"/>
              </a:rPr>
              <a:t>   APPRECIATING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5295" y="2423160"/>
            <a:ext cx="44805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05295" y="269748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8215" y="2724912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評估集：定義什麼叫「做對」</a:t>
            </a:r>
          </a:p>
        </p:txBody>
      </p:sp>
      <p:sp>
        <p:nvSpPr>
          <p:cNvPr id="25" name="Oval 24"/>
          <p:cNvSpPr/>
          <p:nvPr/>
        </p:nvSpPr>
        <p:spPr>
          <a:xfrm>
            <a:off x="6705295" y="35661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8215" y="3593591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工具與 API：系統的可操作介面</a:t>
            </a:r>
          </a:p>
        </p:txBody>
      </p:sp>
      <p:sp>
        <p:nvSpPr>
          <p:cNvPr id="27" name="Oval 26"/>
          <p:cNvSpPr/>
          <p:nvPr/>
        </p:nvSpPr>
        <p:spPr>
          <a:xfrm>
            <a:off x="6705295" y="44348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8215" y="4462272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Skills 與記憶：專家流程與經驗</a:t>
            </a:r>
          </a:p>
        </p:txBody>
      </p:sp>
      <p:sp>
        <p:nvSpPr>
          <p:cNvPr id="29" name="Oval 28"/>
          <p:cNvSpPr/>
          <p:nvPr/>
        </p:nvSpPr>
        <p:spPr>
          <a:xfrm>
            <a:off x="6705295" y="5303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8215" y="5330952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執行紀錄：RFT 與蒸餾的原料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88152" y="361188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88152" y="36118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429768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換上下一代
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專業領域 AI 策略評估  ·  DOMAIN AI STRATEGY IN THE FRONTIER-MODEL ERA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1｜訓練沒有死，死的是「從頭預訓練」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訓練有五個層次，價值差異極大；在前沿模型時代，只有後兩層普遍划算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從頭預訓練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847088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數千億 token、極高成本，效果仍追不上前沿模型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956815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56815"/>
            <a:ext cx="777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放棄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42615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52344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繼續預訓練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52344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僅當領域語言極特殊（大量專有術語、代碼）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86207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862072"/>
            <a:ext cx="777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少用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47872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65760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SFT / LoRA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65760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固定格式、固定風格、窄範圍任務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767328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767328"/>
            <a:ext cx="777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可用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53127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562855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RFT 強化微調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562855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答案可自動驗證時，數百題就能顯著提升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4672583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672583"/>
            <a:ext cx="777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推薦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58383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468112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專用模型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468112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訊號、影像、分子、時序等非文字資料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557784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577840"/>
            <a:ext cx="777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推薦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1737360"/>
            <a:ext cx="3733495" cy="44074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1920240"/>
            <a:ext cx="3322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為什麼 RFT 特別值得做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KEY INSIGHT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2359152"/>
            <a:ext cx="327629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2487168"/>
            <a:ext cx="3276295" cy="3538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不需要標準答案，只需要評分器。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計算結果、程式測試、規則檢查、模擬器輸出，都能自動判斷對錯。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用的是你本來就該建的評估集。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評估集同時是回歸測試、獎勵訊號與蒸餾篩選器。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前提：</a:t>
            </a:r>
            <a:r>
              <a:rPr sz="1250" b="0">
                <a:solidFill>
                  <a:srgbClr val="4A5568"/>
                </a:solidFill>
                <a:latin typeface="Microsoft JhengHei"/>
              </a:rPr>
              <a:t>答案必須可驗證；開放式判斷題效果有限。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專業領域 AI 策略評估  ·  DOMAIN AI STRATEGY IN THE FRONTIER-MODEL ERA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2｜RAG 是 Agent 的一個工具，不是整個架構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RAG 解決「查得到」；長上下文出現後，小型知識庫甚至不需要 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先問：知識需要怎麼進到模型裡？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682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68296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知識量小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231136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數百頁以內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146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直接放進上下文 + prompt caching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27248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39242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9242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知識量大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5526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超過上下文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5387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混合檢索：BM25 + 向量 + reranker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51376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4165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16552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需權限或出處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27939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稽核、合規場景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56285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檢索階段就做權限過濾，回答附出處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16916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RAG 做不好，通常不是模型的錯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103120"/>
            <a:ext cx="4830775" cy="320040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720840" y="2194560"/>
          <a:ext cx="464789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314"/>
                <a:gridCol w="2718580"/>
              </a:tblGrid>
              <a:tr h="60350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常見失敗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修正方式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切分破壞結構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依章節切分，保留表格與條文編號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料號查不到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向量檢索加上關鍵字檢索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只查一次就回答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讓 Agent 決定要不要再查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結構化資料硬塞向量庫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BOM、測試數據改用 SQL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731520" y="5440680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596128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Retrieval finds facts. Agents get work done.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989320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需要多步推理與實際操作時，RAG 必須交給 Agent 調度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專業領域 AI 策略評估  ·  DOMAIN AI STRATEGY IN THE FRONTIER-MODEL ERA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