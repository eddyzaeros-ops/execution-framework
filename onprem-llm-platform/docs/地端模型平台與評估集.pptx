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3400" b="1">
                <a:solidFill>
                  <a:srgbClr val="232D38"/>
                </a:solidFill>
                <a:latin typeface="Microsoft JhengHei"/>
              </a:rPr>
              <a:t>地端模型平台與評估集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3B6E58"/>
                </a:solidFill>
                <a:latin typeface="Microsoft JhengHei"/>
              </a:rPr>
              <a:t>技術文件問答｜附出處｜分級權限｜全程稽核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多 GPU 叢集 · Linux + Docker · 離線環境　　2026-10-06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執行摘要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專案目標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資料不出內網的前提下，提供可信、可稽核、可量化改進的文件問答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55064"/>
            <a:ext cx="1043604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四大目標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[GOALS]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10728655" cy="585215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225856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221992"/>
            <a:ext cx="10161727" cy="4389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內網模型服務：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OpenAI 相容的 LLM 與 embedding 服務，資料不出內網。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07208"/>
            <a:ext cx="10728655" cy="585215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2916936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2880360"/>
            <a:ext cx="10161727" cy="4389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附出處問答：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每個論點標註文件、版本與章節。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65576"/>
            <a:ext cx="10728655" cy="585215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24" y="3575304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3538728"/>
            <a:ext cx="10161727" cy="4389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分級權限：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依密等與專案在檢索階段就過濾。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23944"/>
            <a:ext cx="10728655" cy="585215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423367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4197096"/>
            <a:ext cx="10161727" cy="4389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量化評估：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換模型、改 prompt、改切分都能用評估集比較。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10728655" cy="1325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9E5A38"/>
                </a:solidFill>
                <a:latin typeface="Microsoft JhengHei"/>
              </a:rPr>
              <a:t>Trustworthy · Auditable · Measurable</a:t>
            </a:r>
          </a:p>
          <a:p>
            <a:pPr algn="ctr">
              <a:spcBef>
                <a:spcPts val="800"/>
              </a:spcBef>
            </a:pPr>
            <a:r>
              <a:rPr sz="1050">
                <a:solidFill>
                  <a:srgbClr val="7C8695"/>
                </a:solidFill>
                <a:latin typeface="Microsoft JhengHei"/>
              </a:rPr>
              <a:t>可信（附出處）· 可稽核（全程紀錄）· 可量化（評估集）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7C8695"/>
                </a:solidFill>
                <a:latin typeface="Microsoft JhengHei"/>
              </a:rPr>
              <a:t>地端模型平台與評估集  ·  ON-PREMISE LLM PLATFORM &amp;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系統架構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系統架構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使用者 → RAG API → 模型 / 向量庫 / 關鍵字索引 → 稽核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962851" cy="96012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使用者
API Key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21803" y="2125979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2971" y="1737360"/>
            <a:ext cx="1962851" cy="960120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RAG API
身分 權限 稽核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13254" y="2125979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14422" y="1737360"/>
            <a:ext cx="1962851" cy="96012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混合檢索
向量 + BM25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04705" y="2125979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05873" y="1737360"/>
            <a:ext cx="1962851" cy="960120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Rerank
（選配）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296156" y="2125979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97324" y="1737360"/>
            <a:ext cx="1962851" cy="96012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vLLM 生成
附出處回答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71800"/>
            <a:ext cx="10728655" cy="329184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41248" y="3063240"/>
          <a:ext cx="1050919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8454"/>
                <a:gridCol w="5732290"/>
                <a:gridCol w="2388454"/>
              </a:tblGrid>
              <a:tr h="5181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元件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技術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部署位置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 推論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vLLM，多節點 Ray（tensor + pipeline parallel）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GPU 節點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Embedding / Reranker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vLLM embed / score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GPU 節點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向量庫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Qdrant（密等、專案欄位索引）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服務節點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 API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FastAPI，非 root 容器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服務節點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評估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Python 腳本 + LLM 評審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任一節點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7C8695"/>
                </a:solidFill>
                <a:latin typeface="Microsoft JhengHei"/>
              </a:rPr>
              <a:t>地端模型平台與評估集  ·  ON-PREMISE LLM PLATFORM &amp;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多節點模型部署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以 Ray 串接多台 GPU 節點，vLLM 提供 OpenAI 相容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510713" cy="91440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head 節點
ray start --head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69665" y="210312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0833" y="1737360"/>
            <a:ext cx="2510713" cy="914400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worker 節點
加入叢集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08979" y="210312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0147" y="1737360"/>
            <a:ext cx="2510713" cy="91440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ray status
確認節點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48293" y="210312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49461" y="1737360"/>
            <a:ext cx="2510713" cy="914400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vllm serve
TP × 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521208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980944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平行設定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[PARALLEL]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5212080" cy="880871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358444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47872"/>
            <a:ext cx="4645152" cy="734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TENSOR_PARALLEL：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單機 GPU 數。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28744"/>
            <a:ext cx="5212080" cy="880871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53847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501896"/>
            <a:ext cx="4645152" cy="734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PIPELINE_PARALLEL：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節點數。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82768"/>
            <a:ext cx="5212080" cy="880871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5492496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5455920"/>
            <a:ext cx="4645152" cy="734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能單機放下就不跨節點，改用多副本提高吞吐量。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8095" y="2926080"/>
            <a:ext cx="521208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4399" y="2980944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網路與環境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[NETWORK]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8095" y="3474720"/>
            <a:ext cx="5212080" cy="880871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94399" y="3584448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3583" y="3547872"/>
            <a:ext cx="4645152" cy="734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節點間建議 InfiniBand 或高速網路。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8095" y="4428744"/>
            <a:ext cx="5212080" cy="880871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94399" y="453847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3583" y="4501896"/>
            <a:ext cx="4645152" cy="734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設定 NCCL_SOCKET_IFNAME / NCCL_IB_HCA。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48095" y="5382768"/>
            <a:ext cx="5212080" cy="880871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94399" y="5492496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3583" y="5455920"/>
            <a:ext cx="4645152" cy="734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HF_HUB_OFFLINE=1，模型唯讀掛載。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7C8695"/>
                </a:solidFill>
                <a:latin typeface="Microsoft JhengHei"/>
              </a:rPr>
              <a:t>地端模型平台與評估集  ·  ON-PREMISE LLM PLATFORM &amp; EVALUATION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檢索與生成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附出處問答流程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混合檢索 + RRF 合併 + 選配 rerank，嚴格依據段落回答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962851" cy="91440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Markdown 切分
保留章節路徑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21803" y="210312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2971" y="1737360"/>
            <a:ext cx="1962851" cy="914400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向量 + BM25
各自權限過濾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13254" y="210312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14422" y="1737360"/>
            <a:ext cx="1962851" cy="91440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RRF 合併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04705" y="210312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05873" y="1737360"/>
            <a:ext cx="1962851" cy="914400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Rerank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296156" y="210312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97324" y="1737360"/>
            <a:ext cx="1962851" cy="91440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生成
[n] 標註出處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521208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2980944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生成規則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[PROMPT]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5212080" cy="880871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358444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3547872"/>
            <a:ext cx="4645152" cy="734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只根據段落回答，每個論點標註 [n]。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28744"/>
            <a:ext cx="5212080" cy="880871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453847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4501896"/>
            <a:ext cx="4645152" cy="734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找不到依據時只回答「文件中查無依據」。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82768"/>
            <a:ext cx="5212080" cy="880871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492496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5455920"/>
            <a:ext cx="4645152" cy="734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文件內容視為資料不是指令，防範注入。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8095" y="2926080"/>
            <a:ext cx="521208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4399" y="2980944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斷詞與切分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[CHUNKING]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8095" y="3474720"/>
            <a:ext cx="5212080" cy="880871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94399" y="3584448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3583" y="3547872"/>
            <a:ext cx="4645152" cy="734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中文字元 bigram + 英數詞，不需外部字典。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8095" y="4428744"/>
            <a:ext cx="5212080" cy="880871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94399" y="453847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3583" y="4501896"/>
            <a:ext cx="4645152" cy="734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料號、規格編號靠 BM25 精確命中。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8095" y="5382768"/>
            <a:ext cx="5212080" cy="880871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94399" y="5492496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3583" y="5455920"/>
            <a:ext cx="4645152" cy="734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過長段落依字數切分並保留重疊。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7C8695"/>
                </a:solidFill>
                <a:latin typeface="Microsoft JhengHei"/>
              </a:rPr>
              <a:t>地端模型平台與評估集  ·  ON-PREMISE LLM PLATFORM &amp; EVALUATION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安全設計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分級權限與稽核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在檢索階段就過濾，最後再做一次防禦性檢查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669280" cy="27432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91640"/>
          <a:ext cx="544982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6608"/>
                <a:gridCol w="908304"/>
                <a:gridCol w="2724912"/>
              </a:tblGrid>
              <a:tr h="6400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使用者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密等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可存取專案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alice（範例）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PRJ-A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bob（範例）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PRJ-B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admin（範例）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PRJ-A、PRJ-B、admin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629400" y="1600200"/>
            <a:ext cx="4830775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75704" y="1655064"/>
            <a:ext cx="4538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過濾條件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[ACL]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148840"/>
            <a:ext cx="4830775" cy="682751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75704" y="225856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4888" y="2221992"/>
            <a:ext cx="4263847" cy="5364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段落密等 ≤ 使用者密等。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904744"/>
            <a:ext cx="4830775" cy="682751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75704" y="301447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2977896"/>
            <a:ext cx="4263847" cy="5364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段落專案 ∈ 使用者專案。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3660647"/>
            <a:ext cx="4830775" cy="682751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75704" y="3770375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3733799"/>
            <a:ext cx="4263847" cy="5364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向量與 BM25 兩路都套用。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26280"/>
            <a:ext cx="10728655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581144"/>
            <a:ext cx="1043604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稽核與憑證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[AUDIT]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74920"/>
            <a:ext cx="10728655" cy="557783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5184648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5148072"/>
            <a:ext cx="10161727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稽核：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每次查詢記錄使用者、檢索段落、引用、回答、密等與延遲，只附加寫入。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05856"/>
            <a:ext cx="10728655" cy="557783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5815584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5779008"/>
            <a:ext cx="10161727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憑證：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API Key 只存 SHA256，以常數時間比對；正式環境改接 LDAP / AD / SSO。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7C8695"/>
                </a:solidFill>
                <a:latin typeface="Microsoft JhengHei"/>
              </a:rPr>
              <a:t>地端模型平台與評估集  ·  ON-PREMISE LLM PLATFORM &amp;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評估集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評估集設計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每題包含問題、提問身分、期望出處、必含關鍵字與禁止出處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466344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91640"/>
          <a:ext cx="10509198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6145"/>
                <a:gridCol w="7643053"/>
              </a:tblGrid>
              <a:tr h="560069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欄位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說明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</a:tr>
              <a:tr h="5600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question / user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問題與提問身分（用來測權限）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5600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expected_sources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應該引用的文件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5600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must_include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答案必須包含的關鍵字或數值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5600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reference_answer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參考答案，供 LLM 評審使用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5600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expect_no_answer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是否應回答「查無依據」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5600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forbidden_sources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不應出現的來源（越權測試）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5600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difficulty / tags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分類統計：數值、跨章節、應拒答、越權、注入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7C8695"/>
                </a:solidFill>
                <a:latin typeface="Microsoft JhengHei"/>
              </a:rPr>
              <a:t>地端模型平台與評估集  ·  ON-PREMISE LLM PLATFORM &amp;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評估集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評估指標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越權洩漏數是上線關卡，目標為 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3749039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91640"/>
          <a:ext cx="10509198" cy="3566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6145"/>
                <a:gridCol w="5732290"/>
                <a:gridCol w="1910763"/>
              </a:tblGrid>
              <a:tr h="445769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指標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計算方式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目標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</a:tr>
              <a:tr h="4457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檢索命中率 Recall@k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期望來源出現在檢索結果的比例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越高越好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4457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出處正確率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引用來源屬於期望來源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越高越好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4457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關鍵字覆蓋率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must_include 命中比例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越高越好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4457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拒答正確率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應拒答題正確回答查無依據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越高越好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4457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 評審分數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正確性、依據性 1–5 分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≥ 4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4457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越權洩漏數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禁止來源出現在檢索或引用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4457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延遲 P50 / P95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每題回應時間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依需求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9E5A38"/>
                </a:solidFill>
                <a:latin typeface="Microsoft JhengHei"/>
              </a:rPr>
              <a:t>Any leak fails the gate</a:t>
            </a:r>
          </a:p>
          <a:p>
            <a:pPr algn="ctr">
              <a:spcBef>
                <a:spcPts val="800"/>
              </a:spcBef>
            </a:pPr>
            <a:r>
              <a:rPr sz="1050">
                <a:solidFill>
                  <a:srgbClr val="7C8695"/>
                </a:solidFill>
                <a:latin typeface="Microsoft JhengHei"/>
              </a:rPr>
              <a:t>發現越權洩漏時以結束碼 2 結束，可接入 CI 擋下上線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7C8695"/>
                </a:solidFill>
                <a:latin typeface="Microsoft JhengHei"/>
              </a:rPr>
              <a:t>地端模型平台與評估集  ·  ON-PREMISE LLM PLATFORM &amp;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評估流程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評估執行與比較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每次調整都跑同一份評估集，用數據決定是否採用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962851" cy="91440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準備題庫
50–200 題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21803" y="210312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2971" y="1737360"/>
            <a:ext cx="1962851" cy="914400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run_eval.py
逐題提問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13254" y="210312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14422" y="1737360"/>
            <a:ext cx="1962851" cy="91440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自動評分
LLM 評審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04705" y="210312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05873" y="1737360"/>
            <a:ext cx="1962851" cy="914400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結果 JSON
指標摘要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296156" y="210312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97324" y="1737360"/>
            <a:ext cx="1962851" cy="91440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compare.py
前後比較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521208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2980944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範例題庫 7 題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[DATASET]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5212080" cy="642365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358444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3547872"/>
            <a:ext cx="4645152" cy="4960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數值題：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輸入電壓、突波規格。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90238"/>
            <a:ext cx="5212080" cy="642365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4299966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4263390"/>
            <a:ext cx="4645152" cy="4960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跨章節題：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溫度與標稱電壓。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905756"/>
            <a:ext cx="5212080" cy="642365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15484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4978908"/>
            <a:ext cx="4645152" cy="4960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應拒答題：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文件未記載的重量。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21274"/>
            <a:ext cx="5212080" cy="642365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573100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5694426"/>
            <a:ext cx="4645152" cy="4960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越權與注入題：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跨專案查詢。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8095" y="2926080"/>
            <a:ext cx="521208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4399" y="2980944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建立原則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[PRINCIPLES]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8095" y="3474720"/>
            <a:ext cx="5212080" cy="880871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94399" y="3584448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3583" y="3547872"/>
            <a:ext cx="4645152" cy="734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從真實問題收集，涵蓋各種難度。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8095" y="4428744"/>
            <a:ext cx="5212080" cy="880871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94399" y="453847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3583" y="4501896"/>
            <a:ext cx="4645152" cy="734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LLM 評審定期由專家抽查校準。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8095" y="5382768"/>
            <a:ext cx="5212080" cy="880871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94399" y="5492496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3583" y="5455920"/>
            <a:ext cx="4645152" cy="734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線上出錯案例持續加入題庫。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7C8695"/>
                </a:solidFill>
                <a:latin typeface="Microsoft JhengHei"/>
              </a:rPr>
              <a:t>地端模型平台與評估集  ·  ON-PREMISE LLM PLATFORM &amp; EVALUATION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離線作業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離線引入流程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映像與模型經掃描、雜湊驗證後才帶入內網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962851" cy="91440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建置機
save_images.sh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21803" y="210312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2971" y="1737360"/>
            <a:ext cx="1962851" cy="914400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SHA256 清單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13254" y="210312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14422" y="1737360"/>
            <a:ext cx="1962851" cy="91440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資安掃描
核准媒體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04705" y="210312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05873" y="1737360"/>
            <a:ext cx="1962851" cy="914400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內網
load_images.sh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296156" y="210312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97324" y="1737360"/>
            <a:ext cx="1962851" cy="91440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雜湊驗證
格式檢查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10728655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2980944"/>
            <a:ext cx="1043604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要點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[AIR-GAP]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10728655" cy="642365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358444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3547872"/>
            <a:ext cx="10161727" cy="4960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映像固定版本號，便於審查與重現。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90238"/>
            <a:ext cx="10728655" cy="642365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4299966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4263390"/>
            <a:ext cx="10161727" cy="4960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模型只用 safetensors，發現 .bin/.pt/.pkl 時提出警告。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905756"/>
            <a:ext cx="10728655" cy="642365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15484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4978908"/>
            <a:ext cx="10161727" cy="4960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Python 套件以離線 wheel 安裝（pip --no-index）。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21274"/>
            <a:ext cx="10728655" cy="642365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573100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5694426"/>
            <a:ext cx="10161727" cy="4960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確認模型授權與來源符合單位規定。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7C8695"/>
                </a:solidFill>
                <a:latin typeface="Microsoft JhengHei"/>
              </a:rPr>
              <a:t>地端模型平台與評估集  ·  ON-PREMISE LLM PLATFORM &amp; 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交付內容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專案結構與目前驗證狀態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程式碼位於 d:\JavaDO\執行框架\onprem-llm-platform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6035040" cy="466344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91640"/>
          <a:ext cx="5815583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410"/>
                <a:gridCol w="4026173"/>
              </a:tblGrid>
              <a:tr h="640079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目錄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內容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deploy/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compose、多節點與離線腳本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rag/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切分、匯入、檢索、權限、稽核 API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config/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users.yaml（雜湊金鑰）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docs_corpus/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範例語料（虛構）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eval/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題庫、評估與比較腳本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64008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tests/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離線冒煙測試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949440" y="1600200"/>
            <a:ext cx="4510735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95744" y="1655064"/>
            <a:ext cx="42181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驗證狀態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[STATUS]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148840"/>
            <a:ext cx="4510735" cy="2020824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95744" y="2258568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7" y="2221992"/>
            <a:ext cx="3943807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已通過：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切分、權限判斷、BM25 過濾、評分邏輯。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4242816"/>
            <a:ext cx="4510735" cy="2020824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5744" y="4352544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7" y="4315968"/>
            <a:ext cx="3943807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待內網驗證：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向量檢索、模型生成、多節點部署。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7C8695"/>
                </a:solidFill>
                <a:latin typeface="Microsoft JhengHei"/>
              </a:rPr>
              <a:t>地端模型平台與評估集  ·  ON-PREMISE LLM PLATFORM &amp;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上線前待辦與下一步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從單一專案的真實文件開始試點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55064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上線前必做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[MUST DO]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5212080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2258568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221992"/>
            <a:ext cx="4645152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更換測試帳號，改接單位身分驗證系統。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95828"/>
            <a:ext cx="5212080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3305556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268980"/>
            <a:ext cx="4645152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映像改固定版本號，經資安掃描後帶入。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42816"/>
            <a:ext cx="5212080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24" y="4352544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4315968"/>
            <a:ext cx="4645152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依叢集調整平行度、IP 與網路介面。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89804"/>
            <a:ext cx="5212080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539953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5362956"/>
            <a:ext cx="4645152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換成真實文件，題庫擴充到 50–200 題。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8095" y="1600200"/>
            <a:ext cx="521208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4399" y="1655064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後續擴充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[ROADMAP]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095" y="2148840"/>
            <a:ext cx="5212080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4399" y="225856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3583" y="2221992"/>
            <a:ext cx="4645152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PDF、掃描檔與表格解析。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8095" y="3195828"/>
            <a:ext cx="5212080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4399" y="3305556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3583" y="3268980"/>
            <a:ext cx="4645152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Web 前端與出處原文預覽。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8095" y="4242816"/>
            <a:ext cx="5212080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94399" y="4352544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3583" y="4315968"/>
            <a:ext cx="4645152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以專家修正紀錄做微調與 RFT。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8095" y="5289804"/>
            <a:ext cx="5212080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94399" y="539953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3583" y="5362956"/>
            <a:ext cx="4645152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評估結果儀表板與定期回歸。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7C8695"/>
                </a:solidFill>
                <a:latin typeface="Microsoft JhengHei"/>
              </a:rPr>
              <a:t>地端模型平台與評估集  ·  ON-PREMISE LLM PLATFORM &amp; EVALUATION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